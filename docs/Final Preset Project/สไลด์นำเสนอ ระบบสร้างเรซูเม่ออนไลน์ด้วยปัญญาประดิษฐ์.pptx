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Canva Sans 1 Bold" charset="1" panose="020B0803030501040103"/>
      <p:regular r:id="rId30"/>
    </p:embeddedFont>
    <p:embeddedFont>
      <p:font typeface="Archive" charset="1" panose="02000506040000020004"/>
      <p:regular r:id="rId31"/>
    </p:embeddedFont>
    <p:embeddedFont>
      <p:font typeface="Canva Sans 2" charset="1" panose="020B0503030501040103"/>
      <p:regular r:id="rId32"/>
    </p:embeddedFont>
    <p:embeddedFont>
      <p:font typeface="Canva Sans 2 Bold" charset="1" panose="020B0803030501040103"/>
      <p:regular r:id="rId33"/>
    </p:embeddedFont>
    <p:embeddedFont>
      <p:font typeface="Tahoma Bold" charset="1" panose="020B0804030504040204"/>
      <p:regular r:id="rId34"/>
    </p:embeddedFont>
    <p:embeddedFont>
      <p:font typeface="Noto Sans Bold" charset="1" panose="020B0802040504020204"/>
      <p:regular r:id="rId35"/>
    </p:embeddedFont>
    <p:embeddedFont>
      <p:font typeface="Canva Sans 1" charset="1" panose="020B0503030501040103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6.jpeg" Type="http://schemas.openxmlformats.org/officeDocument/2006/relationships/image"/><Relationship Id="rId5" Target="../media/image17.jpeg" Type="http://schemas.openxmlformats.org/officeDocument/2006/relationships/image"/><Relationship Id="rId6" Target="../media/image9.pn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9.jpe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9.jpe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9.jpe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16" Target="../media/image31.png" Type="http://schemas.openxmlformats.org/officeDocument/2006/relationships/image"/><Relationship Id="rId17" Target="../media/image32.svg" Type="http://schemas.openxmlformats.org/officeDocument/2006/relationships/image"/><Relationship Id="rId18" Target="../media/image33.png" Type="http://schemas.openxmlformats.org/officeDocument/2006/relationships/image"/><Relationship Id="rId19" Target="../media/image34.svg" Type="http://schemas.openxmlformats.org/officeDocument/2006/relationships/image"/><Relationship Id="rId2" Target="../media/image9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5.png" Type="http://schemas.openxmlformats.org/officeDocument/2006/relationships/image"/><Relationship Id="rId5" Target="../media/image9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6.png" Type="http://schemas.openxmlformats.org/officeDocument/2006/relationships/image"/><Relationship Id="rId5" Target="../media/image9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7.png" Type="http://schemas.openxmlformats.org/officeDocument/2006/relationships/image"/><Relationship Id="rId5" Target="../media/image9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8.png" Type="http://schemas.openxmlformats.org/officeDocument/2006/relationships/image"/><Relationship Id="rId5" Target="../media/image9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9.png" Type="http://schemas.openxmlformats.org/officeDocument/2006/relationships/image"/><Relationship Id="rId5" Target="../media/image9.pn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9.jpeg" Type="http://schemas.openxmlformats.org/officeDocument/2006/relationships/image"/><Relationship Id="rId8" Target="../media/image40.png" Type="http://schemas.openxmlformats.org/officeDocument/2006/relationships/image"/><Relationship Id="rId9" Target="https://build.nvidia.com/models?orderBy=weightPopular%3ADESC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9.jpeg" Type="http://schemas.openxmlformats.org/officeDocument/2006/relationships/image"/><Relationship Id="rId8" Target="../media/image4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9.jpeg" Type="http://schemas.openxmlformats.org/officeDocument/2006/relationships/image"/><Relationship Id="rId8" Target="../media/image4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7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11381" y="-1759341"/>
            <a:ext cx="13805682" cy="13805682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144000" y="3298306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2416565"/>
            <a:ext cx="8545949" cy="5453869"/>
          </a:xfrm>
          <a:custGeom>
            <a:avLst/>
            <a:gdLst/>
            <a:ahLst/>
            <a:cxnLst/>
            <a:rect r="r" b="b" t="t" l="l"/>
            <a:pathLst>
              <a:path h="5453869" w="8545949">
                <a:moveTo>
                  <a:pt x="0" y="0"/>
                </a:moveTo>
                <a:lnTo>
                  <a:pt x="8545949" y="0"/>
                </a:lnTo>
                <a:lnTo>
                  <a:pt x="8545949" y="5453870"/>
                </a:lnTo>
                <a:lnTo>
                  <a:pt x="0" y="54538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35118" y="888776"/>
            <a:ext cx="1909372" cy="1909372"/>
          </a:xfrm>
          <a:custGeom>
            <a:avLst/>
            <a:gdLst/>
            <a:ahLst/>
            <a:cxnLst/>
            <a:rect r="r" b="b" t="t" l="l"/>
            <a:pathLst>
              <a:path h="1909372" w="1909372">
                <a:moveTo>
                  <a:pt x="0" y="0"/>
                </a:moveTo>
                <a:lnTo>
                  <a:pt x="1909372" y="0"/>
                </a:lnTo>
                <a:lnTo>
                  <a:pt x="1909372" y="1909372"/>
                </a:lnTo>
                <a:lnTo>
                  <a:pt x="0" y="19093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25" t="0" r="-725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11381" y="8830339"/>
            <a:ext cx="1267050" cy="1267050"/>
          </a:xfrm>
          <a:custGeom>
            <a:avLst/>
            <a:gdLst/>
            <a:ahLst/>
            <a:cxnLst/>
            <a:rect r="r" b="b" t="t" l="l"/>
            <a:pathLst>
              <a:path h="1267050" w="1267050">
                <a:moveTo>
                  <a:pt x="0" y="0"/>
                </a:moveTo>
                <a:lnTo>
                  <a:pt x="1267050" y="0"/>
                </a:lnTo>
                <a:lnTo>
                  <a:pt x="1267050" y="1267050"/>
                </a:lnTo>
                <a:lnTo>
                  <a:pt x="0" y="12670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287239" y="8846511"/>
            <a:ext cx="1267050" cy="1267050"/>
          </a:xfrm>
          <a:custGeom>
            <a:avLst/>
            <a:gdLst/>
            <a:ahLst/>
            <a:cxnLst/>
            <a:rect r="r" b="b" t="t" l="l"/>
            <a:pathLst>
              <a:path h="1267050" w="1267050">
                <a:moveTo>
                  <a:pt x="0" y="0"/>
                </a:moveTo>
                <a:lnTo>
                  <a:pt x="1267050" y="0"/>
                </a:lnTo>
                <a:lnTo>
                  <a:pt x="1267050" y="1267050"/>
                </a:lnTo>
                <a:lnTo>
                  <a:pt x="0" y="12670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057241" y="8837368"/>
            <a:ext cx="1260020" cy="1260020"/>
          </a:xfrm>
          <a:custGeom>
            <a:avLst/>
            <a:gdLst/>
            <a:ahLst/>
            <a:cxnLst/>
            <a:rect r="r" b="b" t="t" l="l"/>
            <a:pathLst>
              <a:path h="1260020" w="1260020">
                <a:moveTo>
                  <a:pt x="0" y="0"/>
                </a:moveTo>
                <a:lnTo>
                  <a:pt x="1260020" y="0"/>
                </a:lnTo>
                <a:lnTo>
                  <a:pt x="1260020" y="1260021"/>
                </a:lnTo>
                <a:lnTo>
                  <a:pt x="0" y="126002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792033" y="8837368"/>
            <a:ext cx="1260704" cy="1260704"/>
          </a:xfrm>
          <a:custGeom>
            <a:avLst/>
            <a:gdLst/>
            <a:ahLst/>
            <a:cxnLst/>
            <a:rect r="r" b="b" t="t" l="l"/>
            <a:pathLst>
              <a:path h="1260704" w="1260704">
                <a:moveTo>
                  <a:pt x="0" y="0"/>
                </a:moveTo>
                <a:lnTo>
                  <a:pt x="1260704" y="0"/>
                </a:lnTo>
                <a:lnTo>
                  <a:pt x="1260704" y="1260704"/>
                </a:lnTo>
                <a:lnTo>
                  <a:pt x="0" y="12607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24295" y="8837368"/>
            <a:ext cx="1260704" cy="1260704"/>
          </a:xfrm>
          <a:custGeom>
            <a:avLst/>
            <a:gdLst/>
            <a:ahLst/>
            <a:cxnLst/>
            <a:rect r="r" b="b" t="t" l="l"/>
            <a:pathLst>
              <a:path h="1260704" w="1260704">
                <a:moveTo>
                  <a:pt x="0" y="0"/>
                </a:moveTo>
                <a:lnTo>
                  <a:pt x="1260704" y="0"/>
                </a:lnTo>
                <a:lnTo>
                  <a:pt x="1260704" y="1260704"/>
                </a:lnTo>
                <a:lnTo>
                  <a:pt x="0" y="126070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663098" y="8846511"/>
            <a:ext cx="1285335" cy="1285335"/>
          </a:xfrm>
          <a:custGeom>
            <a:avLst/>
            <a:gdLst/>
            <a:ahLst/>
            <a:cxnLst/>
            <a:rect r="r" b="b" t="t" l="l"/>
            <a:pathLst>
              <a:path h="1285335" w="1285335">
                <a:moveTo>
                  <a:pt x="0" y="0"/>
                </a:moveTo>
                <a:lnTo>
                  <a:pt x="1285334" y="0"/>
                </a:lnTo>
                <a:lnTo>
                  <a:pt x="1285334" y="1285335"/>
                </a:lnTo>
                <a:lnTo>
                  <a:pt x="0" y="128533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566401" y="3213809"/>
            <a:ext cx="8577599" cy="50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</a:pPr>
            <a:r>
              <a:rPr lang="en-US" b="true" sz="360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 </a:t>
            </a:r>
            <a:r>
              <a:rPr lang="en-US" b="true" sz="360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ระบบส</a:t>
            </a:r>
            <a:r>
              <a:rPr lang="en-US" b="true" sz="360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ร้างเรซูเม่ออนไลน์ด้วยปัญญาประดิษฐ์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97865" y="4172495"/>
            <a:ext cx="4990560" cy="205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840"/>
              </a:lnSpc>
            </a:pPr>
            <a:r>
              <a:rPr lang="en-US" sz="14400">
                <a:solidFill>
                  <a:srgbClr val="FFFFFF"/>
                </a:solidFill>
                <a:latin typeface="Archive"/>
                <a:ea typeface="Archive"/>
                <a:cs typeface="Archive"/>
                <a:sym typeface="Archive"/>
              </a:rPr>
              <a:t>AIRB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03197" y="6612800"/>
            <a:ext cx="7179897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60"/>
              </a:lnSpc>
            </a:pPr>
            <a:r>
              <a:rPr lang="en-US" sz="5600">
                <a:solidFill>
                  <a:srgbClr val="FFFFFF"/>
                </a:solidFill>
                <a:latin typeface="Archive"/>
                <a:ea typeface="Archive"/>
                <a:cs typeface="Archive"/>
                <a:sym typeface="Archive"/>
              </a:rPr>
              <a:t>AI Resume Builder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3430952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86259" y="-7629818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226316" y="1670167"/>
            <a:ext cx="13835368" cy="6946582"/>
            <a:chOff x="0" y="0"/>
            <a:chExt cx="2831846" cy="14218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31846" cy="1421892"/>
            </a:xfrm>
            <a:custGeom>
              <a:avLst/>
              <a:gdLst/>
              <a:ahLst/>
              <a:cxnLst/>
              <a:rect r="r" b="b" t="t" l="l"/>
              <a:pathLst>
                <a:path h="1421892" w="2831846">
                  <a:moveTo>
                    <a:pt x="2831846" y="8394"/>
                  </a:moveTo>
                  <a:lnTo>
                    <a:pt x="2831846" y="1413498"/>
                  </a:lnTo>
                  <a:cubicBezTo>
                    <a:pt x="2831846" y="1418134"/>
                    <a:pt x="2828088" y="1421892"/>
                    <a:pt x="2823452" y="1421892"/>
                  </a:cubicBezTo>
                  <a:lnTo>
                    <a:pt x="8394" y="1421892"/>
                  </a:lnTo>
                  <a:cubicBezTo>
                    <a:pt x="3758" y="1421892"/>
                    <a:pt x="0" y="1418134"/>
                    <a:pt x="0" y="1413498"/>
                  </a:cubicBezTo>
                  <a:lnTo>
                    <a:pt x="0" y="8394"/>
                  </a:lnTo>
                  <a:cubicBezTo>
                    <a:pt x="0" y="3758"/>
                    <a:pt x="3758" y="0"/>
                    <a:pt x="8394" y="0"/>
                  </a:cubicBezTo>
                  <a:lnTo>
                    <a:pt x="2823452" y="0"/>
                  </a:lnTo>
                  <a:cubicBezTo>
                    <a:pt x="2825678" y="0"/>
                    <a:pt x="2827813" y="884"/>
                    <a:pt x="2829388" y="2458"/>
                  </a:cubicBezTo>
                  <a:cubicBezTo>
                    <a:pt x="2830962" y="4033"/>
                    <a:pt x="2831846" y="6167"/>
                    <a:pt x="2831846" y="8394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sq">
              <a:solidFill>
                <a:srgbClr val="FF751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831846" cy="145046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9667549" y="5423932"/>
            <a:ext cx="2170455" cy="2740921"/>
          </a:xfrm>
          <a:custGeom>
            <a:avLst/>
            <a:gdLst/>
            <a:ahLst/>
            <a:cxnLst/>
            <a:rect r="r" b="b" t="t" l="l"/>
            <a:pathLst>
              <a:path h="2740921" w="2170455">
                <a:moveTo>
                  <a:pt x="0" y="0"/>
                </a:moveTo>
                <a:lnTo>
                  <a:pt x="2170455" y="0"/>
                </a:lnTo>
                <a:lnTo>
                  <a:pt x="2170455" y="2740921"/>
                </a:lnTo>
                <a:lnTo>
                  <a:pt x="0" y="27409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855" r="0" b="-2855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241417" y="3565868"/>
            <a:ext cx="2267481" cy="2819030"/>
          </a:xfrm>
          <a:custGeom>
            <a:avLst/>
            <a:gdLst/>
            <a:ahLst/>
            <a:cxnLst/>
            <a:rect r="r" b="b" t="t" l="l"/>
            <a:pathLst>
              <a:path h="2819030" w="2267481">
                <a:moveTo>
                  <a:pt x="0" y="0"/>
                </a:moveTo>
                <a:lnTo>
                  <a:pt x="2267481" y="0"/>
                </a:lnTo>
                <a:lnTo>
                  <a:pt x="2267481" y="2819030"/>
                </a:lnTo>
                <a:lnTo>
                  <a:pt x="0" y="28190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1" r="0" b="-271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25" t="0" r="-725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647077" y="2234462"/>
            <a:ext cx="2170455" cy="2740921"/>
          </a:xfrm>
          <a:custGeom>
            <a:avLst/>
            <a:gdLst/>
            <a:ahLst/>
            <a:cxnLst/>
            <a:rect r="r" b="b" t="t" l="l"/>
            <a:pathLst>
              <a:path h="2740921" w="2170455">
                <a:moveTo>
                  <a:pt x="0" y="0"/>
                </a:moveTo>
                <a:lnTo>
                  <a:pt x="2170455" y="0"/>
                </a:lnTo>
                <a:lnTo>
                  <a:pt x="2170455" y="2740921"/>
                </a:lnTo>
                <a:lnTo>
                  <a:pt x="0" y="27409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923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468372" y="6600476"/>
            <a:ext cx="381357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นายณัฐชาสิทธิ์ ชูเกียรติขจร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16268" y="2949622"/>
            <a:ext cx="330041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นายปารเมศ  ชูเชิดรัตนา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98855" y="6071685"/>
            <a:ext cx="317777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นายปฏิภาณ  เชียงสกุล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89392" y="3596742"/>
            <a:ext cx="219670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หัวหน้าโครงงาน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046852" y="6812566"/>
            <a:ext cx="203924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ผู้ร่วมโครงงาน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45130" y="822101"/>
            <a:ext cx="3060055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อาจารย์ที่ปรึกษา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47077" y="822101"/>
            <a:ext cx="223807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คณะผู้จัดทำ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5" t="0" r="-725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764091" y="1778963"/>
            <a:ext cx="12462815" cy="1278531"/>
            <a:chOff x="0" y="0"/>
            <a:chExt cx="2550956" cy="2616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50956" cy="261697"/>
            </a:xfrm>
            <a:custGeom>
              <a:avLst/>
              <a:gdLst/>
              <a:ahLst/>
              <a:cxnLst/>
              <a:rect r="r" b="b" t="t" l="l"/>
              <a:pathLst>
                <a:path h="261697" w="2550956">
                  <a:moveTo>
                    <a:pt x="9318" y="0"/>
                  </a:moveTo>
                  <a:lnTo>
                    <a:pt x="2541638" y="0"/>
                  </a:lnTo>
                  <a:cubicBezTo>
                    <a:pt x="2544109" y="0"/>
                    <a:pt x="2546479" y="982"/>
                    <a:pt x="2548227" y="2729"/>
                  </a:cubicBezTo>
                  <a:cubicBezTo>
                    <a:pt x="2549974" y="4477"/>
                    <a:pt x="2550956" y="6847"/>
                    <a:pt x="2550956" y="9318"/>
                  </a:cubicBezTo>
                  <a:lnTo>
                    <a:pt x="2550956" y="252379"/>
                  </a:lnTo>
                  <a:cubicBezTo>
                    <a:pt x="2550956" y="254850"/>
                    <a:pt x="2549974" y="257220"/>
                    <a:pt x="2548227" y="258967"/>
                  </a:cubicBezTo>
                  <a:cubicBezTo>
                    <a:pt x="2546479" y="260715"/>
                    <a:pt x="2544109" y="261697"/>
                    <a:pt x="2541638" y="261697"/>
                  </a:cubicBezTo>
                  <a:lnTo>
                    <a:pt x="9318" y="261697"/>
                  </a:lnTo>
                  <a:cubicBezTo>
                    <a:pt x="6847" y="261697"/>
                    <a:pt x="4477" y="260715"/>
                    <a:pt x="2729" y="258967"/>
                  </a:cubicBezTo>
                  <a:cubicBezTo>
                    <a:pt x="982" y="257220"/>
                    <a:pt x="0" y="254850"/>
                    <a:pt x="0" y="252379"/>
                  </a:cubicBezTo>
                  <a:lnTo>
                    <a:pt x="0" y="9318"/>
                  </a:lnTo>
                  <a:cubicBezTo>
                    <a:pt x="0" y="6847"/>
                    <a:pt x="982" y="4477"/>
                    <a:pt x="2729" y="2729"/>
                  </a:cubicBezTo>
                  <a:cubicBezTo>
                    <a:pt x="4477" y="982"/>
                    <a:pt x="6847" y="0"/>
                    <a:pt x="9318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sq">
              <a:solidFill>
                <a:srgbClr val="FF751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550956" cy="290272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058461" y="1936898"/>
            <a:ext cx="465787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ที</a:t>
            </a:r>
            <a:r>
              <a:rPr lang="en-US" b="true" sz="2799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่มาและความสำคัญ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764091" y="3228944"/>
            <a:ext cx="12462815" cy="1278531"/>
            <a:chOff x="0" y="0"/>
            <a:chExt cx="2550956" cy="2616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50956" cy="261697"/>
            </a:xfrm>
            <a:custGeom>
              <a:avLst/>
              <a:gdLst/>
              <a:ahLst/>
              <a:cxnLst/>
              <a:rect r="r" b="b" t="t" l="l"/>
              <a:pathLst>
                <a:path h="261697" w="2550956">
                  <a:moveTo>
                    <a:pt x="9318" y="0"/>
                  </a:moveTo>
                  <a:lnTo>
                    <a:pt x="2541638" y="0"/>
                  </a:lnTo>
                  <a:cubicBezTo>
                    <a:pt x="2544109" y="0"/>
                    <a:pt x="2546479" y="982"/>
                    <a:pt x="2548227" y="2729"/>
                  </a:cubicBezTo>
                  <a:cubicBezTo>
                    <a:pt x="2549974" y="4477"/>
                    <a:pt x="2550956" y="6847"/>
                    <a:pt x="2550956" y="9318"/>
                  </a:cubicBezTo>
                  <a:lnTo>
                    <a:pt x="2550956" y="252379"/>
                  </a:lnTo>
                  <a:cubicBezTo>
                    <a:pt x="2550956" y="254850"/>
                    <a:pt x="2549974" y="257220"/>
                    <a:pt x="2548227" y="258967"/>
                  </a:cubicBezTo>
                  <a:cubicBezTo>
                    <a:pt x="2546479" y="260715"/>
                    <a:pt x="2544109" y="261697"/>
                    <a:pt x="2541638" y="261697"/>
                  </a:cubicBezTo>
                  <a:lnTo>
                    <a:pt x="9318" y="261697"/>
                  </a:lnTo>
                  <a:cubicBezTo>
                    <a:pt x="6847" y="261697"/>
                    <a:pt x="4477" y="260715"/>
                    <a:pt x="2729" y="258967"/>
                  </a:cubicBezTo>
                  <a:cubicBezTo>
                    <a:pt x="982" y="257220"/>
                    <a:pt x="0" y="254850"/>
                    <a:pt x="0" y="252379"/>
                  </a:cubicBezTo>
                  <a:lnTo>
                    <a:pt x="0" y="9318"/>
                  </a:lnTo>
                  <a:cubicBezTo>
                    <a:pt x="0" y="6847"/>
                    <a:pt x="982" y="4477"/>
                    <a:pt x="2729" y="2729"/>
                  </a:cubicBezTo>
                  <a:cubicBezTo>
                    <a:pt x="4477" y="982"/>
                    <a:pt x="6847" y="0"/>
                    <a:pt x="9318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sq">
              <a:solidFill>
                <a:srgbClr val="FF751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550956" cy="290272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775207" y="4678924"/>
            <a:ext cx="12462815" cy="1278531"/>
            <a:chOff x="0" y="0"/>
            <a:chExt cx="2550956" cy="26169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50956" cy="261697"/>
            </a:xfrm>
            <a:custGeom>
              <a:avLst/>
              <a:gdLst/>
              <a:ahLst/>
              <a:cxnLst/>
              <a:rect r="r" b="b" t="t" l="l"/>
              <a:pathLst>
                <a:path h="261697" w="2550956">
                  <a:moveTo>
                    <a:pt x="9318" y="0"/>
                  </a:moveTo>
                  <a:lnTo>
                    <a:pt x="2541638" y="0"/>
                  </a:lnTo>
                  <a:cubicBezTo>
                    <a:pt x="2544109" y="0"/>
                    <a:pt x="2546479" y="982"/>
                    <a:pt x="2548227" y="2729"/>
                  </a:cubicBezTo>
                  <a:cubicBezTo>
                    <a:pt x="2549974" y="4477"/>
                    <a:pt x="2550956" y="6847"/>
                    <a:pt x="2550956" y="9318"/>
                  </a:cubicBezTo>
                  <a:lnTo>
                    <a:pt x="2550956" y="252379"/>
                  </a:lnTo>
                  <a:cubicBezTo>
                    <a:pt x="2550956" y="254850"/>
                    <a:pt x="2549974" y="257220"/>
                    <a:pt x="2548227" y="258967"/>
                  </a:cubicBezTo>
                  <a:cubicBezTo>
                    <a:pt x="2546479" y="260715"/>
                    <a:pt x="2544109" y="261697"/>
                    <a:pt x="2541638" y="261697"/>
                  </a:cubicBezTo>
                  <a:lnTo>
                    <a:pt x="9318" y="261697"/>
                  </a:lnTo>
                  <a:cubicBezTo>
                    <a:pt x="6847" y="261697"/>
                    <a:pt x="4477" y="260715"/>
                    <a:pt x="2729" y="258967"/>
                  </a:cubicBezTo>
                  <a:cubicBezTo>
                    <a:pt x="982" y="257220"/>
                    <a:pt x="0" y="254850"/>
                    <a:pt x="0" y="252379"/>
                  </a:cubicBezTo>
                  <a:lnTo>
                    <a:pt x="0" y="9318"/>
                  </a:lnTo>
                  <a:cubicBezTo>
                    <a:pt x="0" y="6847"/>
                    <a:pt x="982" y="4477"/>
                    <a:pt x="2729" y="2729"/>
                  </a:cubicBezTo>
                  <a:cubicBezTo>
                    <a:pt x="4477" y="982"/>
                    <a:pt x="6847" y="0"/>
                    <a:pt x="9318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sq">
              <a:solidFill>
                <a:srgbClr val="FF751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550956" cy="290272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786323" y="6128905"/>
            <a:ext cx="12462815" cy="1278531"/>
            <a:chOff x="0" y="0"/>
            <a:chExt cx="2550956" cy="2616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50956" cy="261697"/>
            </a:xfrm>
            <a:custGeom>
              <a:avLst/>
              <a:gdLst/>
              <a:ahLst/>
              <a:cxnLst/>
              <a:rect r="r" b="b" t="t" l="l"/>
              <a:pathLst>
                <a:path h="261697" w="2550956">
                  <a:moveTo>
                    <a:pt x="9318" y="0"/>
                  </a:moveTo>
                  <a:lnTo>
                    <a:pt x="2541638" y="0"/>
                  </a:lnTo>
                  <a:cubicBezTo>
                    <a:pt x="2544109" y="0"/>
                    <a:pt x="2546479" y="982"/>
                    <a:pt x="2548227" y="2729"/>
                  </a:cubicBezTo>
                  <a:cubicBezTo>
                    <a:pt x="2549974" y="4477"/>
                    <a:pt x="2550956" y="6847"/>
                    <a:pt x="2550956" y="9318"/>
                  </a:cubicBezTo>
                  <a:lnTo>
                    <a:pt x="2550956" y="252379"/>
                  </a:lnTo>
                  <a:cubicBezTo>
                    <a:pt x="2550956" y="254850"/>
                    <a:pt x="2549974" y="257220"/>
                    <a:pt x="2548227" y="258967"/>
                  </a:cubicBezTo>
                  <a:cubicBezTo>
                    <a:pt x="2546479" y="260715"/>
                    <a:pt x="2544109" y="261697"/>
                    <a:pt x="2541638" y="261697"/>
                  </a:cubicBezTo>
                  <a:lnTo>
                    <a:pt x="9318" y="261697"/>
                  </a:lnTo>
                  <a:cubicBezTo>
                    <a:pt x="6847" y="261697"/>
                    <a:pt x="4477" y="260715"/>
                    <a:pt x="2729" y="258967"/>
                  </a:cubicBezTo>
                  <a:cubicBezTo>
                    <a:pt x="982" y="257220"/>
                    <a:pt x="0" y="254850"/>
                    <a:pt x="0" y="252379"/>
                  </a:cubicBezTo>
                  <a:lnTo>
                    <a:pt x="0" y="9318"/>
                  </a:lnTo>
                  <a:cubicBezTo>
                    <a:pt x="0" y="6847"/>
                    <a:pt x="982" y="4477"/>
                    <a:pt x="2729" y="2729"/>
                  </a:cubicBezTo>
                  <a:cubicBezTo>
                    <a:pt x="4477" y="982"/>
                    <a:pt x="6847" y="0"/>
                    <a:pt x="9318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sq">
              <a:solidFill>
                <a:srgbClr val="FF751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550956" cy="290272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797439" y="7578885"/>
            <a:ext cx="12462815" cy="1278531"/>
            <a:chOff x="0" y="0"/>
            <a:chExt cx="2550956" cy="2616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50956" cy="261697"/>
            </a:xfrm>
            <a:custGeom>
              <a:avLst/>
              <a:gdLst/>
              <a:ahLst/>
              <a:cxnLst/>
              <a:rect r="r" b="b" t="t" l="l"/>
              <a:pathLst>
                <a:path h="261697" w="2550956">
                  <a:moveTo>
                    <a:pt x="9318" y="0"/>
                  </a:moveTo>
                  <a:lnTo>
                    <a:pt x="2541638" y="0"/>
                  </a:lnTo>
                  <a:cubicBezTo>
                    <a:pt x="2544109" y="0"/>
                    <a:pt x="2546479" y="982"/>
                    <a:pt x="2548227" y="2729"/>
                  </a:cubicBezTo>
                  <a:cubicBezTo>
                    <a:pt x="2549974" y="4477"/>
                    <a:pt x="2550956" y="6847"/>
                    <a:pt x="2550956" y="9318"/>
                  </a:cubicBezTo>
                  <a:lnTo>
                    <a:pt x="2550956" y="252379"/>
                  </a:lnTo>
                  <a:cubicBezTo>
                    <a:pt x="2550956" y="254850"/>
                    <a:pt x="2549974" y="257220"/>
                    <a:pt x="2548227" y="258967"/>
                  </a:cubicBezTo>
                  <a:cubicBezTo>
                    <a:pt x="2546479" y="260715"/>
                    <a:pt x="2544109" y="261697"/>
                    <a:pt x="2541638" y="261697"/>
                  </a:cubicBezTo>
                  <a:lnTo>
                    <a:pt x="9318" y="261697"/>
                  </a:lnTo>
                  <a:cubicBezTo>
                    <a:pt x="6847" y="261697"/>
                    <a:pt x="4477" y="260715"/>
                    <a:pt x="2729" y="258967"/>
                  </a:cubicBezTo>
                  <a:cubicBezTo>
                    <a:pt x="982" y="257220"/>
                    <a:pt x="0" y="254850"/>
                    <a:pt x="0" y="252379"/>
                  </a:cubicBezTo>
                  <a:lnTo>
                    <a:pt x="0" y="9318"/>
                  </a:lnTo>
                  <a:cubicBezTo>
                    <a:pt x="0" y="6847"/>
                    <a:pt x="982" y="4477"/>
                    <a:pt x="2729" y="2729"/>
                  </a:cubicBezTo>
                  <a:cubicBezTo>
                    <a:pt x="4477" y="982"/>
                    <a:pt x="6847" y="0"/>
                    <a:pt x="9318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sq">
              <a:solidFill>
                <a:srgbClr val="FF751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2550956" cy="290272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212829" y="2102760"/>
            <a:ext cx="630936" cy="630936"/>
            <a:chOff x="0" y="0"/>
            <a:chExt cx="841248" cy="8412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212829" y="2102760"/>
            <a:ext cx="630936" cy="630936"/>
            <a:chOff x="0" y="0"/>
            <a:chExt cx="841248" cy="8412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212829" y="3552741"/>
            <a:ext cx="630936" cy="630936"/>
            <a:chOff x="0" y="0"/>
            <a:chExt cx="841248" cy="8412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212829" y="3552741"/>
            <a:ext cx="630936" cy="630936"/>
            <a:chOff x="0" y="0"/>
            <a:chExt cx="841248" cy="84124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212829" y="5020406"/>
            <a:ext cx="630936" cy="630936"/>
            <a:chOff x="0" y="0"/>
            <a:chExt cx="841248" cy="84124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3212829" y="5020406"/>
            <a:ext cx="630936" cy="630936"/>
            <a:chOff x="0" y="0"/>
            <a:chExt cx="841248" cy="8412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3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3212829" y="6452702"/>
            <a:ext cx="630936" cy="630936"/>
            <a:chOff x="0" y="0"/>
            <a:chExt cx="841248" cy="84124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3212829" y="6419438"/>
            <a:ext cx="630936" cy="630936"/>
            <a:chOff x="0" y="0"/>
            <a:chExt cx="841248" cy="8412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4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212829" y="7921785"/>
            <a:ext cx="630936" cy="630936"/>
            <a:chOff x="0" y="0"/>
            <a:chExt cx="841248" cy="8412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3212829" y="7921785"/>
            <a:ext cx="630936" cy="630936"/>
            <a:chOff x="0" y="0"/>
            <a:chExt cx="841248" cy="8412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5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4076937" y="2494428"/>
            <a:ext cx="557131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2024"/>
                </a:solidFill>
                <a:latin typeface="Canva Sans 2"/>
                <a:ea typeface="Canva Sans 2"/>
                <a:cs typeface="Canva Sans 2"/>
                <a:sym typeface="Canva Sans 2"/>
              </a:rPr>
              <a:t>ปัญหาการจัดทำเรซูเม่และระบบคัดกรอง ATS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4058461" y="3402071"/>
            <a:ext cx="390432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วัตถุประสงค์และขอบเขต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076937" y="3950076"/>
            <a:ext cx="557131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2024"/>
                </a:solidFill>
                <a:latin typeface="Canva Sans 2"/>
                <a:ea typeface="Canva Sans 2"/>
                <a:cs typeface="Canva Sans 2"/>
                <a:sym typeface="Canva Sans 2"/>
              </a:rPr>
              <a:t>เป้าหมายและขอบเขตการดำเนินงาน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058461" y="4840849"/>
            <a:ext cx="465787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หล</a:t>
            </a:r>
            <a:r>
              <a:rPr lang="en-US" b="true" sz="2799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ักการและการออกแบบระบบ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076937" y="5388854"/>
            <a:ext cx="627872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2024"/>
                </a:solidFill>
                <a:latin typeface="Canva Sans 2"/>
                <a:ea typeface="Canva Sans 2"/>
                <a:cs typeface="Canva Sans 2"/>
                <a:sym typeface="Canva Sans 2"/>
              </a:rPr>
              <a:t>สถาปัตยกรรม ฐานข้อมูล และการทำงานร่วมกับ AI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076937" y="6253575"/>
            <a:ext cx="248044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ผล</a:t>
            </a:r>
            <a:r>
              <a:rPr lang="en-US" b="true" sz="2799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การทดลอง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058461" y="6801581"/>
            <a:ext cx="558669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2024"/>
                </a:solidFill>
                <a:latin typeface="Canva Sans 2"/>
                <a:ea typeface="Canva Sans 2"/>
                <a:cs typeface="Canva Sans 2"/>
                <a:sym typeface="Canva Sans 2"/>
              </a:rPr>
              <a:t>ความแม่นยำ ระยะเวลา และความพึงพอใจ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076937" y="7736820"/>
            <a:ext cx="372610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สรุปผลแ</a:t>
            </a:r>
            <a:r>
              <a:rPr lang="en-US" b="true" sz="2799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ละข้อเสนอแนะ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4076937" y="8284825"/>
            <a:ext cx="730481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2024"/>
                </a:solidFill>
                <a:latin typeface="Canva Sans 2"/>
                <a:ea typeface="Canva Sans 2"/>
                <a:cs typeface="Canva Sans 2"/>
                <a:sym typeface="Canva Sans 2"/>
              </a:rPr>
              <a:t>ข้อสรุปการดำเนินงาน ปัญหาอุปสรรค และการพัฒนาต่อยอด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2865158" y="666843"/>
            <a:ext cx="2386608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AGENDA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865158" y="251553"/>
            <a:ext cx="218152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ห</a:t>
            </a: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ัวข้อการนำเสนอ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7538894" y="9666412"/>
            <a:ext cx="506208" cy="506208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75716" y="3608876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8" y="0"/>
                </a:lnTo>
                <a:lnTo>
                  <a:pt x="13977388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5" t="0" r="-72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454137" y="2231511"/>
            <a:ext cx="12462815" cy="1754024"/>
            <a:chOff x="0" y="0"/>
            <a:chExt cx="2550956" cy="3590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50956" cy="359023"/>
            </a:xfrm>
            <a:custGeom>
              <a:avLst/>
              <a:gdLst/>
              <a:ahLst/>
              <a:cxnLst/>
              <a:rect r="r" b="b" t="t" l="l"/>
              <a:pathLst>
                <a:path h="359023" w="2550956">
                  <a:moveTo>
                    <a:pt x="9318" y="0"/>
                  </a:moveTo>
                  <a:lnTo>
                    <a:pt x="2541638" y="0"/>
                  </a:lnTo>
                  <a:cubicBezTo>
                    <a:pt x="2544109" y="0"/>
                    <a:pt x="2546479" y="982"/>
                    <a:pt x="2548227" y="2729"/>
                  </a:cubicBezTo>
                  <a:cubicBezTo>
                    <a:pt x="2549974" y="4477"/>
                    <a:pt x="2550956" y="6847"/>
                    <a:pt x="2550956" y="9318"/>
                  </a:cubicBezTo>
                  <a:lnTo>
                    <a:pt x="2550956" y="349705"/>
                  </a:lnTo>
                  <a:cubicBezTo>
                    <a:pt x="2550956" y="354851"/>
                    <a:pt x="2546784" y="359023"/>
                    <a:pt x="2541638" y="359023"/>
                  </a:cubicBezTo>
                  <a:lnTo>
                    <a:pt x="9318" y="359023"/>
                  </a:lnTo>
                  <a:cubicBezTo>
                    <a:pt x="6847" y="359023"/>
                    <a:pt x="4477" y="358041"/>
                    <a:pt x="2729" y="356294"/>
                  </a:cubicBezTo>
                  <a:cubicBezTo>
                    <a:pt x="982" y="354547"/>
                    <a:pt x="0" y="352176"/>
                    <a:pt x="0" y="349705"/>
                  </a:cubicBezTo>
                  <a:lnTo>
                    <a:pt x="0" y="9318"/>
                  </a:lnTo>
                  <a:cubicBezTo>
                    <a:pt x="0" y="6847"/>
                    <a:pt x="982" y="4477"/>
                    <a:pt x="2729" y="2729"/>
                  </a:cubicBezTo>
                  <a:cubicBezTo>
                    <a:pt x="4477" y="982"/>
                    <a:pt x="6847" y="0"/>
                    <a:pt x="9318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sq">
              <a:solidFill>
                <a:srgbClr val="FF751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550956" cy="38759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454137" y="6676949"/>
            <a:ext cx="12462815" cy="1754024"/>
            <a:chOff x="0" y="0"/>
            <a:chExt cx="2550956" cy="3590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50956" cy="359023"/>
            </a:xfrm>
            <a:custGeom>
              <a:avLst/>
              <a:gdLst/>
              <a:ahLst/>
              <a:cxnLst/>
              <a:rect r="r" b="b" t="t" l="l"/>
              <a:pathLst>
                <a:path h="359023" w="2550956">
                  <a:moveTo>
                    <a:pt x="9318" y="0"/>
                  </a:moveTo>
                  <a:lnTo>
                    <a:pt x="2541638" y="0"/>
                  </a:lnTo>
                  <a:cubicBezTo>
                    <a:pt x="2544109" y="0"/>
                    <a:pt x="2546479" y="982"/>
                    <a:pt x="2548227" y="2729"/>
                  </a:cubicBezTo>
                  <a:cubicBezTo>
                    <a:pt x="2549974" y="4477"/>
                    <a:pt x="2550956" y="6847"/>
                    <a:pt x="2550956" y="9318"/>
                  </a:cubicBezTo>
                  <a:lnTo>
                    <a:pt x="2550956" y="349705"/>
                  </a:lnTo>
                  <a:cubicBezTo>
                    <a:pt x="2550956" y="354851"/>
                    <a:pt x="2546784" y="359023"/>
                    <a:pt x="2541638" y="359023"/>
                  </a:cubicBezTo>
                  <a:lnTo>
                    <a:pt x="9318" y="359023"/>
                  </a:lnTo>
                  <a:cubicBezTo>
                    <a:pt x="6847" y="359023"/>
                    <a:pt x="4477" y="358041"/>
                    <a:pt x="2729" y="356294"/>
                  </a:cubicBezTo>
                  <a:cubicBezTo>
                    <a:pt x="982" y="354547"/>
                    <a:pt x="0" y="352176"/>
                    <a:pt x="0" y="349705"/>
                  </a:cubicBezTo>
                  <a:lnTo>
                    <a:pt x="0" y="9318"/>
                  </a:lnTo>
                  <a:cubicBezTo>
                    <a:pt x="0" y="6847"/>
                    <a:pt x="982" y="4477"/>
                    <a:pt x="2729" y="2729"/>
                  </a:cubicBezTo>
                  <a:cubicBezTo>
                    <a:pt x="4477" y="982"/>
                    <a:pt x="6847" y="0"/>
                    <a:pt x="9318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sq">
              <a:solidFill>
                <a:srgbClr val="FF751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550956" cy="38759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800158" y="2765624"/>
            <a:ext cx="685800" cy="685800"/>
            <a:chOff x="0" y="0"/>
            <a:chExt cx="91440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2800158" y="2765624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801426" y="2491743"/>
            <a:ext cx="4315844" cy="547762"/>
            <a:chOff x="0" y="0"/>
            <a:chExt cx="5754458" cy="73034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54458" cy="730349"/>
            </a:xfrm>
            <a:custGeom>
              <a:avLst/>
              <a:gdLst/>
              <a:ahLst/>
              <a:cxnLst/>
              <a:rect r="r" b="b" t="t" l="l"/>
              <a:pathLst>
                <a:path h="730349" w="5754458">
                  <a:moveTo>
                    <a:pt x="0" y="0"/>
                  </a:moveTo>
                  <a:lnTo>
                    <a:pt x="5754458" y="0"/>
                  </a:lnTo>
                  <a:lnTo>
                    <a:pt x="5754458" y="730349"/>
                  </a:lnTo>
                  <a:lnTo>
                    <a:pt x="0" y="73034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4855" r="-230518" b="-44999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5754458" cy="730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EA6A0A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จัดรูปแบบเอกสารยุ่งยาก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835716" y="3108524"/>
            <a:ext cx="10693862" cy="431006"/>
            <a:chOff x="0" y="0"/>
            <a:chExt cx="14258483" cy="57467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258483" cy="574675"/>
            </a:xfrm>
            <a:custGeom>
              <a:avLst/>
              <a:gdLst/>
              <a:ahLst/>
              <a:cxnLst/>
              <a:rect r="r" b="b" t="t" l="l"/>
              <a:pathLst>
                <a:path h="574675" w="14258483">
                  <a:moveTo>
                    <a:pt x="0" y="0"/>
                  </a:moveTo>
                  <a:lnTo>
                    <a:pt x="14258483" y="0"/>
                  </a:lnTo>
                  <a:lnTo>
                    <a:pt x="14258483" y="574675"/>
                  </a:lnTo>
                  <a:lnTo>
                    <a:pt x="0" y="57467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52510" r="-34032" b="-64344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4258483" cy="603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1875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ผู้สมัครต้องจัดหน้ากระดาษ ระยะขอบ และการวางองค์ประกอบด้วยตนเอง ใช้เวลามากและผลลัพธ์ไม่สม่ำเสมอ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454137" y="4454230"/>
            <a:ext cx="12462815" cy="1754024"/>
            <a:chOff x="0" y="0"/>
            <a:chExt cx="2550956" cy="35902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50956" cy="359023"/>
            </a:xfrm>
            <a:custGeom>
              <a:avLst/>
              <a:gdLst/>
              <a:ahLst/>
              <a:cxnLst/>
              <a:rect r="r" b="b" t="t" l="l"/>
              <a:pathLst>
                <a:path h="359023" w="2550956">
                  <a:moveTo>
                    <a:pt x="9318" y="0"/>
                  </a:moveTo>
                  <a:lnTo>
                    <a:pt x="2541638" y="0"/>
                  </a:lnTo>
                  <a:cubicBezTo>
                    <a:pt x="2544109" y="0"/>
                    <a:pt x="2546479" y="982"/>
                    <a:pt x="2548227" y="2729"/>
                  </a:cubicBezTo>
                  <a:cubicBezTo>
                    <a:pt x="2549974" y="4477"/>
                    <a:pt x="2550956" y="6847"/>
                    <a:pt x="2550956" y="9318"/>
                  </a:cubicBezTo>
                  <a:lnTo>
                    <a:pt x="2550956" y="349705"/>
                  </a:lnTo>
                  <a:cubicBezTo>
                    <a:pt x="2550956" y="354851"/>
                    <a:pt x="2546784" y="359023"/>
                    <a:pt x="2541638" y="359023"/>
                  </a:cubicBezTo>
                  <a:lnTo>
                    <a:pt x="9318" y="359023"/>
                  </a:lnTo>
                  <a:cubicBezTo>
                    <a:pt x="6847" y="359023"/>
                    <a:pt x="4477" y="358041"/>
                    <a:pt x="2729" y="356294"/>
                  </a:cubicBezTo>
                  <a:cubicBezTo>
                    <a:pt x="982" y="354547"/>
                    <a:pt x="0" y="352176"/>
                    <a:pt x="0" y="349705"/>
                  </a:cubicBezTo>
                  <a:lnTo>
                    <a:pt x="0" y="9318"/>
                  </a:lnTo>
                  <a:cubicBezTo>
                    <a:pt x="0" y="6847"/>
                    <a:pt x="982" y="4477"/>
                    <a:pt x="2729" y="2729"/>
                  </a:cubicBezTo>
                  <a:cubicBezTo>
                    <a:pt x="4477" y="982"/>
                    <a:pt x="6847" y="0"/>
                    <a:pt x="9318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sq">
              <a:solidFill>
                <a:srgbClr val="FF751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2550956" cy="38759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800158" y="4988343"/>
            <a:ext cx="685800" cy="685800"/>
            <a:chOff x="0" y="0"/>
            <a:chExt cx="9144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800158" y="4988343"/>
            <a:ext cx="685800" cy="685800"/>
            <a:chOff x="0" y="0"/>
            <a:chExt cx="91440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801426" y="4752227"/>
            <a:ext cx="4699896" cy="472232"/>
            <a:chOff x="0" y="0"/>
            <a:chExt cx="6266528" cy="62964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66528" cy="629642"/>
            </a:xfrm>
            <a:custGeom>
              <a:avLst/>
              <a:gdLst/>
              <a:ahLst/>
              <a:cxnLst/>
              <a:rect r="r" b="b" t="t" l="l"/>
              <a:pathLst>
                <a:path h="629642" w="6266528">
                  <a:moveTo>
                    <a:pt x="0" y="0"/>
                  </a:moveTo>
                  <a:lnTo>
                    <a:pt x="6266528" y="0"/>
                  </a:lnTo>
                  <a:lnTo>
                    <a:pt x="6266528" y="629642"/>
                  </a:lnTo>
                  <a:lnTo>
                    <a:pt x="0" y="62964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39205" r="-203509" b="-53795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9525"/>
              <a:ext cx="6266528" cy="620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A6A0A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เรียบเรียงสำนวนไม่เป็นมืออาชีพ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801426" y="5331243"/>
            <a:ext cx="9322245" cy="488457"/>
            <a:chOff x="0" y="0"/>
            <a:chExt cx="12429660" cy="6512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429661" cy="651276"/>
            </a:xfrm>
            <a:custGeom>
              <a:avLst/>
              <a:gdLst/>
              <a:ahLst/>
              <a:cxnLst/>
              <a:rect r="r" b="b" t="t" l="l"/>
              <a:pathLst>
                <a:path h="651276" w="12429661">
                  <a:moveTo>
                    <a:pt x="0" y="0"/>
                  </a:moveTo>
                  <a:lnTo>
                    <a:pt x="12429661" y="0"/>
                  </a:lnTo>
                  <a:lnTo>
                    <a:pt x="12429661" y="651276"/>
                  </a:lnTo>
                  <a:lnTo>
                    <a:pt x="0" y="65127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87525" r="-53752" b="-55600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12429660" cy="6798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1875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นักศึกษาและบัณฑิตจบใหม่มักขาดประสบการณ์ในการเขียนบรรยายทักษะและผลงานให้น่าสนใจ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800158" y="7227430"/>
            <a:ext cx="685800" cy="685800"/>
            <a:chOff x="0" y="0"/>
            <a:chExt cx="914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800158" y="7227430"/>
            <a:ext cx="685800" cy="685800"/>
            <a:chOff x="0" y="0"/>
            <a:chExt cx="91440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9144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Tahoma Bold"/>
                  <a:ea typeface="Tahoma Bold"/>
                  <a:cs typeface="Tahoma Bold"/>
                  <a:sym typeface="Tahoma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801426" y="6991314"/>
            <a:ext cx="4581357" cy="472232"/>
            <a:chOff x="0" y="0"/>
            <a:chExt cx="6108477" cy="62964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108476" cy="629642"/>
            </a:xfrm>
            <a:custGeom>
              <a:avLst/>
              <a:gdLst/>
              <a:ahLst/>
              <a:cxnLst/>
              <a:rect r="r" b="b" t="t" l="l"/>
              <a:pathLst>
                <a:path h="629642" w="6108476">
                  <a:moveTo>
                    <a:pt x="0" y="0"/>
                  </a:moveTo>
                  <a:lnTo>
                    <a:pt x="6108476" y="0"/>
                  </a:lnTo>
                  <a:lnTo>
                    <a:pt x="6108476" y="629642"/>
                  </a:lnTo>
                  <a:lnTo>
                    <a:pt x="0" y="62964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39205" r="-211362" b="-53795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9525"/>
              <a:ext cx="6108477" cy="620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A6A0A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เรซูเม่ไม่ผ่านระบบคัดกรอง ATS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3835716" y="7570330"/>
            <a:ext cx="10474404" cy="401092"/>
            <a:chOff x="0" y="0"/>
            <a:chExt cx="13965872" cy="53478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965872" cy="534789"/>
            </a:xfrm>
            <a:custGeom>
              <a:avLst/>
              <a:gdLst/>
              <a:ahLst/>
              <a:cxnLst/>
              <a:rect r="r" b="b" t="t" l="l"/>
              <a:pathLst>
                <a:path h="534789" w="13965872">
                  <a:moveTo>
                    <a:pt x="0" y="0"/>
                  </a:moveTo>
                  <a:lnTo>
                    <a:pt x="13965872" y="0"/>
                  </a:lnTo>
                  <a:lnTo>
                    <a:pt x="13965872" y="534789"/>
                  </a:lnTo>
                  <a:lnTo>
                    <a:pt x="0" y="53478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93717" r="-36840" b="-69889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13965872" cy="5633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0"/>
                </a:lnSpc>
              </a:pPr>
              <a:r>
                <a:rPr lang="en-US" sz="1875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องค์กรจำนวนมากใช้ระบบคัดกรองอัตโนมัติ เอกสารที่โครงสร้างไม่เหมาะสมจะถูกคัดออกก่อนถึงมือผู้คัดเลือก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2454137" y="943731"/>
            <a:ext cx="7585353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BACKGROUND</a:t>
            </a:r>
            <a:r>
              <a:rPr lang="en-US" sz="48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 &amp; PROBLEM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800195" y="576066"/>
            <a:ext cx="383016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ที่มาและความสำคัญ</a:t>
            </a: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ของปัญหา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7538894" y="9666412"/>
            <a:ext cx="506208" cy="506208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5" t="0" r="-72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615112" y="3042341"/>
            <a:ext cx="5231606" cy="5050441"/>
            <a:chOff x="0" y="0"/>
            <a:chExt cx="1070833" cy="103375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0833" cy="1033752"/>
            </a:xfrm>
            <a:custGeom>
              <a:avLst/>
              <a:gdLst/>
              <a:ahLst/>
              <a:cxnLst/>
              <a:rect r="r" b="b" t="t" l="l"/>
              <a:pathLst>
                <a:path h="1033752" w="1070833">
                  <a:moveTo>
                    <a:pt x="22198" y="0"/>
                  </a:moveTo>
                  <a:lnTo>
                    <a:pt x="1048636" y="0"/>
                  </a:lnTo>
                  <a:cubicBezTo>
                    <a:pt x="1054523" y="0"/>
                    <a:pt x="1060169" y="2339"/>
                    <a:pt x="1064332" y="6502"/>
                  </a:cubicBezTo>
                  <a:cubicBezTo>
                    <a:pt x="1068495" y="10664"/>
                    <a:pt x="1070833" y="16310"/>
                    <a:pt x="1070833" y="22198"/>
                  </a:cubicBezTo>
                  <a:lnTo>
                    <a:pt x="1070833" y="1011554"/>
                  </a:lnTo>
                  <a:cubicBezTo>
                    <a:pt x="1070833" y="1023813"/>
                    <a:pt x="1060895" y="1033752"/>
                    <a:pt x="1048636" y="1033752"/>
                  </a:cubicBezTo>
                  <a:lnTo>
                    <a:pt x="22198" y="1033752"/>
                  </a:lnTo>
                  <a:cubicBezTo>
                    <a:pt x="16310" y="1033752"/>
                    <a:pt x="10664" y="1031413"/>
                    <a:pt x="6502" y="1027250"/>
                  </a:cubicBezTo>
                  <a:cubicBezTo>
                    <a:pt x="2339" y="1023087"/>
                    <a:pt x="0" y="1017441"/>
                    <a:pt x="0" y="1011554"/>
                  </a:cubicBezTo>
                  <a:lnTo>
                    <a:pt x="0" y="22198"/>
                  </a:lnTo>
                  <a:cubicBezTo>
                    <a:pt x="0" y="16310"/>
                    <a:pt x="2339" y="10664"/>
                    <a:pt x="6502" y="6502"/>
                  </a:cubicBezTo>
                  <a:cubicBezTo>
                    <a:pt x="10664" y="2339"/>
                    <a:pt x="16310" y="0"/>
                    <a:pt x="22198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sq">
              <a:solidFill>
                <a:srgbClr val="FF751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070833" cy="1062326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27694" y="3042341"/>
            <a:ext cx="5231606" cy="5050441"/>
            <a:chOff x="0" y="0"/>
            <a:chExt cx="1070833" cy="10337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0833" cy="1033752"/>
            </a:xfrm>
            <a:custGeom>
              <a:avLst/>
              <a:gdLst/>
              <a:ahLst/>
              <a:cxnLst/>
              <a:rect r="r" b="b" t="t" l="l"/>
              <a:pathLst>
                <a:path h="1033752" w="1070833">
                  <a:moveTo>
                    <a:pt x="22198" y="0"/>
                  </a:moveTo>
                  <a:lnTo>
                    <a:pt x="1048636" y="0"/>
                  </a:lnTo>
                  <a:cubicBezTo>
                    <a:pt x="1054523" y="0"/>
                    <a:pt x="1060169" y="2339"/>
                    <a:pt x="1064332" y="6502"/>
                  </a:cubicBezTo>
                  <a:cubicBezTo>
                    <a:pt x="1068495" y="10664"/>
                    <a:pt x="1070833" y="16310"/>
                    <a:pt x="1070833" y="22198"/>
                  </a:cubicBezTo>
                  <a:lnTo>
                    <a:pt x="1070833" y="1011554"/>
                  </a:lnTo>
                  <a:cubicBezTo>
                    <a:pt x="1070833" y="1023813"/>
                    <a:pt x="1060895" y="1033752"/>
                    <a:pt x="1048636" y="1033752"/>
                  </a:cubicBezTo>
                  <a:lnTo>
                    <a:pt x="22198" y="1033752"/>
                  </a:lnTo>
                  <a:cubicBezTo>
                    <a:pt x="16310" y="1033752"/>
                    <a:pt x="10664" y="1031413"/>
                    <a:pt x="6502" y="1027250"/>
                  </a:cubicBezTo>
                  <a:cubicBezTo>
                    <a:pt x="2339" y="1023087"/>
                    <a:pt x="0" y="1017441"/>
                    <a:pt x="0" y="1011554"/>
                  </a:cubicBezTo>
                  <a:lnTo>
                    <a:pt x="0" y="22198"/>
                  </a:lnTo>
                  <a:cubicBezTo>
                    <a:pt x="0" y="16310"/>
                    <a:pt x="2339" y="10664"/>
                    <a:pt x="6502" y="6502"/>
                  </a:cubicBezTo>
                  <a:cubicBezTo>
                    <a:pt x="10664" y="2339"/>
                    <a:pt x="16310" y="0"/>
                    <a:pt x="22198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sq">
              <a:solidFill>
                <a:srgbClr val="FF751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70833" cy="1062326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07056" y="3042341"/>
            <a:ext cx="5231606" cy="5050441"/>
            <a:chOff x="0" y="0"/>
            <a:chExt cx="1070833" cy="10337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0833" cy="1033752"/>
            </a:xfrm>
            <a:custGeom>
              <a:avLst/>
              <a:gdLst/>
              <a:ahLst/>
              <a:cxnLst/>
              <a:rect r="r" b="b" t="t" l="l"/>
              <a:pathLst>
                <a:path h="1033752" w="1070833">
                  <a:moveTo>
                    <a:pt x="22198" y="0"/>
                  </a:moveTo>
                  <a:lnTo>
                    <a:pt x="1048636" y="0"/>
                  </a:lnTo>
                  <a:cubicBezTo>
                    <a:pt x="1054523" y="0"/>
                    <a:pt x="1060169" y="2339"/>
                    <a:pt x="1064332" y="6502"/>
                  </a:cubicBezTo>
                  <a:cubicBezTo>
                    <a:pt x="1068495" y="10664"/>
                    <a:pt x="1070833" y="16310"/>
                    <a:pt x="1070833" y="22198"/>
                  </a:cubicBezTo>
                  <a:lnTo>
                    <a:pt x="1070833" y="1011554"/>
                  </a:lnTo>
                  <a:cubicBezTo>
                    <a:pt x="1070833" y="1023813"/>
                    <a:pt x="1060895" y="1033752"/>
                    <a:pt x="1048636" y="1033752"/>
                  </a:cubicBezTo>
                  <a:lnTo>
                    <a:pt x="22198" y="1033752"/>
                  </a:lnTo>
                  <a:cubicBezTo>
                    <a:pt x="16310" y="1033752"/>
                    <a:pt x="10664" y="1031413"/>
                    <a:pt x="6502" y="1027250"/>
                  </a:cubicBezTo>
                  <a:cubicBezTo>
                    <a:pt x="2339" y="1023087"/>
                    <a:pt x="0" y="1017441"/>
                    <a:pt x="0" y="1011554"/>
                  </a:cubicBezTo>
                  <a:lnTo>
                    <a:pt x="0" y="22198"/>
                  </a:lnTo>
                  <a:cubicBezTo>
                    <a:pt x="0" y="16310"/>
                    <a:pt x="2339" y="10664"/>
                    <a:pt x="6502" y="6502"/>
                  </a:cubicBezTo>
                  <a:cubicBezTo>
                    <a:pt x="10664" y="2339"/>
                    <a:pt x="16310" y="0"/>
                    <a:pt x="22198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sq">
              <a:solidFill>
                <a:srgbClr val="FF751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1070833" cy="1062326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264456" y="3703662"/>
            <a:ext cx="1097280" cy="1097280"/>
            <a:chOff x="0" y="0"/>
            <a:chExt cx="1463040" cy="1463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264456" y="3703662"/>
            <a:ext cx="1097280" cy="1097280"/>
            <a:chOff x="0" y="0"/>
            <a:chExt cx="146304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4630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>
                  <a:solidFill>
                    <a:srgbClr val="FFFFFF"/>
                  </a:solidFill>
                  <a:latin typeface="Archive"/>
                  <a:ea typeface="Archive"/>
                  <a:cs typeface="Archive"/>
                  <a:sym typeface="Archive"/>
                </a:rPr>
                <a:t>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36240" y="5212422"/>
            <a:ext cx="4553712" cy="493776"/>
            <a:chOff x="0" y="0"/>
            <a:chExt cx="6071616" cy="65836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71616" cy="658368"/>
            </a:xfrm>
            <a:custGeom>
              <a:avLst/>
              <a:gdLst/>
              <a:ahLst/>
              <a:cxnLst/>
              <a:rect r="r" b="b" t="t" l="l"/>
              <a:pathLst>
                <a:path h="658368" w="6071616">
                  <a:moveTo>
                    <a:pt x="0" y="0"/>
                  </a:moveTo>
                  <a:lnTo>
                    <a:pt x="6071616" y="0"/>
                  </a:lnTo>
                  <a:lnTo>
                    <a:pt x="607161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9695" r="0" b="-12969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071616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EA6A0A"/>
                  </a:solidFill>
                  <a:latin typeface="Archive"/>
                  <a:ea typeface="Archive"/>
                  <a:cs typeface="Archive"/>
                  <a:sym typeface="Archive"/>
                </a:rPr>
                <a:t>พัฒนาเว็บแอปพลิเคชัน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63672" y="5898222"/>
            <a:ext cx="4498848" cy="2194560"/>
            <a:chOff x="0" y="0"/>
            <a:chExt cx="5998464" cy="2926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98464" cy="2926080"/>
            </a:xfrm>
            <a:custGeom>
              <a:avLst/>
              <a:gdLst/>
              <a:ahLst/>
              <a:cxnLst/>
              <a:rect r="r" b="b" t="t" l="l"/>
              <a:pathLst>
                <a:path h="2926080" w="5998464">
                  <a:moveTo>
                    <a:pt x="0" y="0"/>
                  </a:moveTo>
                  <a:lnTo>
                    <a:pt x="5998464" y="0"/>
                  </a:lnTo>
                  <a:lnTo>
                    <a:pt x="5998464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2587" t="0" r="-1258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998464" cy="2983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92"/>
                </a:lnSpc>
              </a:pPr>
              <a:r>
                <a:rPr lang="en-US" sz="2100">
                  <a:solidFill>
                    <a:srgbClr val="1F2024"/>
                  </a:solidFill>
                  <a:latin typeface="Archive"/>
                  <a:ea typeface="Archive"/>
                  <a:cs typeface="Archive"/>
                  <a:sym typeface="Archive"/>
                </a:rPr>
                <a:t>เพื่อพัฒนาเว็บแอปพลิเคชันสำหรับสร้างและออกแบบเอกสารเรซูเม่ด้วยเทคโนโลยีปัญญาประดิษฐ์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750856" y="3703662"/>
            <a:ext cx="1097280" cy="1097280"/>
            <a:chOff x="0" y="0"/>
            <a:chExt cx="1463040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750856" y="3703662"/>
            <a:ext cx="1097280" cy="1097280"/>
            <a:chOff x="0" y="0"/>
            <a:chExt cx="146304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4630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>
                  <a:solidFill>
                    <a:srgbClr val="FFFFFF"/>
                  </a:solidFill>
                  <a:latin typeface="Archive"/>
                  <a:ea typeface="Archive"/>
                  <a:cs typeface="Archive"/>
                  <a:sym typeface="Archive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022640" y="5212422"/>
            <a:ext cx="4553712" cy="493776"/>
            <a:chOff x="0" y="0"/>
            <a:chExt cx="6071616" cy="65836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71616" cy="658368"/>
            </a:xfrm>
            <a:custGeom>
              <a:avLst/>
              <a:gdLst/>
              <a:ahLst/>
              <a:cxnLst/>
              <a:rect r="r" b="b" t="t" l="l"/>
              <a:pathLst>
                <a:path h="658368" w="6071616">
                  <a:moveTo>
                    <a:pt x="0" y="0"/>
                  </a:moveTo>
                  <a:lnTo>
                    <a:pt x="6071616" y="0"/>
                  </a:lnTo>
                  <a:lnTo>
                    <a:pt x="607161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9695" r="0" b="-12969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6071616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EA6A0A"/>
                  </a:solidFill>
                  <a:latin typeface="Archive"/>
                  <a:ea typeface="Archive"/>
                  <a:cs typeface="Archive"/>
                  <a:sym typeface="Archive"/>
                </a:rPr>
                <a:t>ประยุกต์ใช้ AI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050072" y="5898222"/>
            <a:ext cx="4498848" cy="2194560"/>
            <a:chOff x="0" y="0"/>
            <a:chExt cx="5998464" cy="2926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998464" cy="2926080"/>
            </a:xfrm>
            <a:custGeom>
              <a:avLst/>
              <a:gdLst/>
              <a:ahLst/>
              <a:cxnLst/>
              <a:rect r="r" b="b" t="t" l="l"/>
              <a:pathLst>
                <a:path h="2926080" w="5998464">
                  <a:moveTo>
                    <a:pt x="0" y="0"/>
                  </a:moveTo>
                  <a:lnTo>
                    <a:pt x="5998464" y="0"/>
                  </a:lnTo>
                  <a:lnTo>
                    <a:pt x="5998464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2587" t="0" r="-12587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5998464" cy="2983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92"/>
                </a:lnSpc>
              </a:pPr>
              <a:r>
                <a:rPr lang="en-US" sz="2100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เพื่อศึกษาและประยุกต์ใช้ AI ในการจัดวางรูปแบบและปรับปรุงเนื้อหาของเรซูเม่ให้มีความเหมาะสมและเป็นมืออาชีพ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237256" y="3703662"/>
            <a:ext cx="1097280" cy="1097280"/>
            <a:chOff x="0" y="0"/>
            <a:chExt cx="1463040" cy="146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4237256" y="3703662"/>
            <a:ext cx="1097280" cy="1097280"/>
            <a:chOff x="0" y="0"/>
            <a:chExt cx="1463040" cy="14630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4630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>
                  <a:solidFill>
                    <a:srgbClr val="FFFFFF"/>
                  </a:solidFill>
                  <a:latin typeface="Archive"/>
                  <a:ea typeface="Archive"/>
                  <a:cs typeface="Archive"/>
                  <a:sym typeface="Archive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509040" y="5212422"/>
            <a:ext cx="4553712" cy="493776"/>
            <a:chOff x="0" y="0"/>
            <a:chExt cx="6071616" cy="6583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071616" cy="658368"/>
            </a:xfrm>
            <a:custGeom>
              <a:avLst/>
              <a:gdLst/>
              <a:ahLst/>
              <a:cxnLst/>
              <a:rect r="r" b="b" t="t" l="l"/>
              <a:pathLst>
                <a:path h="658368" w="6071616">
                  <a:moveTo>
                    <a:pt x="0" y="0"/>
                  </a:moveTo>
                  <a:lnTo>
                    <a:pt x="6071616" y="0"/>
                  </a:lnTo>
                  <a:lnTo>
                    <a:pt x="607161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9695" r="0" b="-12969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6071616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>
                  <a:solidFill>
                    <a:srgbClr val="EA6A0A"/>
                  </a:solidFill>
                  <a:latin typeface="Archive"/>
                  <a:ea typeface="Archive"/>
                  <a:cs typeface="Archive"/>
                  <a:sym typeface="Archive"/>
                </a:rPr>
                <a:t>ทดสอบและประเมินผล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536472" y="5898222"/>
            <a:ext cx="4498848" cy="2194560"/>
            <a:chOff x="0" y="0"/>
            <a:chExt cx="5998464" cy="29260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998464" cy="2926080"/>
            </a:xfrm>
            <a:custGeom>
              <a:avLst/>
              <a:gdLst/>
              <a:ahLst/>
              <a:cxnLst/>
              <a:rect r="r" b="b" t="t" l="l"/>
              <a:pathLst>
                <a:path h="2926080" w="5998464">
                  <a:moveTo>
                    <a:pt x="0" y="0"/>
                  </a:moveTo>
                  <a:lnTo>
                    <a:pt x="5998464" y="0"/>
                  </a:lnTo>
                  <a:lnTo>
                    <a:pt x="5998464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2587" t="0" r="-12587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5998464" cy="2983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92"/>
                </a:lnSpc>
              </a:pPr>
              <a:r>
                <a:rPr lang="en-US" sz="2100">
                  <a:solidFill>
                    <a:srgbClr val="1F2024"/>
                  </a:solidFill>
                  <a:latin typeface="Archive"/>
                  <a:ea typeface="Archive"/>
                  <a:cs typeface="Archive"/>
                  <a:sym typeface="Archive"/>
                </a:rPr>
                <a:t>เพื่อทดสอบและประเมินประสิทธิภาพการทำงานของระบบ ตลอดจนประเมินความพึงพอใจของผู้ใช้งานที่มีต่อระบบ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117878" y="1291590"/>
            <a:ext cx="6516767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P</a:t>
            </a:r>
            <a:r>
              <a:rPr lang="en-US" sz="48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roject</a:t>
            </a:r>
            <a:r>
              <a:rPr lang="en-US" sz="48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 objectives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536240" y="990600"/>
            <a:ext cx="330435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 </a:t>
            </a: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วัตถุประสงค์ของโครงงาน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7538894" y="9666412"/>
            <a:ext cx="506208" cy="506208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5" t="0" r="-725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84069" y="1831493"/>
            <a:ext cx="7227422" cy="3105722"/>
            <a:chOff x="0" y="0"/>
            <a:chExt cx="9636562" cy="41409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36561" cy="4140962"/>
            </a:xfrm>
            <a:custGeom>
              <a:avLst/>
              <a:gdLst/>
              <a:ahLst/>
              <a:cxnLst/>
              <a:rect r="r" b="b" t="t" l="l"/>
              <a:pathLst>
                <a:path h="4140962" w="9636561">
                  <a:moveTo>
                    <a:pt x="0" y="295783"/>
                  </a:moveTo>
                  <a:cubicBezTo>
                    <a:pt x="0" y="132461"/>
                    <a:pt x="119839" y="0"/>
                    <a:pt x="267599" y="0"/>
                  </a:cubicBezTo>
                  <a:lnTo>
                    <a:pt x="9368963" y="0"/>
                  </a:lnTo>
                  <a:cubicBezTo>
                    <a:pt x="9516722" y="0"/>
                    <a:pt x="9636561" y="132461"/>
                    <a:pt x="9636561" y="295783"/>
                  </a:cubicBezTo>
                  <a:lnTo>
                    <a:pt x="9636561" y="3845179"/>
                  </a:lnTo>
                  <a:cubicBezTo>
                    <a:pt x="9636561" y="4008501"/>
                    <a:pt x="9516722" y="4140962"/>
                    <a:pt x="9368963" y="4140962"/>
                  </a:cubicBezTo>
                  <a:lnTo>
                    <a:pt x="267599" y="4140962"/>
                  </a:lnTo>
                  <a:cubicBezTo>
                    <a:pt x="119839" y="4140962"/>
                    <a:pt x="0" y="4008501"/>
                    <a:pt x="0" y="3845179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3338" cap="sq">
              <a:solidFill>
                <a:srgbClr val="F97316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884786" y="2232210"/>
            <a:ext cx="630936" cy="630936"/>
            <a:chOff x="0" y="0"/>
            <a:chExt cx="841248" cy="8412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884786" y="2232210"/>
            <a:ext cx="630936" cy="630936"/>
            <a:chOff x="0" y="0"/>
            <a:chExt cx="841248" cy="8412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707746" y="2259642"/>
            <a:ext cx="2880360" cy="556964"/>
            <a:chOff x="0" y="0"/>
            <a:chExt cx="3840480" cy="7426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40480" cy="742619"/>
            </a:xfrm>
            <a:custGeom>
              <a:avLst/>
              <a:gdLst/>
              <a:ahLst/>
              <a:cxnLst/>
              <a:rect r="r" b="b" t="t" l="l"/>
              <a:pathLst>
                <a:path h="742619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742619"/>
                  </a:lnTo>
                  <a:lnTo>
                    <a:pt x="0" y="7426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6125" r="-123809" b="-16492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840480" cy="7426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EA6A0A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ด้านผู้ใช้งาน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021946" y="3002096"/>
            <a:ext cx="6088394" cy="1371600"/>
            <a:chOff x="0" y="0"/>
            <a:chExt cx="8117859" cy="1828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17859" cy="1828800"/>
            </a:xfrm>
            <a:custGeom>
              <a:avLst/>
              <a:gdLst/>
              <a:ahLst/>
              <a:cxnLst/>
              <a:rect r="r" b="b" t="t" l="l"/>
              <a:pathLst>
                <a:path h="1828800" w="8117859">
                  <a:moveTo>
                    <a:pt x="0" y="0"/>
                  </a:moveTo>
                  <a:lnTo>
                    <a:pt x="8117859" y="0"/>
                  </a:lnTo>
                  <a:lnTo>
                    <a:pt x="8117859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322" r="-17146" b="-6632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8117859" cy="1819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สมัครสมาชิก เข้าสู่ระบบ และออกจากระบบ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1 บัญชีสร้างและจัดการเรซูเม่ได้หลายรายการ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76509" y="1831493"/>
            <a:ext cx="7227422" cy="3105722"/>
            <a:chOff x="0" y="0"/>
            <a:chExt cx="9636562" cy="41409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36561" cy="4140962"/>
            </a:xfrm>
            <a:custGeom>
              <a:avLst/>
              <a:gdLst/>
              <a:ahLst/>
              <a:cxnLst/>
              <a:rect r="r" b="b" t="t" l="l"/>
              <a:pathLst>
                <a:path h="4140962" w="9636561">
                  <a:moveTo>
                    <a:pt x="0" y="295783"/>
                  </a:moveTo>
                  <a:cubicBezTo>
                    <a:pt x="0" y="132461"/>
                    <a:pt x="119839" y="0"/>
                    <a:pt x="267599" y="0"/>
                  </a:cubicBezTo>
                  <a:lnTo>
                    <a:pt x="9368963" y="0"/>
                  </a:lnTo>
                  <a:cubicBezTo>
                    <a:pt x="9516722" y="0"/>
                    <a:pt x="9636561" y="132461"/>
                    <a:pt x="9636561" y="295783"/>
                  </a:cubicBezTo>
                  <a:lnTo>
                    <a:pt x="9636561" y="3845179"/>
                  </a:lnTo>
                  <a:cubicBezTo>
                    <a:pt x="9636561" y="4008501"/>
                    <a:pt x="9516722" y="4140962"/>
                    <a:pt x="9368963" y="4140962"/>
                  </a:cubicBezTo>
                  <a:lnTo>
                    <a:pt x="267599" y="4140962"/>
                  </a:lnTo>
                  <a:cubicBezTo>
                    <a:pt x="119839" y="4140962"/>
                    <a:pt x="0" y="4008501"/>
                    <a:pt x="0" y="3845179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3338" cap="sq">
              <a:solidFill>
                <a:srgbClr val="F97316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977226" y="2232210"/>
            <a:ext cx="630936" cy="630936"/>
            <a:chOff x="0" y="0"/>
            <a:chExt cx="841248" cy="8412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977226" y="2232210"/>
            <a:ext cx="630936" cy="630936"/>
            <a:chOff x="0" y="0"/>
            <a:chExt cx="841248" cy="84124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00186" y="2259642"/>
            <a:ext cx="3988945" cy="556964"/>
            <a:chOff x="0" y="0"/>
            <a:chExt cx="5318594" cy="74261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18594" cy="742619"/>
            </a:xfrm>
            <a:custGeom>
              <a:avLst/>
              <a:gdLst/>
              <a:ahLst/>
              <a:cxnLst/>
              <a:rect r="r" b="b" t="t" l="l"/>
              <a:pathLst>
                <a:path h="742619" w="5318594">
                  <a:moveTo>
                    <a:pt x="0" y="0"/>
                  </a:moveTo>
                  <a:lnTo>
                    <a:pt x="5318594" y="0"/>
                  </a:lnTo>
                  <a:lnTo>
                    <a:pt x="5318594" y="742619"/>
                  </a:lnTo>
                  <a:lnTo>
                    <a:pt x="0" y="7426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6125" r="-61609" b="-16492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5318594" cy="7426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EA6A0A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ด้านการจัดการเรซูเม่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114386" y="2920278"/>
            <a:ext cx="6262382" cy="1753858"/>
            <a:chOff x="0" y="0"/>
            <a:chExt cx="8349843" cy="233847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349842" cy="2338477"/>
            </a:xfrm>
            <a:custGeom>
              <a:avLst/>
              <a:gdLst/>
              <a:ahLst/>
              <a:cxnLst/>
              <a:rect r="r" b="b" t="t" l="l"/>
              <a:pathLst>
                <a:path h="2338477" w="8349842">
                  <a:moveTo>
                    <a:pt x="0" y="0"/>
                  </a:moveTo>
                  <a:lnTo>
                    <a:pt x="8349842" y="0"/>
                  </a:lnTo>
                  <a:lnTo>
                    <a:pt x="8349842" y="2338477"/>
                  </a:lnTo>
                  <a:lnTo>
                    <a:pt x="0" y="23384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405" r="-13891" b="-3007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8349843" cy="232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ข้อมูลส่วนตัวและสายอาชีพ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บทสรุปประวัติ ประสบการณ์ การศึกษา โครงงาน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เพิ่ม แก้ไข และลบข้อมูลทักษะความสามารถ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84069" y="5205629"/>
            <a:ext cx="7227422" cy="3105722"/>
            <a:chOff x="0" y="0"/>
            <a:chExt cx="9636562" cy="414096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636561" cy="4140962"/>
            </a:xfrm>
            <a:custGeom>
              <a:avLst/>
              <a:gdLst/>
              <a:ahLst/>
              <a:cxnLst/>
              <a:rect r="r" b="b" t="t" l="l"/>
              <a:pathLst>
                <a:path h="4140962" w="9636561">
                  <a:moveTo>
                    <a:pt x="0" y="295783"/>
                  </a:moveTo>
                  <a:cubicBezTo>
                    <a:pt x="0" y="132461"/>
                    <a:pt x="119839" y="0"/>
                    <a:pt x="267599" y="0"/>
                  </a:cubicBezTo>
                  <a:lnTo>
                    <a:pt x="9368963" y="0"/>
                  </a:lnTo>
                  <a:cubicBezTo>
                    <a:pt x="9516722" y="0"/>
                    <a:pt x="9636561" y="132461"/>
                    <a:pt x="9636561" y="295783"/>
                  </a:cubicBezTo>
                  <a:lnTo>
                    <a:pt x="9636561" y="3845179"/>
                  </a:lnTo>
                  <a:cubicBezTo>
                    <a:pt x="9636561" y="4008501"/>
                    <a:pt x="9516722" y="4140962"/>
                    <a:pt x="9368963" y="4140962"/>
                  </a:cubicBezTo>
                  <a:lnTo>
                    <a:pt x="267599" y="4140962"/>
                  </a:lnTo>
                  <a:cubicBezTo>
                    <a:pt x="119839" y="4140962"/>
                    <a:pt x="0" y="4008501"/>
                    <a:pt x="0" y="3845179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3338" cap="sq">
              <a:solidFill>
                <a:srgbClr val="F97316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884786" y="5606346"/>
            <a:ext cx="630936" cy="630936"/>
            <a:chOff x="0" y="0"/>
            <a:chExt cx="841248" cy="8412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884786" y="5606346"/>
            <a:ext cx="630936" cy="630936"/>
            <a:chOff x="0" y="0"/>
            <a:chExt cx="841248" cy="8412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707746" y="5633778"/>
            <a:ext cx="3206001" cy="556964"/>
            <a:chOff x="0" y="0"/>
            <a:chExt cx="4274668" cy="74261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74668" cy="742619"/>
            </a:xfrm>
            <a:custGeom>
              <a:avLst/>
              <a:gdLst/>
              <a:ahLst/>
              <a:cxnLst/>
              <a:rect r="r" b="b" t="t" l="l"/>
              <a:pathLst>
                <a:path h="742619" w="4274668">
                  <a:moveTo>
                    <a:pt x="0" y="0"/>
                  </a:moveTo>
                  <a:lnTo>
                    <a:pt x="4274668" y="0"/>
                  </a:lnTo>
                  <a:lnTo>
                    <a:pt x="4274668" y="742619"/>
                  </a:lnTo>
                  <a:lnTo>
                    <a:pt x="0" y="7426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6125" r="-101076" b="-16492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274668" cy="7426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EA6A0A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ด้านปัญญาประดิษฐ์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021946" y="6347010"/>
            <a:ext cx="6449753" cy="1711833"/>
            <a:chOff x="0" y="0"/>
            <a:chExt cx="8599670" cy="228244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599670" cy="2282444"/>
            </a:xfrm>
            <a:custGeom>
              <a:avLst/>
              <a:gdLst/>
              <a:ahLst/>
              <a:cxnLst/>
              <a:rect r="r" b="b" t="t" l="l"/>
              <a:pathLst>
                <a:path h="2282444" w="8599670">
                  <a:moveTo>
                    <a:pt x="0" y="0"/>
                  </a:moveTo>
                  <a:lnTo>
                    <a:pt x="8599670" y="0"/>
                  </a:lnTo>
                  <a:lnTo>
                    <a:pt x="8599670" y="2282444"/>
                  </a:lnTo>
                  <a:lnTo>
                    <a:pt x="0" y="22824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103" r="-10582" b="-3326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9525"/>
              <a:ext cx="8599670" cy="2272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เกลาสำนวนบทสรุปและคำอธิบายประสบการณ์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อัปโหลดเรซูเม่ PDF เดิมแล้วสกัดข้อมูลอัตโนมัติ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วิเคราะห์คะแนนความสอดคล้องกับ ATS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576509" y="5205629"/>
            <a:ext cx="7227422" cy="3105722"/>
            <a:chOff x="0" y="0"/>
            <a:chExt cx="9636562" cy="414096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636561" cy="4140962"/>
            </a:xfrm>
            <a:custGeom>
              <a:avLst/>
              <a:gdLst/>
              <a:ahLst/>
              <a:cxnLst/>
              <a:rect r="r" b="b" t="t" l="l"/>
              <a:pathLst>
                <a:path h="4140962" w="9636561">
                  <a:moveTo>
                    <a:pt x="0" y="295783"/>
                  </a:moveTo>
                  <a:cubicBezTo>
                    <a:pt x="0" y="132461"/>
                    <a:pt x="119839" y="0"/>
                    <a:pt x="267599" y="0"/>
                  </a:cubicBezTo>
                  <a:lnTo>
                    <a:pt x="9368963" y="0"/>
                  </a:lnTo>
                  <a:cubicBezTo>
                    <a:pt x="9516722" y="0"/>
                    <a:pt x="9636561" y="132461"/>
                    <a:pt x="9636561" y="295783"/>
                  </a:cubicBezTo>
                  <a:lnTo>
                    <a:pt x="9636561" y="3845179"/>
                  </a:lnTo>
                  <a:cubicBezTo>
                    <a:pt x="9636561" y="4008501"/>
                    <a:pt x="9516722" y="4140962"/>
                    <a:pt x="9368963" y="4140962"/>
                  </a:cubicBezTo>
                  <a:lnTo>
                    <a:pt x="267599" y="4140962"/>
                  </a:lnTo>
                  <a:cubicBezTo>
                    <a:pt x="119839" y="4140962"/>
                    <a:pt x="0" y="4008501"/>
                    <a:pt x="0" y="3845179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3338" cap="sq">
              <a:solidFill>
                <a:srgbClr val="F97316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977226" y="5606346"/>
            <a:ext cx="630936" cy="630936"/>
            <a:chOff x="0" y="0"/>
            <a:chExt cx="841248" cy="8412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977226" y="5606346"/>
            <a:ext cx="630936" cy="630936"/>
            <a:chOff x="0" y="0"/>
            <a:chExt cx="841248" cy="84124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800186" y="5633778"/>
            <a:ext cx="3988945" cy="556964"/>
            <a:chOff x="0" y="0"/>
            <a:chExt cx="5318594" cy="74261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318594" cy="742619"/>
            </a:xfrm>
            <a:custGeom>
              <a:avLst/>
              <a:gdLst/>
              <a:ahLst/>
              <a:cxnLst/>
              <a:rect r="r" b="b" t="t" l="l"/>
              <a:pathLst>
                <a:path h="742619" w="5318594">
                  <a:moveTo>
                    <a:pt x="0" y="0"/>
                  </a:moveTo>
                  <a:lnTo>
                    <a:pt x="5318594" y="0"/>
                  </a:lnTo>
                  <a:lnTo>
                    <a:pt x="5318594" y="742619"/>
                  </a:lnTo>
                  <a:lnTo>
                    <a:pt x="0" y="74261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6125" r="-61609" b="-16492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5318594" cy="7426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EA6A0A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ด้านรูปแบบและรูปภาพ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114386" y="6347010"/>
            <a:ext cx="6401932" cy="1609092"/>
            <a:chOff x="0" y="0"/>
            <a:chExt cx="8535910" cy="214545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535909" cy="2145456"/>
            </a:xfrm>
            <a:custGeom>
              <a:avLst/>
              <a:gdLst/>
              <a:ahLst/>
              <a:cxnLst/>
              <a:rect r="r" b="b" t="t" l="l"/>
              <a:pathLst>
                <a:path h="2145456" w="8535909">
                  <a:moveTo>
                    <a:pt x="0" y="0"/>
                  </a:moveTo>
                  <a:lnTo>
                    <a:pt x="8535909" y="0"/>
                  </a:lnTo>
                  <a:lnTo>
                    <a:pt x="8535909" y="2145456"/>
                  </a:lnTo>
                  <a:lnTo>
                    <a:pt x="0" y="214545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961" r="-11408" b="-4177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9525"/>
              <a:ext cx="8535910" cy="2135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เทมเพลตหลายรูปแบบและปรับสีธีมได้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แสดงตัวอย่างเอกสารทันที (Live Preview)</a:t>
              </a:r>
            </a:p>
            <a:p>
              <a:pPr algn="l" marL="434340" indent="-217170" lvl="1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อัปโหลดและกดตัดพื้นหลังรูปโปรไฟล์อัตโนมัติ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1500738" y="743738"/>
            <a:ext cx="6970961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S</a:t>
            </a:r>
            <a:r>
              <a:rPr lang="en-US" sz="48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cop</a:t>
            </a:r>
            <a:r>
              <a:rPr lang="en-US" sz="48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e of the project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716064" y="442748"/>
            <a:ext cx="269944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ขอบเข</a:t>
            </a: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ตของโครงงาน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17538894" y="9666412"/>
            <a:ext cx="506208" cy="506208"/>
            <a:chOff x="0" y="0"/>
            <a:chExt cx="812800" cy="812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5" t="0" r="-725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516360" y="1490423"/>
            <a:ext cx="12941257" cy="7457583"/>
            <a:chOff x="0" y="0"/>
            <a:chExt cx="2648886" cy="15264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48886" cy="1526458"/>
            </a:xfrm>
            <a:custGeom>
              <a:avLst/>
              <a:gdLst/>
              <a:ahLst/>
              <a:cxnLst/>
              <a:rect r="r" b="b" t="t" l="l"/>
              <a:pathLst>
                <a:path h="1526458" w="2648886">
                  <a:moveTo>
                    <a:pt x="8974" y="0"/>
                  </a:moveTo>
                  <a:lnTo>
                    <a:pt x="2639913" y="0"/>
                  </a:lnTo>
                  <a:cubicBezTo>
                    <a:pt x="2644869" y="0"/>
                    <a:pt x="2648886" y="4018"/>
                    <a:pt x="2648886" y="8974"/>
                  </a:cubicBezTo>
                  <a:lnTo>
                    <a:pt x="2648886" y="1517485"/>
                  </a:lnTo>
                  <a:cubicBezTo>
                    <a:pt x="2648886" y="1522441"/>
                    <a:pt x="2644869" y="1526458"/>
                    <a:pt x="2639913" y="1526458"/>
                  </a:cubicBezTo>
                  <a:lnTo>
                    <a:pt x="8974" y="1526458"/>
                  </a:lnTo>
                  <a:cubicBezTo>
                    <a:pt x="4018" y="1526458"/>
                    <a:pt x="0" y="1522441"/>
                    <a:pt x="0" y="1517485"/>
                  </a:cubicBezTo>
                  <a:lnTo>
                    <a:pt x="0" y="8974"/>
                  </a:lnTo>
                  <a:cubicBezTo>
                    <a:pt x="0" y="4018"/>
                    <a:pt x="4018" y="0"/>
                    <a:pt x="8974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sq">
              <a:solidFill>
                <a:srgbClr val="FF751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648886" cy="1555033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192170" y="3331116"/>
            <a:ext cx="678296" cy="678296"/>
            <a:chOff x="0" y="0"/>
            <a:chExt cx="841248" cy="8412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474788" y="1909431"/>
            <a:ext cx="928422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1100E"/>
                </a:solidFill>
                <a:latin typeface="Canva Sans 2"/>
                <a:ea typeface="Canva Sans 2"/>
                <a:cs typeface="Canva Sans 2"/>
                <a:sym typeface="Canva Sans 2"/>
              </a:rPr>
              <a:t>ช่วยให้ผู้ใช้งานสามารถสร้างเรซูเม่ที่มีรูปแบบสวยงาม เป็นมืออาชีพ และถูกต้องตามมาตรฐานสากลได้โดยง่าย แม้ไม่มีพื้นฐานด้านการออกแบบ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74788" y="3194072"/>
            <a:ext cx="928422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1100E"/>
                </a:solidFill>
                <a:latin typeface="Canva Sans 2"/>
                <a:ea typeface="Canva Sans 2"/>
                <a:cs typeface="Canva Sans 2"/>
                <a:sym typeface="Canva Sans 2"/>
              </a:rPr>
              <a:t>ลดขั้นตอนการจัดเตรียมเอกสารสมัครงานด้วยระบบอัตโนมัติ และการนำปัญญาประดิษฐ์ (AI) เข้ามาช่วยเรียบเรียงเนื้อหา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74788" y="4476137"/>
            <a:ext cx="928422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1100E"/>
                </a:solidFill>
                <a:latin typeface="Canva Sans 2"/>
                <a:ea typeface="Canva Sans 2"/>
                <a:cs typeface="Canva Sans 2"/>
                <a:sym typeface="Canva Sans 2"/>
              </a:rPr>
              <a:t>ช่วยให้ผู้สมัครมีเรซูเม่ที่อ่านง่าย โดดเด่น ชัดเจน และตรงตามเกณฑ์ความต้องการของฝ่ายทรัพยากรบุคคล (HR)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74788" y="5758202"/>
            <a:ext cx="9284228" cy="123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1100E"/>
                </a:solidFill>
                <a:latin typeface="Canva Sans 2"/>
                <a:ea typeface="Canva Sans 2"/>
                <a:cs typeface="Canva Sans 2"/>
                <a:sym typeface="Canva Sans 2"/>
              </a:rPr>
              <a:t>คณะผู้จัดทำได้นำความรู้ด้านวิศวกรรมคอมพิวเตอร์ ทั้งการพัฒนาเว็บแอปพลิเคชัน (Web Development) และการบูรณาการเทคโนโลยี AI 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1100E"/>
                </a:solidFill>
                <a:latin typeface="Canva Sans 2"/>
                <a:ea typeface="Canva Sans 2"/>
                <a:cs typeface="Canva Sans 2"/>
                <a:sym typeface="Canva Sans 2"/>
              </a:rPr>
              <a:t>(AI Integration) มาประยุกต์ใช้กับระบบงานจริง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474788" y="7459367"/>
            <a:ext cx="928422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1100E"/>
                </a:solidFill>
                <a:latin typeface="Canva Sans 2"/>
                <a:ea typeface="Canva Sans 2"/>
                <a:cs typeface="Canva Sans 2"/>
                <a:sym typeface="Canva Sans 2"/>
              </a:rPr>
              <a:t>ได้ระบบต้นแบบ (Prototype) ที่พร้อมนำไปพัฒนาเป็นแพลตฟอร์มสาธารณะ หรือนำไปใช้สนับสนุนงานด้านกิจการนักศึกษาของมหาวิทยาลัยในอนาคต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192170" y="1997003"/>
            <a:ext cx="678296" cy="678296"/>
            <a:chOff x="0" y="0"/>
            <a:chExt cx="841248" cy="8412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3192170" y="1997003"/>
            <a:ext cx="678296" cy="678296"/>
            <a:chOff x="0" y="0"/>
            <a:chExt cx="841248" cy="8412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192170" y="3331116"/>
            <a:ext cx="678296" cy="678296"/>
            <a:chOff x="0" y="0"/>
            <a:chExt cx="841248" cy="8412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192170" y="4613181"/>
            <a:ext cx="678296" cy="678296"/>
            <a:chOff x="0" y="0"/>
            <a:chExt cx="841248" cy="8412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192170" y="6055324"/>
            <a:ext cx="678296" cy="678296"/>
            <a:chOff x="0" y="0"/>
            <a:chExt cx="841248" cy="8412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3192170" y="7540247"/>
            <a:ext cx="678296" cy="678296"/>
            <a:chOff x="0" y="0"/>
            <a:chExt cx="841248" cy="8412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192170" y="4613181"/>
            <a:ext cx="678296" cy="678296"/>
            <a:chOff x="0" y="0"/>
            <a:chExt cx="841248" cy="84124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192170" y="6055324"/>
            <a:ext cx="678296" cy="678296"/>
            <a:chOff x="0" y="0"/>
            <a:chExt cx="841248" cy="8412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4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192170" y="7540247"/>
            <a:ext cx="678296" cy="678296"/>
            <a:chOff x="0" y="0"/>
            <a:chExt cx="841248" cy="8412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841248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5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2516360" y="440148"/>
            <a:ext cx="6130826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ประโยชน์ที่คาดว่าจะได้รับ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7538894" y="9666412"/>
            <a:ext cx="506208" cy="506208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5" t="0" r="-725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378352" y="1534821"/>
            <a:ext cx="184264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โครงสร้างหลัก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753888" y="4210508"/>
            <a:ext cx="3624464" cy="2842827"/>
            <a:chOff x="0" y="0"/>
            <a:chExt cx="2327040" cy="1825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2822" y="0"/>
              <a:ext cx="2323945" cy="1825244"/>
            </a:xfrm>
            <a:custGeom>
              <a:avLst/>
              <a:gdLst/>
              <a:ahLst/>
              <a:cxnLst/>
              <a:rect r="r" b="b" t="t" l="l"/>
              <a:pathLst>
                <a:path h="1825244" w="2323945">
                  <a:moveTo>
                    <a:pt x="1826867" y="0"/>
                  </a:moveTo>
                  <a:cubicBezTo>
                    <a:pt x="1816707" y="0"/>
                    <a:pt x="1699994" y="0"/>
                    <a:pt x="1689834" y="0"/>
                  </a:cubicBezTo>
                  <a:cubicBezTo>
                    <a:pt x="1425928" y="0"/>
                    <a:pt x="1425928" y="0"/>
                    <a:pt x="1425928" y="0"/>
                  </a:cubicBezTo>
                  <a:cubicBezTo>
                    <a:pt x="1151862" y="0"/>
                    <a:pt x="1151862" y="0"/>
                    <a:pt x="1151862" y="0"/>
                  </a:cubicBezTo>
                  <a:cubicBezTo>
                    <a:pt x="1151862" y="0"/>
                    <a:pt x="730603" y="0"/>
                    <a:pt x="646783" y="0"/>
                  </a:cubicBezTo>
                  <a:cubicBezTo>
                    <a:pt x="649323" y="0"/>
                    <a:pt x="649323" y="0"/>
                    <a:pt x="649323" y="0"/>
                  </a:cubicBezTo>
                  <a:cubicBezTo>
                    <a:pt x="649323" y="0"/>
                    <a:pt x="646783" y="0"/>
                    <a:pt x="646783" y="0"/>
                  </a:cubicBezTo>
                  <a:cubicBezTo>
                    <a:pt x="639163" y="0"/>
                    <a:pt x="634083" y="0"/>
                    <a:pt x="631543" y="0"/>
                  </a:cubicBezTo>
                  <a:cubicBezTo>
                    <a:pt x="111351" y="0"/>
                    <a:pt x="111351" y="0"/>
                    <a:pt x="111351" y="0"/>
                  </a:cubicBezTo>
                  <a:cubicBezTo>
                    <a:pt x="70711" y="0"/>
                    <a:pt x="2258" y="0"/>
                    <a:pt x="2258" y="0"/>
                  </a:cubicBezTo>
                  <a:cubicBezTo>
                    <a:pt x="2258" y="677799"/>
                    <a:pt x="2258" y="677799"/>
                    <a:pt x="2258" y="677799"/>
                  </a:cubicBezTo>
                  <a:cubicBezTo>
                    <a:pt x="2258" y="682879"/>
                    <a:pt x="2258" y="687959"/>
                    <a:pt x="2258" y="687959"/>
                  </a:cubicBezTo>
                  <a:cubicBezTo>
                    <a:pt x="-2822" y="764159"/>
                    <a:pt x="2258" y="1195705"/>
                    <a:pt x="2258" y="1195705"/>
                  </a:cubicBezTo>
                  <a:cubicBezTo>
                    <a:pt x="2258" y="1825244"/>
                    <a:pt x="2258" y="1825244"/>
                    <a:pt x="2258" y="1825244"/>
                  </a:cubicBezTo>
                  <a:cubicBezTo>
                    <a:pt x="403197" y="1825244"/>
                    <a:pt x="403197" y="1825244"/>
                    <a:pt x="403197" y="1825244"/>
                  </a:cubicBezTo>
                  <a:cubicBezTo>
                    <a:pt x="629003" y="1825244"/>
                    <a:pt x="629003" y="1825244"/>
                    <a:pt x="629003" y="1825244"/>
                  </a:cubicBezTo>
                  <a:cubicBezTo>
                    <a:pt x="641703" y="1825244"/>
                    <a:pt x="641703" y="1825244"/>
                    <a:pt x="641703" y="1825244"/>
                  </a:cubicBezTo>
                  <a:cubicBezTo>
                    <a:pt x="644243" y="1825244"/>
                    <a:pt x="644243" y="1825244"/>
                    <a:pt x="646783" y="1825244"/>
                  </a:cubicBezTo>
                  <a:cubicBezTo>
                    <a:pt x="720316" y="1820164"/>
                    <a:pt x="755876" y="1764284"/>
                    <a:pt x="722856" y="1700911"/>
                  </a:cubicBezTo>
                  <a:cubicBezTo>
                    <a:pt x="722856" y="1700911"/>
                    <a:pt x="666976" y="1586738"/>
                    <a:pt x="666976" y="1528318"/>
                  </a:cubicBezTo>
                  <a:cubicBezTo>
                    <a:pt x="666976" y="1419098"/>
                    <a:pt x="768449" y="1327785"/>
                    <a:pt x="890242" y="1327785"/>
                  </a:cubicBezTo>
                  <a:cubicBezTo>
                    <a:pt x="1014575" y="1327785"/>
                    <a:pt x="1113508" y="1419225"/>
                    <a:pt x="1113508" y="1528318"/>
                  </a:cubicBezTo>
                  <a:cubicBezTo>
                    <a:pt x="1113508" y="1586738"/>
                    <a:pt x="1057628" y="1700911"/>
                    <a:pt x="1057628" y="1700911"/>
                  </a:cubicBezTo>
                  <a:cubicBezTo>
                    <a:pt x="1027148" y="1764411"/>
                    <a:pt x="1060168" y="1820164"/>
                    <a:pt x="1136241" y="1825244"/>
                  </a:cubicBezTo>
                  <a:cubicBezTo>
                    <a:pt x="1138781" y="1825244"/>
                    <a:pt x="1138781" y="1825244"/>
                    <a:pt x="1138781" y="1825244"/>
                  </a:cubicBezTo>
                  <a:cubicBezTo>
                    <a:pt x="1136241" y="1825244"/>
                    <a:pt x="1133701" y="1825244"/>
                    <a:pt x="1131161" y="1825244"/>
                  </a:cubicBezTo>
                  <a:cubicBezTo>
                    <a:pt x="1133701" y="1825244"/>
                    <a:pt x="1133701" y="1825244"/>
                    <a:pt x="1136241" y="1825244"/>
                  </a:cubicBezTo>
                  <a:cubicBezTo>
                    <a:pt x="1133701" y="1825244"/>
                    <a:pt x="1131161" y="1825244"/>
                    <a:pt x="1131161" y="1825244"/>
                  </a:cubicBezTo>
                  <a:cubicBezTo>
                    <a:pt x="1133701" y="1825244"/>
                    <a:pt x="1138781" y="1825244"/>
                    <a:pt x="1148941" y="1825244"/>
                  </a:cubicBezTo>
                  <a:cubicBezTo>
                    <a:pt x="1707233" y="1825244"/>
                    <a:pt x="1707233" y="1825244"/>
                    <a:pt x="1707233" y="1825244"/>
                  </a:cubicBezTo>
                  <a:cubicBezTo>
                    <a:pt x="1826486" y="1825244"/>
                    <a:pt x="1826486" y="1825244"/>
                    <a:pt x="1826486" y="1825244"/>
                  </a:cubicBezTo>
                  <a:cubicBezTo>
                    <a:pt x="1826486" y="1195705"/>
                    <a:pt x="1826486" y="1195705"/>
                    <a:pt x="1826486" y="1195705"/>
                  </a:cubicBezTo>
                  <a:cubicBezTo>
                    <a:pt x="1826486" y="1183005"/>
                    <a:pt x="1826486" y="1183005"/>
                    <a:pt x="1826486" y="1183005"/>
                  </a:cubicBezTo>
                  <a:cubicBezTo>
                    <a:pt x="1831566" y="1124585"/>
                    <a:pt x="1862046" y="1091565"/>
                    <a:pt x="1907639" y="1091565"/>
                  </a:cubicBezTo>
                  <a:cubicBezTo>
                    <a:pt x="1920339" y="1091565"/>
                    <a:pt x="1935579" y="1094105"/>
                    <a:pt x="1953359" y="1101725"/>
                  </a:cubicBezTo>
                  <a:cubicBezTo>
                    <a:pt x="1953359" y="1101725"/>
                    <a:pt x="2067532" y="1160145"/>
                    <a:pt x="2125952" y="1160145"/>
                  </a:cubicBezTo>
                  <a:cubicBezTo>
                    <a:pt x="2235045" y="1160145"/>
                    <a:pt x="2323945" y="1058545"/>
                    <a:pt x="2323945" y="934212"/>
                  </a:cubicBezTo>
                  <a:cubicBezTo>
                    <a:pt x="2323945" y="812419"/>
                    <a:pt x="2235172" y="710819"/>
                    <a:pt x="2125952" y="710819"/>
                  </a:cubicBezTo>
                  <a:cubicBezTo>
                    <a:pt x="2067532" y="710819"/>
                    <a:pt x="1953359" y="766699"/>
                    <a:pt x="1953359" y="766699"/>
                  </a:cubicBezTo>
                  <a:cubicBezTo>
                    <a:pt x="1935579" y="776859"/>
                    <a:pt x="1920339" y="779399"/>
                    <a:pt x="1907639" y="779399"/>
                  </a:cubicBezTo>
                  <a:cubicBezTo>
                    <a:pt x="1864459" y="779399"/>
                    <a:pt x="1834106" y="746379"/>
                    <a:pt x="1826486" y="693039"/>
                  </a:cubicBezTo>
                  <a:cubicBezTo>
                    <a:pt x="1829026" y="693039"/>
                    <a:pt x="1829026" y="693039"/>
                    <a:pt x="1829026" y="693039"/>
                  </a:cubicBezTo>
                  <a:cubicBezTo>
                    <a:pt x="1826486" y="693039"/>
                    <a:pt x="1826486" y="693039"/>
                    <a:pt x="1826486" y="693039"/>
                  </a:cubicBezTo>
                  <a:cubicBezTo>
                    <a:pt x="1826486" y="690499"/>
                    <a:pt x="1826486" y="690499"/>
                    <a:pt x="1826486" y="687959"/>
                  </a:cubicBezTo>
                  <a:cubicBezTo>
                    <a:pt x="1826486" y="690499"/>
                    <a:pt x="1826486" y="690499"/>
                    <a:pt x="1826486" y="693039"/>
                  </a:cubicBezTo>
                  <a:cubicBezTo>
                    <a:pt x="1826486" y="690499"/>
                    <a:pt x="1826486" y="682879"/>
                    <a:pt x="1826486" y="677799"/>
                  </a:cubicBezTo>
                  <a:cubicBezTo>
                    <a:pt x="1826486" y="0"/>
                    <a:pt x="1826486" y="0"/>
                    <a:pt x="1826486" y="0"/>
                  </a:cubicBezTo>
                </a:path>
              </a:pathLst>
            </a:custGeom>
            <a:solidFill>
              <a:srgbClr val="FF751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747426" y="4210508"/>
            <a:ext cx="3624464" cy="2842827"/>
            <a:chOff x="0" y="0"/>
            <a:chExt cx="2327040" cy="1825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23945" cy="1825244"/>
            </a:xfrm>
            <a:custGeom>
              <a:avLst/>
              <a:gdLst/>
              <a:ahLst/>
              <a:cxnLst/>
              <a:rect r="r" b="b" t="t" l="l"/>
              <a:pathLst>
                <a:path h="1825244" w="2323945">
                  <a:moveTo>
                    <a:pt x="497332" y="0"/>
                  </a:moveTo>
                  <a:cubicBezTo>
                    <a:pt x="497332" y="677799"/>
                    <a:pt x="497332" y="677799"/>
                    <a:pt x="497332" y="677799"/>
                  </a:cubicBezTo>
                  <a:cubicBezTo>
                    <a:pt x="497332" y="685419"/>
                    <a:pt x="497332" y="690499"/>
                    <a:pt x="497332" y="693039"/>
                  </a:cubicBezTo>
                  <a:cubicBezTo>
                    <a:pt x="497332" y="695579"/>
                    <a:pt x="497332" y="695579"/>
                    <a:pt x="497332" y="695579"/>
                  </a:cubicBezTo>
                  <a:cubicBezTo>
                    <a:pt x="497332" y="693039"/>
                    <a:pt x="497332" y="693039"/>
                    <a:pt x="497332" y="693039"/>
                  </a:cubicBezTo>
                  <a:cubicBezTo>
                    <a:pt x="497332" y="690499"/>
                    <a:pt x="497332" y="690499"/>
                    <a:pt x="497332" y="687959"/>
                  </a:cubicBezTo>
                  <a:cubicBezTo>
                    <a:pt x="497332" y="690499"/>
                    <a:pt x="497332" y="690499"/>
                    <a:pt x="497332" y="693039"/>
                  </a:cubicBezTo>
                  <a:cubicBezTo>
                    <a:pt x="489712" y="746379"/>
                    <a:pt x="459232" y="779399"/>
                    <a:pt x="416179" y="779399"/>
                  </a:cubicBezTo>
                  <a:cubicBezTo>
                    <a:pt x="403479" y="779399"/>
                    <a:pt x="388239" y="776859"/>
                    <a:pt x="370459" y="769239"/>
                  </a:cubicBezTo>
                  <a:cubicBezTo>
                    <a:pt x="370459" y="769239"/>
                    <a:pt x="256286" y="710819"/>
                    <a:pt x="197866" y="710819"/>
                  </a:cubicBezTo>
                  <a:cubicBezTo>
                    <a:pt x="88773" y="710819"/>
                    <a:pt x="0" y="812292"/>
                    <a:pt x="0" y="936752"/>
                  </a:cubicBezTo>
                  <a:cubicBezTo>
                    <a:pt x="0" y="1058545"/>
                    <a:pt x="88773" y="1160145"/>
                    <a:pt x="197993" y="1160145"/>
                  </a:cubicBezTo>
                  <a:cubicBezTo>
                    <a:pt x="256413" y="1160145"/>
                    <a:pt x="370586" y="1104265"/>
                    <a:pt x="370586" y="1104265"/>
                  </a:cubicBezTo>
                  <a:cubicBezTo>
                    <a:pt x="388366" y="1094105"/>
                    <a:pt x="403606" y="1091565"/>
                    <a:pt x="418846" y="1091565"/>
                  </a:cubicBezTo>
                  <a:cubicBezTo>
                    <a:pt x="462026" y="1091565"/>
                    <a:pt x="492379" y="1124585"/>
                    <a:pt x="497459" y="1183005"/>
                  </a:cubicBezTo>
                  <a:cubicBezTo>
                    <a:pt x="497459" y="1195705"/>
                    <a:pt x="497459" y="1195705"/>
                    <a:pt x="497459" y="1195705"/>
                  </a:cubicBezTo>
                  <a:cubicBezTo>
                    <a:pt x="497459" y="1825244"/>
                    <a:pt x="497459" y="1825244"/>
                    <a:pt x="497459" y="1825244"/>
                  </a:cubicBezTo>
                  <a:cubicBezTo>
                    <a:pt x="616712" y="1825244"/>
                    <a:pt x="616712" y="1825244"/>
                    <a:pt x="616712" y="1825244"/>
                  </a:cubicBezTo>
                  <a:cubicBezTo>
                    <a:pt x="1175004" y="1825244"/>
                    <a:pt x="1175004" y="1825244"/>
                    <a:pt x="1175004" y="1825244"/>
                  </a:cubicBezTo>
                  <a:cubicBezTo>
                    <a:pt x="1185164" y="1825244"/>
                    <a:pt x="1190244" y="1825244"/>
                    <a:pt x="1192784" y="1825244"/>
                  </a:cubicBezTo>
                  <a:cubicBezTo>
                    <a:pt x="1192784" y="1825244"/>
                    <a:pt x="1190244" y="1825244"/>
                    <a:pt x="1187704" y="1825244"/>
                  </a:cubicBezTo>
                  <a:cubicBezTo>
                    <a:pt x="1190244" y="1825244"/>
                    <a:pt x="1190244" y="1825244"/>
                    <a:pt x="1192784" y="1825244"/>
                  </a:cubicBezTo>
                  <a:cubicBezTo>
                    <a:pt x="1190244" y="1825244"/>
                    <a:pt x="1187704" y="1825244"/>
                    <a:pt x="1185164" y="1825244"/>
                  </a:cubicBezTo>
                  <a:cubicBezTo>
                    <a:pt x="1187704" y="1825244"/>
                    <a:pt x="1187704" y="1825244"/>
                    <a:pt x="1187704" y="1825244"/>
                  </a:cubicBezTo>
                  <a:cubicBezTo>
                    <a:pt x="1263777" y="1820164"/>
                    <a:pt x="1296797" y="1764284"/>
                    <a:pt x="1266317" y="1700911"/>
                  </a:cubicBezTo>
                  <a:cubicBezTo>
                    <a:pt x="1266317" y="1700911"/>
                    <a:pt x="1210437" y="1586738"/>
                    <a:pt x="1210437" y="1528318"/>
                  </a:cubicBezTo>
                  <a:cubicBezTo>
                    <a:pt x="1210437" y="1419098"/>
                    <a:pt x="1309370" y="1330325"/>
                    <a:pt x="1433703" y="1330325"/>
                  </a:cubicBezTo>
                  <a:cubicBezTo>
                    <a:pt x="1555496" y="1330325"/>
                    <a:pt x="1656969" y="1419225"/>
                    <a:pt x="1656969" y="1528318"/>
                  </a:cubicBezTo>
                  <a:cubicBezTo>
                    <a:pt x="1656969" y="1586738"/>
                    <a:pt x="1601089" y="1700911"/>
                    <a:pt x="1601089" y="1700911"/>
                  </a:cubicBezTo>
                  <a:cubicBezTo>
                    <a:pt x="1568069" y="1766951"/>
                    <a:pt x="1603629" y="1820164"/>
                    <a:pt x="1677162" y="1825244"/>
                  </a:cubicBezTo>
                  <a:cubicBezTo>
                    <a:pt x="1679702" y="1825244"/>
                    <a:pt x="1679702" y="1825244"/>
                    <a:pt x="1682242" y="1825244"/>
                  </a:cubicBezTo>
                  <a:cubicBezTo>
                    <a:pt x="1694942" y="1825244"/>
                    <a:pt x="1694942" y="1825244"/>
                    <a:pt x="1694942" y="1825244"/>
                  </a:cubicBezTo>
                  <a:cubicBezTo>
                    <a:pt x="1920748" y="1825244"/>
                    <a:pt x="1920748" y="1825244"/>
                    <a:pt x="1920748" y="1825244"/>
                  </a:cubicBezTo>
                  <a:cubicBezTo>
                    <a:pt x="2321687" y="1825244"/>
                    <a:pt x="2321687" y="1825244"/>
                    <a:pt x="2321687" y="1825244"/>
                  </a:cubicBezTo>
                  <a:cubicBezTo>
                    <a:pt x="2321687" y="1195705"/>
                    <a:pt x="2321687" y="1195705"/>
                    <a:pt x="2321687" y="1195705"/>
                  </a:cubicBezTo>
                  <a:cubicBezTo>
                    <a:pt x="2321687" y="1195705"/>
                    <a:pt x="2326767" y="764159"/>
                    <a:pt x="2321687" y="687959"/>
                  </a:cubicBezTo>
                  <a:cubicBezTo>
                    <a:pt x="2321687" y="687959"/>
                    <a:pt x="2321687" y="685419"/>
                    <a:pt x="2321687" y="677799"/>
                  </a:cubicBezTo>
                  <a:cubicBezTo>
                    <a:pt x="2321687" y="0"/>
                    <a:pt x="2321687" y="0"/>
                    <a:pt x="2321687" y="0"/>
                  </a:cubicBezTo>
                  <a:cubicBezTo>
                    <a:pt x="2321687" y="0"/>
                    <a:pt x="2253107" y="0"/>
                    <a:pt x="2212594" y="0"/>
                  </a:cubicBezTo>
                  <a:cubicBezTo>
                    <a:pt x="1692402" y="0"/>
                    <a:pt x="1692402" y="0"/>
                    <a:pt x="1692402" y="0"/>
                  </a:cubicBezTo>
                  <a:cubicBezTo>
                    <a:pt x="1689862" y="0"/>
                    <a:pt x="1684782" y="0"/>
                    <a:pt x="1677162" y="0"/>
                  </a:cubicBezTo>
                  <a:cubicBezTo>
                    <a:pt x="1677162" y="0"/>
                    <a:pt x="1674622" y="0"/>
                    <a:pt x="1674622" y="0"/>
                  </a:cubicBezTo>
                  <a:cubicBezTo>
                    <a:pt x="1677162" y="0"/>
                    <a:pt x="1677162" y="0"/>
                    <a:pt x="1677162" y="0"/>
                  </a:cubicBezTo>
                  <a:cubicBezTo>
                    <a:pt x="1593469" y="0"/>
                    <a:pt x="1172210" y="0"/>
                    <a:pt x="1172210" y="0"/>
                  </a:cubicBezTo>
                  <a:cubicBezTo>
                    <a:pt x="898271" y="0"/>
                    <a:pt x="898271" y="0"/>
                    <a:pt x="898271" y="0"/>
                  </a:cubicBezTo>
                  <a:cubicBezTo>
                    <a:pt x="634365" y="0"/>
                    <a:pt x="634365" y="0"/>
                    <a:pt x="634365" y="0"/>
                  </a:cubicBezTo>
                  <a:cubicBezTo>
                    <a:pt x="624205" y="0"/>
                    <a:pt x="507492" y="0"/>
                    <a:pt x="497332" y="0"/>
                  </a:cubicBezTo>
                </a:path>
              </a:pathLst>
            </a:custGeom>
            <a:solidFill>
              <a:srgbClr val="FFBD59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071907" y="4210508"/>
            <a:ext cx="2986370" cy="2842827"/>
            <a:chOff x="0" y="0"/>
            <a:chExt cx="1917360" cy="1825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17446" cy="1825244"/>
            </a:xfrm>
            <a:custGeom>
              <a:avLst/>
              <a:gdLst/>
              <a:ahLst/>
              <a:cxnLst/>
              <a:rect r="r" b="b" t="t" l="l"/>
              <a:pathLst>
                <a:path h="1825244" w="1917446">
                  <a:moveTo>
                    <a:pt x="0" y="0"/>
                  </a:moveTo>
                  <a:cubicBezTo>
                    <a:pt x="0" y="0"/>
                    <a:pt x="73660" y="0"/>
                    <a:pt x="116840" y="0"/>
                  </a:cubicBezTo>
                  <a:cubicBezTo>
                    <a:pt x="116840" y="0"/>
                    <a:pt x="116840" y="0"/>
                    <a:pt x="370840" y="0"/>
                  </a:cubicBezTo>
                  <a:cubicBezTo>
                    <a:pt x="370840" y="0"/>
                    <a:pt x="370840" y="0"/>
                    <a:pt x="370840" y="1270"/>
                  </a:cubicBezTo>
                  <a:lnTo>
                    <a:pt x="370840" y="2286"/>
                  </a:lnTo>
                  <a:lnTo>
                    <a:pt x="373380" y="2286"/>
                  </a:lnTo>
                  <a:lnTo>
                    <a:pt x="373380" y="0"/>
                  </a:lnTo>
                  <a:cubicBezTo>
                    <a:pt x="373380" y="0"/>
                    <a:pt x="373380" y="0"/>
                    <a:pt x="662940" y="0"/>
                  </a:cubicBezTo>
                  <a:cubicBezTo>
                    <a:pt x="662940" y="0"/>
                    <a:pt x="668020" y="0"/>
                    <a:pt x="675640" y="0"/>
                  </a:cubicBezTo>
                  <a:lnTo>
                    <a:pt x="678180" y="0"/>
                  </a:lnTo>
                  <a:cubicBezTo>
                    <a:pt x="680720" y="0"/>
                    <a:pt x="680720" y="0"/>
                    <a:pt x="680720" y="0"/>
                  </a:cubicBezTo>
                  <a:lnTo>
                    <a:pt x="726440" y="0"/>
                  </a:lnTo>
                  <a:cubicBezTo>
                    <a:pt x="870458" y="0"/>
                    <a:pt x="1208786" y="0"/>
                    <a:pt x="1208786" y="0"/>
                  </a:cubicBezTo>
                  <a:cubicBezTo>
                    <a:pt x="1208786" y="0"/>
                    <a:pt x="1208786" y="0"/>
                    <a:pt x="1495806" y="0"/>
                  </a:cubicBezTo>
                  <a:cubicBezTo>
                    <a:pt x="1495806" y="0"/>
                    <a:pt x="1495806" y="0"/>
                    <a:pt x="1772666" y="0"/>
                  </a:cubicBezTo>
                  <a:cubicBezTo>
                    <a:pt x="1782826" y="0"/>
                    <a:pt x="1907286" y="0"/>
                    <a:pt x="1917446" y="0"/>
                  </a:cubicBezTo>
                  <a:cubicBezTo>
                    <a:pt x="1917446" y="0"/>
                    <a:pt x="1917446" y="0"/>
                    <a:pt x="1917446" y="677799"/>
                  </a:cubicBezTo>
                  <a:cubicBezTo>
                    <a:pt x="1917446" y="682879"/>
                    <a:pt x="1914906" y="690499"/>
                    <a:pt x="1914906" y="693039"/>
                  </a:cubicBezTo>
                  <a:cubicBezTo>
                    <a:pt x="1909826" y="746379"/>
                    <a:pt x="1876806" y="779399"/>
                    <a:pt x="1833626" y="779399"/>
                  </a:cubicBezTo>
                  <a:cubicBezTo>
                    <a:pt x="1818386" y="779399"/>
                    <a:pt x="1800606" y="776859"/>
                    <a:pt x="1785366" y="766699"/>
                  </a:cubicBezTo>
                  <a:cubicBezTo>
                    <a:pt x="1785366" y="766699"/>
                    <a:pt x="1663446" y="710819"/>
                    <a:pt x="1605026" y="710819"/>
                  </a:cubicBezTo>
                  <a:cubicBezTo>
                    <a:pt x="1488186" y="710819"/>
                    <a:pt x="1394206" y="812419"/>
                    <a:pt x="1394206" y="934212"/>
                  </a:cubicBezTo>
                  <a:cubicBezTo>
                    <a:pt x="1394206" y="1058545"/>
                    <a:pt x="1488186" y="1160145"/>
                    <a:pt x="1605026" y="1160145"/>
                  </a:cubicBezTo>
                  <a:cubicBezTo>
                    <a:pt x="1663446" y="1160145"/>
                    <a:pt x="1785366" y="1101725"/>
                    <a:pt x="1785366" y="1101725"/>
                  </a:cubicBezTo>
                  <a:cubicBezTo>
                    <a:pt x="1800606" y="1094105"/>
                    <a:pt x="1818386" y="1091565"/>
                    <a:pt x="1833626" y="1091565"/>
                  </a:cubicBezTo>
                  <a:cubicBezTo>
                    <a:pt x="1879346" y="1091565"/>
                    <a:pt x="1912366" y="1124585"/>
                    <a:pt x="1917446" y="1183005"/>
                  </a:cubicBezTo>
                  <a:cubicBezTo>
                    <a:pt x="1917446" y="1183005"/>
                    <a:pt x="1917446" y="1183005"/>
                    <a:pt x="1917446" y="1195705"/>
                  </a:cubicBezTo>
                  <a:cubicBezTo>
                    <a:pt x="1917446" y="1195705"/>
                    <a:pt x="1917446" y="1195705"/>
                    <a:pt x="1917446" y="1825244"/>
                  </a:cubicBezTo>
                  <a:cubicBezTo>
                    <a:pt x="1917446" y="1825244"/>
                    <a:pt x="1917446" y="1825244"/>
                    <a:pt x="1790446" y="1825244"/>
                  </a:cubicBezTo>
                  <a:cubicBezTo>
                    <a:pt x="1790446" y="1825244"/>
                    <a:pt x="1790446" y="1825244"/>
                    <a:pt x="1203833" y="1825244"/>
                  </a:cubicBezTo>
                  <a:lnTo>
                    <a:pt x="1193673" y="1825244"/>
                  </a:lnTo>
                  <a:cubicBezTo>
                    <a:pt x="1191133" y="1825244"/>
                    <a:pt x="1191133" y="1825244"/>
                    <a:pt x="1191133" y="1825244"/>
                  </a:cubicBezTo>
                  <a:cubicBezTo>
                    <a:pt x="1112393" y="1820164"/>
                    <a:pt x="1076833" y="1764284"/>
                    <a:pt x="1109853" y="1700911"/>
                  </a:cubicBezTo>
                  <a:cubicBezTo>
                    <a:pt x="1109853" y="1700911"/>
                    <a:pt x="1168273" y="1586738"/>
                    <a:pt x="1168273" y="1528318"/>
                  </a:cubicBezTo>
                  <a:cubicBezTo>
                    <a:pt x="1168273" y="1419225"/>
                    <a:pt x="1064133" y="1330325"/>
                    <a:pt x="934593" y="1330325"/>
                  </a:cubicBezTo>
                  <a:cubicBezTo>
                    <a:pt x="805053" y="1330325"/>
                    <a:pt x="698373" y="1419225"/>
                    <a:pt x="698373" y="1528318"/>
                  </a:cubicBezTo>
                  <a:cubicBezTo>
                    <a:pt x="698373" y="1586738"/>
                    <a:pt x="759333" y="1700911"/>
                    <a:pt x="759333" y="1700911"/>
                  </a:cubicBezTo>
                  <a:cubicBezTo>
                    <a:pt x="792353" y="1766951"/>
                    <a:pt x="754253" y="1820164"/>
                    <a:pt x="678053" y="1825244"/>
                  </a:cubicBezTo>
                  <a:cubicBezTo>
                    <a:pt x="675513" y="1825244"/>
                    <a:pt x="672973" y="1825244"/>
                    <a:pt x="672973" y="1825244"/>
                  </a:cubicBezTo>
                  <a:cubicBezTo>
                    <a:pt x="672973" y="1825244"/>
                    <a:pt x="672973" y="1825244"/>
                    <a:pt x="660273" y="1825244"/>
                  </a:cubicBezTo>
                  <a:cubicBezTo>
                    <a:pt x="660273" y="1825244"/>
                    <a:pt x="660273" y="1825244"/>
                    <a:pt x="418973" y="1825244"/>
                  </a:cubicBezTo>
                  <a:cubicBezTo>
                    <a:pt x="418973" y="1825244"/>
                    <a:pt x="418973" y="1825244"/>
                    <a:pt x="0" y="1825244"/>
                  </a:cubicBezTo>
                  <a:cubicBezTo>
                    <a:pt x="0" y="1825244"/>
                    <a:pt x="0" y="1825244"/>
                    <a:pt x="0" y="1195705"/>
                  </a:cubicBezTo>
                  <a:cubicBezTo>
                    <a:pt x="0" y="1195705"/>
                    <a:pt x="0" y="1195705"/>
                    <a:pt x="0" y="1183005"/>
                  </a:cubicBezTo>
                  <a:cubicBezTo>
                    <a:pt x="5080" y="1124585"/>
                    <a:pt x="38100" y="1091565"/>
                    <a:pt x="83820" y="1091565"/>
                  </a:cubicBezTo>
                  <a:cubicBezTo>
                    <a:pt x="99060" y="1091565"/>
                    <a:pt x="114300" y="1094105"/>
                    <a:pt x="132080" y="1104265"/>
                  </a:cubicBezTo>
                  <a:cubicBezTo>
                    <a:pt x="132080" y="1104265"/>
                    <a:pt x="251460" y="1160145"/>
                    <a:pt x="312420" y="1160145"/>
                  </a:cubicBezTo>
                  <a:cubicBezTo>
                    <a:pt x="429260" y="1160145"/>
                    <a:pt x="520700" y="1058545"/>
                    <a:pt x="520700" y="936752"/>
                  </a:cubicBezTo>
                  <a:cubicBezTo>
                    <a:pt x="520700" y="812419"/>
                    <a:pt x="429260" y="713359"/>
                    <a:pt x="312420" y="713359"/>
                  </a:cubicBezTo>
                  <a:cubicBezTo>
                    <a:pt x="251460" y="713359"/>
                    <a:pt x="132080" y="769239"/>
                    <a:pt x="132080" y="769239"/>
                  </a:cubicBezTo>
                  <a:cubicBezTo>
                    <a:pt x="114300" y="776859"/>
                    <a:pt x="99060" y="779399"/>
                    <a:pt x="83820" y="779399"/>
                  </a:cubicBezTo>
                  <a:cubicBezTo>
                    <a:pt x="38100" y="779399"/>
                    <a:pt x="5080" y="746379"/>
                    <a:pt x="0" y="693039"/>
                  </a:cubicBezTo>
                  <a:cubicBezTo>
                    <a:pt x="0" y="690499"/>
                    <a:pt x="0" y="690499"/>
                    <a:pt x="0" y="687959"/>
                  </a:cubicBezTo>
                  <a:cubicBezTo>
                    <a:pt x="0" y="687959"/>
                    <a:pt x="0" y="685419"/>
                    <a:pt x="0" y="682879"/>
                  </a:cubicBezTo>
                  <a:cubicBezTo>
                    <a:pt x="0" y="680339"/>
                    <a:pt x="0" y="677799"/>
                    <a:pt x="0" y="677799"/>
                  </a:cubicBezTo>
                  <a:cubicBezTo>
                    <a:pt x="0" y="677799"/>
                    <a:pt x="0" y="677799"/>
                    <a:pt x="0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032701" y="3415163"/>
            <a:ext cx="235169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Client-Side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92557" y="3415163"/>
            <a:ext cx="254507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Server-Side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35703" y="3415163"/>
            <a:ext cx="465619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External Services &amp; AI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916005" y="1826286"/>
            <a:ext cx="7298174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MAIn ARCHITECTURE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25" t="0" r="-725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210114" y="4961426"/>
            <a:ext cx="2188478" cy="2931505"/>
            <a:chOff x="0" y="0"/>
            <a:chExt cx="2917970" cy="390867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917970" cy="3908674"/>
              <a:chOff x="0" y="0"/>
              <a:chExt cx="812800" cy="108876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1088760"/>
              </a:xfrm>
              <a:custGeom>
                <a:avLst/>
                <a:gdLst/>
                <a:ahLst/>
                <a:cxnLst/>
                <a:rect r="r" b="b" t="t" l="l"/>
                <a:pathLst>
                  <a:path h="1088760" w="812800">
                    <a:moveTo>
                      <a:pt x="155359" y="0"/>
                    </a:moveTo>
                    <a:lnTo>
                      <a:pt x="657441" y="0"/>
                    </a:lnTo>
                    <a:cubicBezTo>
                      <a:pt x="743244" y="0"/>
                      <a:pt x="812800" y="69556"/>
                      <a:pt x="812800" y="155359"/>
                    </a:cubicBezTo>
                    <a:lnTo>
                      <a:pt x="812800" y="933402"/>
                    </a:lnTo>
                    <a:cubicBezTo>
                      <a:pt x="812800" y="1019204"/>
                      <a:pt x="743244" y="1088760"/>
                      <a:pt x="657441" y="1088760"/>
                    </a:cubicBezTo>
                    <a:lnTo>
                      <a:pt x="155359" y="1088760"/>
                    </a:lnTo>
                    <a:cubicBezTo>
                      <a:pt x="69556" y="1088760"/>
                      <a:pt x="0" y="1019204"/>
                      <a:pt x="0" y="933402"/>
                    </a:cubicBezTo>
                    <a:lnTo>
                      <a:pt x="0" y="155359"/>
                    </a:lnTo>
                    <a:cubicBezTo>
                      <a:pt x="0" y="69556"/>
                      <a:pt x="69556" y="0"/>
                      <a:pt x="155359" y="0"/>
                    </a:cubicBezTo>
                    <a:close/>
                  </a:path>
                </a:pathLst>
              </a:custGeom>
              <a:solidFill>
                <a:srgbClr val="FFFFFF">
                  <a:alpha val="69804"/>
                </a:srgbClr>
              </a:solidFill>
              <a:ln w="76200" cap="rnd">
                <a:solidFill>
                  <a:srgbClr val="00D8FF">
                    <a:alpha val="69804"/>
                  </a:srgbClr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812800" cy="111733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3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573425" y="1160068"/>
              <a:ext cx="1514358" cy="1401470"/>
            </a:xfrm>
            <a:custGeom>
              <a:avLst/>
              <a:gdLst/>
              <a:ahLst/>
              <a:cxnLst/>
              <a:rect r="r" b="b" t="t" l="l"/>
              <a:pathLst>
                <a:path h="1401470" w="1514358">
                  <a:moveTo>
                    <a:pt x="0" y="0"/>
                  </a:moveTo>
                  <a:lnTo>
                    <a:pt x="1514358" y="0"/>
                  </a:lnTo>
                  <a:lnTo>
                    <a:pt x="1514358" y="1401470"/>
                  </a:lnTo>
                  <a:lnTo>
                    <a:pt x="0" y="1401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735825" y="2928074"/>
              <a:ext cx="1446320" cy="3830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2"/>
                </a:lnSpc>
                <a:spcBef>
                  <a:spcPct val="0"/>
                </a:spcBef>
              </a:pPr>
              <a:r>
                <a:rPr lang="en-US" sz="1701">
                  <a:solidFill>
                    <a:srgbClr val="000000"/>
                  </a:solidFill>
                  <a:latin typeface="Archive"/>
                  <a:ea typeface="Archive"/>
                  <a:cs typeface="Archive"/>
                  <a:sym typeface="Archive"/>
                </a:rPr>
                <a:t>Client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67931" y="432111"/>
              <a:ext cx="1452036" cy="320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r>
                <a:rPr lang="en-US" sz="1399">
                  <a:solidFill>
                    <a:srgbClr val="000000"/>
                  </a:solidFill>
                  <a:latin typeface="Archive"/>
                  <a:ea typeface="Archive"/>
                  <a:cs typeface="Archive"/>
                  <a:sym typeface="Archive"/>
                </a:rPr>
                <a:t>FRONTEND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95166" y="2355015"/>
            <a:ext cx="2169335" cy="2903376"/>
            <a:chOff x="0" y="0"/>
            <a:chExt cx="2892447" cy="387116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892447" cy="3871167"/>
              <a:chOff x="0" y="0"/>
              <a:chExt cx="812800" cy="108782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1087828"/>
              </a:xfrm>
              <a:custGeom>
                <a:avLst/>
                <a:gdLst/>
                <a:ahLst/>
                <a:cxnLst/>
                <a:rect r="r" b="b" t="t" l="l"/>
                <a:pathLst>
                  <a:path h="1087828" w="812800">
                    <a:moveTo>
                      <a:pt x="155359" y="0"/>
                    </a:moveTo>
                    <a:lnTo>
                      <a:pt x="657441" y="0"/>
                    </a:lnTo>
                    <a:cubicBezTo>
                      <a:pt x="743244" y="0"/>
                      <a:pt x="812800" y="69556"/>
                      <a:pt x="812800" y="155359"/>
                    </a:cubicBezTo>
                    <a:lnTo>
                      <a:pt x="812800" y="932469"/>
                    </a:lnTo>
                    <a:cubicBezTo>
                      <a:pt x="812800" y="1018272"/>
                      <a:pt x="743244" y="1087828"/>
                      <a:pt x="657441" y="1087828"/>
                    </a:cubicBezTo>
                    <a:lnTo>
                      <a:pt x="155359" y="1087828"/>
                    </a:lnTo>
                    <a:cubicBezTo>
                      <a:pt x="69556" y="1087828"/>
                      <a:pt x="0" y="1018272"/>
                      <a:pt x="0" y="932469"/>
                    </a:cubicBezTo>
                    <a:lnTo>
                      <a:pt x="0" y="155359"/>
                    </a:lnTo>
                    <a:cubicBezTo>
                      <a:pt x="0" y="69556"/>
                      <a:pt x="69556" y="0"/>
                      <a:pt x="155359" y="0"/>
                    </a:cubicBezTo>
                    <a:close/>
                  </a:path>
                </a:pathLst>
              </a:custGeom>
              <a:solidFill>
                <a:srgbClr val="FFFFFF">
                  <a:alpha val="69804"/>
                </a:srgbClr>
              </a:solidFill>
              <a:ln w="76200" cap="rnd">
                <a:solidFill>
                  <a:srgbClr val="FFDE59">
                    <a:alpha val="69804"/>
                  </a:srgbClr>
                </a:solidFill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812800" cy="11164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3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99078" y="3049843"/>
              <a:ext cx="1894292" cy="3713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61"/>
                </a:lnSpc>
                <a:spcBef>
                  <a:spcPct val="0"/>
                </a:spcBef>
              </a:pPr>
              <a:r>
                <a:rPr lang="en-US" sz="1687">
                  <a:solidFill>
                    <a:srgbClr val="000000"/>
                  </a:solidFill>
                  <a:latin typeface="Archive"/>
                  <a:ea typeface="Archive"/>
                  <a:cs typeface="Archive"/>
                  <a:sym typeface="Archive"/>
                </a:rPr>
                <a:t> Server API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46282" y="427998"/>
              <a:ext cx="1099942" cy="320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r>
                <a:rPr lang="en-US" sz="1399">
                  <a:solidFill>
                    <a:srgbClr val="000000"/>
                  </a:solidFill>
                  <a:latin typeface="Archive"/>
                  <a:ea typeface="Archive"/>
                  <a:cs typeface="Archive"/>
                  <a:sym typeface="Archive"/>
                </a:rPr>
                <a:t>BACKEND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144325" y="675289"/>
            <a:ext cx="1983803" cy="2917602"/>
            <a:chOff x="0" y="0"/>
            <a:chExt cx="2645070" cy="3890136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2645070" cy="3890136"/>
              <a:chOff x="0" y="0"/>
              <a:chExt cx="812800" cy="1195395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1195395"/>
              </a:xfrm>
              <a:custGeom>
                <a:avLst/>
                <a:gdLst/>
                <a:ahLst/>
                <a:cxnLst/>
                <a:rect r="r" b="b" t="t" l="l"/>
                <a:pathLst>
                  <a:path h="1195395" w="812800">
                    <a:moveTo>
                      <a:pt x="155359" y="0"/>
                    </a:moveTo>
                    <a:lnTo>
                      <a:pt x="657441" y="0"/>
                    </a:lnTo>
                    <a:cubicBezTo>
                      <a:pt x="743244" y="0"/>
                      <a:pt x="812800" y="69556"/>
                      <a:pt x="812800" y="155359"/>
                    </a:cubicBezTo>
                    <a:lnTo>
                      <a:pt x="812800" y="1040036"/>
                    </a:lnTo>
                    <a:cubicBezTo>
                      <a:pt x="812800" y="1125838"/>
                      <a:pt x="743244" y="1195395"/>
                      <a:pt x="657441" y="1195395"/>
                    </a:cubicBezTo>
                    <a:lnTo>
                      <a:pt x="155359" y="1195395"/>
                    </a:lnTo>
                    <a:cubicBezTo>
                      <a:pt x="69556" y="1195395"/>
                      <a:pt x="0" y="1125838"/>
                      <a:pt x="0" y="1040036"/>
                    </a:cubicBezTo>
                    <a:lnTo>
                      <a:pt x="0" y="155359"/>
                    </a:lnTo>
                    <a:cubicBezTo>
                      <a:pt x="0" y="69556"/>
                      <a:pt x="69556" y="0"/>
                      <a:pt x="155359" y="0"/>
                    </a:cubicBezTo>
                    <a:close/>
                  </a:path>
                </a:pathLst>
              </a:custGeom>
              <a:solidFill>
                <a:srgbClr val="FFFFFF">
                  <a:alpha val="69804"/>
                </a:srgbClr>
              </a:solidFill>
              <a:ln w="76200" cap="rnd">
                <a:solidFill>
                  <a:srgbClr val="00BF63">
                    <a:alpha val="69804"/>
                  </a:srgbClr>
                </a:soli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812800" cy="122397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3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684675" y="2758553"/>
              <a:ext cx="1361548" cy="3408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59"/>
                </a:lnSpc>
                <a:spcBef>
                  <a:spcPct val="0"/>
                </a:spcBef>
              </a:pPr>
              <a:r>
                <a:rPr lang="en-US" sz="1542">
                  <a:solidFill>
                    <a:srgbClr val="000000"/>
                  </a:solidFill>
                  <a:latin typeface="Archive"/>
                  <a:ea typeface="Archive"/>
                  <a:cs typeface="Archive"/>
                  <a:sym typeface="Archive"/>
                </a:rPr>
                <a:t>Supabase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284649" y="407185"/>
              <a:ext cx="1080800" cy="2675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22"/>
                </a:lnSpc>
                <a:spcBef>
                  <a:spcPct val="0"/>
                </a:spcBef>
              </a:pPr>
              <a:r>
                <a:rPr lang="en-US" b="true" sz="1230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DATABASE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525416" y="3764341"/>
            <a:ext cx="2353203" cy="5653275"/>
            <a:chOff x="0" y="0"/>
            <a:chExt cx="3137603" cy="75377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3137603" cy="7537700"/>
              <a:chOff x="0" y="0"/>
              <a:chExt cx="812800" cy="195265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1952651"/>
              </a:xfrm>
              <a:custGeom>
                <a:avLst/>
                <a:gdLst/>
                <a:ahLst/>
                <a:cxnLst/>
                <a:rect r="r" b="b" t="t" l="l"/>
                <a:pathLst>
                  <a:path h="1952651" w="812800">
                    <a:moveTo>
                      <a:pt x="155359" y="0"/>
                    </a:moveTo>
                    <a:lnTo>
                      <a:pt x="657441" y="0"/>
                    </a:lnTo>
                    <a:cubicBezTo>
                      <a:pt x="743244" y="0"/>
                      <a:pt x="812800" y="69556"/>
                      <a:pt x="812800" y="155359"/>
                    </a:cubicBezTo>
                    <a:lnTo>
                      <a:pt x="812800" y="1797292"/>
                    </a:lnTo>
                    <a:cubicBezTo>
                      <a:pt x="812800" y="1883094"/>
                      <a:pt x="743244" y="1952651"/>
                      <a:pt x="657441" y="1952651"/>
                    </a:cubicBezTo>
                    <a:lnTo>
                      <a:pt x="155359" y="1952651"/>
                    </a:lnTo>
                    <a:cubicBezTo>
                      <a:pt x="69556" y="1952651"/>
                      <a:pt x="0" y="1883094"/>
                      <a:pt x="0" y="1797292"/>
                    </a:cubicBezTo>
                    <a:lnTo>
                      <a:pt x="0" y="155359"/>
                    </a:lnTo>
                    <a:cubicBezTo>
                      <a:pt x="0" y="69556"/>
                      <a:pt x="69556" y="0"/>
                      <a:pt x="155359" y="0"/>
                    </a:cubicBezTo>
                    <a:close/>
                  </a:path>
                </a:pathLst>
              </a:custGeom>
              <a:solidFill>
                <a:srgbClr val="FFFFFF">
                  <a:alpha val="69804"/>
                </a:srgbClr>
              </a:solidFill>
              <a:ln w="76200" cap="rnd">
                <a:solidFill>
                  <a:srgbClr val="FF3131">
                    <a:alpha val="69804"/>
                  </a:srgbClr>
                </a:solidFill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812800" cy="19812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403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800616" y="4335122"/>
              <a:ext cx="1677895" cy="1677895"/>
            </a:xfrm>
            <a:custGeom>
              <a:avLst/>
              <a:gdLst/>
              <a:ahLst/>
              <a:cxnLst/>
              <a:rect r="r" b="b" t="t" l="l"/>
              <a:pathLst>
                <a:path h="1677895" w="1677895">
                  <a:moveTo>
                    <a:pt x="0" y="0"/>
                  </a:moveTo>
                  <a:lnTo>
                    <a:pt x="1677895" y="0"/>
                  </a:lnTo>
                  <a:lnTo>
                    <a:pt x="1677895" y="1677894"/>
                  </a:lnTo>
                  <a:lnTo>
                    <a:pt x="0" y="1677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 rot="0">
              <a:off x="383721" y="3496546"/>
              <a:ext cx="2370161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000000"/>
                  </a:solidFill>
                  <a:latin typeface="Archive"/>
                  <a:ea typeface="Archive"/>
                  <a:cs typeface="Archive"/>
                  <a:sym typeface="Archive"/>
                </a:rPr>
                <a:t>AI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792141" y="6351212"/>
              <a:ext cx="1553322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Archive"/>
                  <a:ea typeface="Archive"/>
                  <a:cs typeface="Archive"/>
                  <a:sym typeface="Archive"/>
                </a:rPr>
                <a:t>ImageKit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425868" y="377588"/>
              <a:ext cx="1244389" cy="6510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59"/>
                </a:lnSpc>
              </a:pPr>
              <a:r>
                <a:rPr lang="en-US" sz="1399">
                  <a:solidFill>
                    <a:srgbClr val="000000"/>
                  </a:solidFill>
                  <a:latin typeface="Archive"/>
                  <a:ea typeface="Archive"/>
                  <a:cs typeface="Archive"/>
                  <a:sym typeface="Archive"/>
                </a:rPr>
                <a:t>EXTERNAL </a:t>
              </a:r>
            </a:p>
            <a:p>
              <a:pPr algn="ctr">
                <a:lnSpc>
                  <a:spcPts val="1959"/>
                </a:lnSpc>
                <a:spcBef>
                  <a:spcPct val="0"/>
                </a:spcBef>
              </a:pPr>
              <a:r>
                <a:rPr lang="en-US" sz="1399">
                  <a:solidFill>
                    <a:srgbClr val="000000"/>
                  </a:solidFill>
                  <a:latin typeface="Archive"/>
                  <a:ea typeface="Archive"/>
                  <a:cs typeface="Archive"/>
                  <a:sym typeface="Archive"/>
                </a:rPr>
                <a:t>SERVICES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459714" y="5833918"/>
            <a:ext cx="2293231" cy="2784674"/>
            <a:chOff x="0" y="0"/>
            <a:chExt cx="812800" cy="9869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986984"/>
            </a:xfrm>
            <a:custGeom>
              <a:avLst/>
              <a:gdLst/>
              <a:ahLst/>
              <a:cxnLst/>
              <a:rect r="r" b="b" t="t" l="l"/>
              <a:pathLst>
                <a:path h="986984" w="812800">
                  <a:moveTo>
                    <a:pt x="172175" y="0"/>
                  </a:moveTo>
                  <a:lnTo>
                    <a:pt x="640625" y="0"/>
                  </a:lnTo>
                  <a:cubicBezTo>
                    <a:pt x="735714" y="0"/>
                    <a:pt x="812800" y="77086"/>
                    <a:pt x="812800" y="172175"/>
                  </a:cubicBezTo>
                  <a:lnTo>
                    <a:pt x="812800" y="814809"/>
                  </a:lnTo>
                  <a:cubicBezTo>
                    <a:pt x="812800" y="909899"/>
                    <a:pt x="735714" y="986984"/>
                    <a:pt x="640625" y="986984"/>
                  </a:cubicBezTo>
                  <a:lnTo>
                    <a:pt x="172175" y="986984"/>
                  </a:lnTo>
                  <a:cubicBezTo>
                    <a:pt x="77086" y="986984"/>
                    <a:pt x="0" y="909899"/>
                    <a:pt x="0" y="814809"/>
                  </a:cubicBezTo>
                  <a:lnTo>
                    <a:pt x="0" y="172175"/>
                  </a:lnTo>
                  <a:cubicBezTo>
                    <a:pt x="0" y="77086"/>
                    <a:pt x="77086" y="0"/>
                    <a:pt x="172175" y="0"/>
                  </a:cubicBezTo>
                  <a:close/>
                </a:path>
              </a:pathLst>
            </a:custGeom>
            <a:solidFill>
              <a:srgbClr val="FFFFFF"/>
            </a:solidFill>
            <a:ln w="76200" cap="rnd">
              <a:solidFill>
                <a:srgbClr val="5E17EB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812800" cy="1034609"/>
            </a:xfrm>
            <a:prstGeom prst="rect">
              <a:avLst/>
            </a:prstGeom>
          </p:spPr>
          <p:txBody>
            <a:bodyPr anchor="ctr" rtlCol="false" tIns="47713" lIns="47713" bIns="47713" rIns="47713"/>
            <a:lstStyle/>
            <a:p>
              <a:pPr algn="ctr">
                <a:lnSpc>
                  <a:spcPts val="2403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6438042" y="7524511"/>
            <a:ext cx="999844" cy="562412"/>
          </a:xfrm>
          <a:custGeom>
            <a:avLst/>
            <a:gdLst/>
            <a:ahLst/>
            <a:cxnLst/>
            <a:rect r="r" b="b" t="t" l="l"/>
            <a:pathLst>
              <a:path h="562412" w="999844">
                <a:moveTo>
                  <a:pt x="0" y="0"/>
                </a:moveTo>
                <a:lnTo>
                  <a:pt x="999844" y="0"/>
                </a:lnTo>
                <a:lnTo>
                  <a:pt x="999844" y="562413"/>
                </a:lnTo>
                <a:lnTo>
                  <a:pt x="0" y="56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5925812" y="6511263"/>
            <a:ext cx="905395" cy="1033127"/>
          </a:xfrm>
          <a:custGeom>
            <a:avLst/>
            <a:gdLst/>
            <a:ahLst/>
            <a:cxnLst/>
            <a:rect r="r" b="b" t="t" l="l"/>
            <a:pathLst>
              <a:path h="1033127" w="905395">
                <a:moveTo>
                  <a:pt x="0" y="0"/>
                </a:moveTo>
                <a:lnTo>
                  <a:pt x="905395" y="0"/>
                </a:lnTo>
                <a:lnTo>
                  <a:pt x="905395" y="1033127"/>
                </a:lnTo>
                <a:lnTo>
                  <a:pt x="0" y="10331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6378510" y="8048824"/>
            <a:ext cx="455639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VPS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780309" y="6117477"/>
            <a:ext cx="704958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SERVER</a:t>
            </a:r>
          </a:p>
        </p:txBody>
      </p:sp>
      <p:sp>
        <p:nvSpPr>
          <p:cNvPr name="AutoShape 41" id="41"/>
          <p:cNvSpPr/>
          <p:nvPr/>
        </p:nvSpPr>
        <p:spPr>
          <a:xfrm flipV="true">
            <a:off x="4304353" y="3806703"/>
            <a:ext cx="249081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2" id="42"/>
          <p:cNvSpPr/>
          <p:nvPr/>
        </p:nvSpPr>
        <p:spPr>
          <a:xfrm flipV="true">
            <a:off x="4304353" y="3806703"/>
            <a:ext cx="0" cy="115472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V="true">
            <a:off x="4304353" y="7892931"/>
            <a:ext cx="0" cy="19658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>
            <a:off x="4304353" y="9858737"/>
            <a:ext cx="1263361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flipH="true" flipV="true">
            <a:off x="16937964" y="8618592"/>
            <a:ext cx="0" cy="124014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6" id="46"/>
          <p:cNvSpPr/>
          <p:nvPr/>
        </p:nvSpPr>
        <p:spPr>
          <a:xfrm>
            <a:off x="7879834" y="2003794"/>
            <a:ext cx="0" cy="35122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7" id="47"/>
          <p:cNvSpPr/>
          <p:nvPr/>
        </p:nvSpPr>
        <p:spPr>
          <a:xfrm flipH="true">
            <a:off x="7879834" y="1983469"/>
            <a:ext cx="3264491" cy="203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16606330" y="1929262"/>
            <a:ext cx="0" cy="390465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9" id="49"/>
          <p:cNvSpPr/>
          <p:nvPr/>
        </p:nvSpPr>
        <p:spPr>
          <a:xfrm flipH="true">
            <a:off x="13128127" y="1929262"/>
            <a:ext cx="3478202" cy="1392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flipH="true" flipV="true">
            <a:off x="7879834" y="5258391"/>
            <a:ext cx="33714" cy="42369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>
            <a:off x="7913548" y="9495336"/>
            <a:ext cx="824771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V="true">
            <a:off x="16161266" y="8618592"/>
            <a:ext cx="0" cy="87674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3" id="53"/>
          <p:cNvSpPr/>
          <p:nvPr/>
        </p:nvSpPr>
        <p:spPr>
          <a:xfrm>
            <a:off x="9908319" y="5661525"/>
            <a:ext cx="2617098" cy="196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4" id="54"/>
          <p:cNvSpPr/>
          <p:nvPr/>
        </p:nvSpPr>
        <p:spPr>
          <a:xfrm flipH="true">
            <a:off x="8964502" y="3032142"/>
            <a:ext cx="94381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5" id="55"/>
          <p:cNvSpPr/>
          <p:nvPr/>
        </p:nvSpPr>
        <p:spPr>
          <a:xfrm flipV="true">
            <a:off x="9908319" y="3032142"/>
            <a:ext cx="0" cy="262938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flipV="true">
            <a:off x="9444116" y="4382735"/>
            <a:ext cx="0" cy="319062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 flipH="true">
            <a:off x="8989064" y="4382735"/>
            <a:ext cx="45505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8" id="58"/>
          <p:cNvSpPr/>
          <p:nvPr/>
        </p:nvSpPr>
        <p:spPr>
          <a:xfrm>
            <a:off x="9444116" y="7573358"/>
            <a:ext cx="3081300" cy="395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9" id="59"/>
          <p:cNvSpPr/>
          <p:nvPr/>
        </p:nvSpPr>
        <p:spPr>
          <a:xfrm flipH="false" flipV="false" rot="0">
            <a:off x="955650" y="5906645"/>
            <a:ext cx="988275" cy="988275"/>
          </a:xfrm>
          <a:custGeom>
            <a:avLst/>
            <a:gdLst/>
            <a:ahLst/>
            <a:cxnLst/>
            <a:rect r="r" b="b" t="t" l="l"/>
            <a:pathLst>
              <a:path h="988275" w="988275">
                <a:moveTo>
                  <a:pt x="0" y="0"/>
                </a:moveTo>
                <a:lnTo>
                  <a:pt x="988274" y="0"/>
                </a:lnTo>
                <a:lnTo>
                  <a:pt x="988274" y="988274"/>
                </a:lnTo>
                <a:lnTo>
                  <a:pt x="0" y="9882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0" id="60"/>
          <p:cNvSpPr/>
          <p:nvPr/>
        </p:nvSpPr>
        <p:spPr>
          <a:xfrm flipH="true" flipV="true">
            <a:off x="1943924" y="6400782"/>
            <a:ext cx="1266190" cy="2639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arrow" len="sm" w="med"/>
            <a:tailEnd type="none" len="sm" w="sm"/>
          </a:ln>
        </p:spPr>
      </p:sp>
      <p:sp>
        <p:nvSpPr>
          <p:cNvPr name="Freeform 61" id="61"/>
          <p:cNvSpPr/>
          <p:nvPr/>
        </p:nvSpPr>
        <p:spPr>
          <a:xfrm flipH="false" flipV="false" rot="0">
            <a:off x="11607555" y="1455172"/>
            <a:ext cx="1057343" cy="1097243"/>
          </a:xfrm>
          <a:custGeom>
            <a:avLst/>
            <a:gdLst/>
            <a:ahLst/>
            <a:cxnLst/>
            <a:rect r="r" b="b" t="t" l="l"/>
            <a:pathLst>
              <a:path h="1097243" w="1057343">
                <a:moveTo>
                  <a:pt x="0" y="0"/>
                </a:moveTo>
                <a:lnTo>
                  <a:pt x="1057343" y="0"/>
                </a:lnTo>
                <a:lnTo>
                  <a:pt x="1057343" y="1097243"/>
                </a:lnTo>
                <a:lnTo>
                  <a:pt x="0" y="10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7363455" y="3214249"/>
            <a:ext cx="1100185" cy="1100185"/>
          </a:xfrm>
          <a:custGeom>
            <a:avLst/>
            <a:gdLst/>
            <a:ahLst/>
            <a:cxnLst/>
            <a:rect r="r" b="b" t="t" l="l"/>
            <a:pathLst>
              <a:path h="1100185" w="1100185">
                <a:moveTo>
                  <a:pt x="0" y="0"/>
                </a:moveTo>
                <a:lnTo>
                  <a:pt x="1100185" y="0"/>
                </a:lnTo>
                <a:lnTo>
                  <a:pt x="1100185" y="1100185"/>
                </a:lnTo>
                <a:lnTo>
                  <a:pt x="0" y="110018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13084129" y="4886289"/>
            <a:ext cx="1235776" cy="1224542"/>
          </a:xfrm>
          <a:custGeom>
            <a:avLst/>
            <a:gdLst/>
            <a:ahLst/>
            <a:cxnLst/>
            <a:rect r="r" b="b" t="t" l="l"/>
            <a:pathLst>
              <a:path h="1224542" w="1235776">
                <a:moveTo>
                  <a:pt x="0" y="0"/>
                </a:moveTo>
                <a:lnTo>
                  <a:pt x="1235776" y="0"/>
                </a:lnTo>
                <a:lnTo>
                  <a:pt x="1235776" y="1224541"/>
                </a:lnTo>
                <a:lnTo>
                  <a:pt x="0" y="122454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4060565" y="6211823"/>
            <a:ext cx="598879" cy="598879"/>
          </a:xfrm>
          <a:custGeom>
            <a:avLst/>
            <a:gdLst/>
            <a:ahLst/>
            <a:cxnLst/>
            <a:rect r="r" b="b" t="t" l="l"/>
            <a:pathLst>
              <a:path h="598879" w="598879">
                <a:moveTo>
                  <a:pt x="0" y="0"/>
                </a:moveTo>
                <a:lnTo>
                  <a:pt x="598879" y="0"/>
                </a:lnTo>
                <a:lnTo>
                  <a:pt x="598879" y="598879"/>
                </a:lnTo>
                <a:lnTo>
                  <a:pt x="0" y="5988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4467308" y="9418159"/>
            <a:ext cx="176319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deployed on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462582" y="3336438"/>
            <a:ext cx="187202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API Requests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8107466" y="8999122"/>
            <a:ext cx="176319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deployed 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502258" y="1573027"/>
            <a:ext cx="345519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data storage/retrieval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163564" y="5114161"/>
            <a:ext cx="212490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AI integration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658183" y="7051301"/>
            <a:ext cx="256032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Image processing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4674846" y="1496827"/>
            <a:ext cx="176319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deployed on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08494" y="7188155"/>
            <a:ext cx="68258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User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535055" y="672103"/>
            <a:ext cx="7008019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SYSTEM ARCHITECTURE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854730" y="371113"/>
            <a:ext cx="350534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ภาพรวมสถาปัตย</a:t>
            </a: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กรรมระบบ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5" t="0" r="-72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7106394" y="1800149"/>
            <a:ext cx="9797556" cy="1278531"/>
            <a:chOff x="0" y="0"/>
            <a:chExt cx="2005417" cy="2616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05417" cy="261697"/>
            </a:xfrm>
            <a:custGeom>
              <a:avLst/>
              <a:gdLst/>
              <a:ahLst/>
              <a:cxnLst/>
              <a:rect r="r" b="b" t="t" l="l"/>
              <a:pathLst>
                <a:path h="261697" w="2005417">
                  <a:moveTo>
                    <a:pt x="11853" y="0"/>
                  </a:moveTo>
                  <a:lnTo>
                    <a:pt x="1993564" y="0"/>
                  </a:lnTo>
                  <a:cubicBezTo>
                    <a:pt x="1996707" y="0"/>
                    <a:pt x="1999722" y="1249"/>
                    <a:pt x="2001945" y="3472"/>
                  </a:cubicBezTo>
                  <a:cubicBezTo>
                    <a:pt x="2004168" y="5694"/>
                    <a:pt x="2005417" y="8709"/>
                    <a:pt x="2005417" y="11853"/>
                  </a:cubicBezTo>
                  <a:lnTo>
                    <a:pt x="2005417" y="249844"/>
                  </a:lnTo>
                  <a:cubicBezTo>
                    <a:pt x="2005417" y="252987"/>
                    <a:pt x="2004168" y="256002"/>
                    <a:pt x="2001945" y="258225"/>
                  </a:cubicBezTo>
                  <a:cubicBezTo>
                    <a:pt x="1999722" y="260448"/>
                    <a:pt x="1996707" y="261697"/>
                    <a:pt x="1993564" y="261697"/>
                  </a:cubicBezTo>
                  <a:lnTo>
                    <a:pt x="11853" y="261697"/>
                  </a:lnTo>
                  <a:cubicBezTo>
                    <a:pt x="8709" y="261697"/>
                    <a:pt x="5694" y="260448"/>
                    <a:pt x="3472" y="258225"/>
                  </a:cubicBezTo>
                  <a:cubicBezTo>
                    <a:pt x="1249" y="256002"/>
                    <a:pt x="0" y="252987"/>
                    <a:pt x="0" y="249844"/>
                  </a:cubicBezTo>
                  <a:lnTo>
                    <a:pt x="0" y="11853"/>
                  </a:lnTo>
                  <a:cubicBezTo>
                    <a:pt x="0" y="8709"/>
                    <a:pt x="1249" y="5694"/>
                    <a:pt x="3472" y="3472"/>
                  </a:cubicBezTo>
                  <a:cubicBezTo>
                    <a:pt x="5694" y="1249"/>
                    <a:pt x="8709" y="0"/>
                    <a:pt x="11853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751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005417" cy="290272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668762" y="156342"/>
            <a:ext cx="3795128" cy="472232"/>
            <a:chOff x="0" y="0"/>
            <a:chExt cx="5060171" cy="6296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60171" cy="629642"/>
            </a:xfrm>
            <a:custGeom>
              <a:avLst/>
              <a:gdLst/>
              <a:ahLst/>
              <a:cxnLst/>
              <a:rect r="r" b="b" t="t" l="l"/>
              <a:pathLst>
                <a:path h="629642" w="5060171">
                  <a:moveTo>
                    <a:pt x="0" y="0"/>
                  </a:moveTo>
                  <a:lnTo>
                    <a:pt x="5060171" y="0"/>
                  </a:lnTo>
                  <a:lnTo>
                    <a:pt x="5060171" y="629642"/>
                  </a:lnTo>
                  <a:lnTo>
                    <a:pt x="0" y="62964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34580" r="-207199" b="-42752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5060171" cy="620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ระบบคัดกรองผู้สมัครอัตโนมัติ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100524" y="526847"/>
            <a:ext cx="6086951" cy="987552"/>
            <a:chOff x="0" y="0"/>
            <a:chExt cx="8115935" cy="13167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159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8115936">
                  <a:moveTo>
                    <a:pt x="0" y="0"/>
                  </a:moveTo>
                  <a:lnTo>
                    <a:pt x="8115936" y="0"/>
                  </a:lnTo>
                  <a:lnTo>
                    <a:pt x="811593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9800" r="-116321" b="-2098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115935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F2024"/>
                  </a:solidFill>
                  <a:latin typeface="Archive"/>
                  <a:ea typeface="Archive"/>
                  <a:cs typeface="Archive"/>
                  <a:sym typeface="Archive"/>
                </a:rPr>
                <a:t>WHY ATS MATTERS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280" y="1800149"/>
            <a:ext cx="3310101" cy="1659636"/>
            <a:chOff x="0" y="0"/>
            <a:chExt cx="4413468" cy="22128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413468" cy="2212848"/>
            </a:xfrm>
            <a:custGeom>
              <a:avLst/>
              <a:gdLst/>
              <a:ahLst/>
              <a:cxnLst/>
              <a:rect r="r" b="b" t="t" l="l"/>
              <a:pathLst>
                <a:path h="2212848" w="4413468">
                  <a:moveTo>
                    <a:pt x="0" y="0"/>
                  </a:moveTo>
                  <a:lnTo>
                    <a:pt x="4413468" y="0"/>
                  </a:lnTo>
                  <a:lnTo>
                    <a:pt x="4413468" y="2212848"/>
                  </a:lnTo>
                  <a:lnTo>
                    <a:pt x="0" y="22128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223" r="-65747" b="-160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4413468" cy="22128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>
                  <a:solidFill>
                    <a:srgbClr val="F97316"/>
                  </a:solidFill>
                  <a:latin typeface="Archive"/>
                  <a:ea typeface="Archive"/>
                  <a:cs typeface="Archive"/>
                  <a:sym typeface="Archive"/>
                </a:rPr>
                <a:t>ATS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97280" y="3403378"/>
            <a:ext cx="4576548" cy="425044"/>
            <a:chOff x="0" y="0"/>
            <a:chExt cx="6102064" cy="5667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02064" cy="566725"/>
            </a:xfrm>
            <a:custGeom>
              <a:avLst/>
              <a:gdLst/>
              <a:ahLst/>
              <a:cxnLst/>
              <a:rect r="r" b="b" t="t" l="l"/>
              <a:pathLst>
                <a:path h="566725" w="6102064">
                  <a:moveTo>
                    <a:pt x="0" y="0"/>
                  </a:moveTo>
                  <a:lnTo>
                    <a:pt x="6102064" y="0"/>
                  </a:lnTo>
                  <a:lnTo>
                    <a:pt x="6102064" y="566725"/>
                  </a:lnTo>
                  <a:lnTo>
                    <a:pt x="0" y="56672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9393" r="-22877" b="-20620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6102064" cy="5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45454"/>
                  </a:solidFill>
                  <a:latin typeface="Archive"/>
                  <a:ea typeface="Archive"/>
                  <a:cs typeface="Archive"/>
                  <a:sym typeface="Archive"/>
                </a:rPr>
                <a:t>Applicant Tracking System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3891839"/>
            <a:ext cx="5486400" cy="1101849"/>
            <a:chOff x="0" y="0"/>
            <a:chExt cx="7315200" cy="14691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0" cy="1469132"/>
            </a:xfrm>
            <a:custGeom>
              <a:avLst/>
              <a:gdLst/>
              <a:ahLst/>
              <a:cxnLst/>
              <a:rect r="r" b="b" t="t" l="l"/>
              <a:pathLst>
                <a:path h="1469132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469132"/>
                  </a:lnTo>
                  <a:lnTo>
                    <a:pt x="0" y="146913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884" r="0" b="-8415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7315200" cy="15262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07"/>
                </a:lnSpc>
              </a:pPr>
              <a:r>
                <a:rPr lang="en-US" sz="2400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ซอฟต์แวร์ที่องค์กรใช้อ่านและคัดกรองเรซูเม่โดยอัตโนมัติ ก่อนส่งต่อให้ฝ่ายบุคคลพิจารณา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659365" y="2123946"/>
            <a:ext cx="630936" cy="630936"/>
            <a:chOff x="0" y="0"/>
            <a:chExt cx="841248" cy="8412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659365" y="2123946"/>
            <a:ext cx="630936" cy="630936"/>
            <a:chOff x="0" y="0"/>
            <a:chExt cx="841248" cy="8412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841248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Archive"/>
                  <a:ea typeface="Archive"/>
                  <a:cs typeface="Archive"/>
                  <a:sym typeface="Archive"/>
                </a:rPr>
                <a:t>1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498460" y="1891652"/>
            <a:ext cx="2684623" cy="547762"/>
            <a:chOff x="0" y="0"/>
            <a:chExt cx="3579498" cy="73034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79498" cy="730349"/>
            </a:xfrm>
            <a:custGeom>
              <a:avLst/>
              <a:gdLst/>
              <a:ahLst/>
              <a:cxnLst/>
              <a:rect r="r" b="b" t="t" l="l"/>
              <a:pathLst>
                <a:path h="730349" w="3579498">
                  <a:moveTo>
                    <a:pt x="0" y="0"/>
                  </a:moveTo>
                  <a:lnTo>
                    <a:pt x="3579498" y="0"/>
                  </a:lnTo>
                  <a:lnTo>
                    <a:pt x="3579498" y="730349"/>
                  </a:lnTo>
                  <a:lnTo>
                    <a:pt x="0" y="73034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7623" r="-209100" b="-23274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3579498" cy="730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2024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ผู้สมัครส่งเรซูเม่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493875" y="2518766"/>
            <a:ext cx="4381417" cy="472231"/>
            <a:chOff x="0" y="0"/>
            <a:chExt cx="5841889" cy="62964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841890" cy="629642"/>
            </a:xfrm>
            <a:custGeom>
              <a:avLst/>
              <a:gdLst/>
              <a:ahLst/>
              <a:cxnLst/>
              <a:rect r="r" b="b" t="t" l="l"/>
              <a:pathLst>
                <a:path h="629642" w="5841890">
                  <a:moveTo>
                    <a:pt x="0" y="0"/>
                  </a:moveTo>
                  <a:lnTo>
                    <a:pt x="5841890" y="0"/>
                  </a:lnTo>
                  <a:lnTo>
                    <a:pt x="5841890" y="629642"/>
                  </a:lnTo>
                  <a:lnTo>
                    <a:pt x="0" y="62964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01658" r="-90960" b="-28879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5841889" cy="620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6B728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อัปโหลดไฟล์เข้าระบบรับสมัคร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106394" y="3739421"/>
            <a:ext cx="9797556" cy="1278531"/>
            <a:chOff x="0" y="0"/>
            <a:chExt cx="2005417" cy="26169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05417" cy="261697"/>
            </a:xfrm>
            <a:custGeom>
              <a:avLst/>
              <a:gdLst/>
              <a:ahLst/>
              <a:cxnLst/>
              <a:rect r="r" b="b" t="t" l="l"/>
              <a:pathLst>
                <a:path h="261697" w="2005417">
                  <a:moveTo>
                    <a:pt x="11853" y="0"/>
                  </a:moveTo>
                  <a:lnTo>
                    <a:pt x="1993564" y="0"/>
                  </a:lnTo>
                  <a:cubicBezTo>
                    <a:pt x="1996707" y="0"/>
                    <a:pt x="1999722" y="1249"/>
                    <a:pt x="2001945" y="3472"/>
                  </a:cubicBezTo>
                  <a:cubicBezTo>
                    <a:pt x="2004168" y="5694"/>
                    <a:pt x="2005417" y="8709"/>
                    <a:pt x="2005417" y="11853"/>
                  </a:cubicBezTo>
                  <a:lnTo>
                    <a:pt x="2005417" y="249844"/>
                  </a:lnTo>
                  <a:cubicBezTo>
                    <a:pt x="2005417" y="252987"/>
                    <a:pt x="2004168" y="256002"/>
                    <a:pt x="2001945" y="258225"/>
                  </a:cubicBezTo>
                  <a:cubicBezTo>
                    <a:pt x="1999722" y="260448"/>
                    <a:pt x="1996707" y="261697"/>
                    <a:pt x="1993564" y="261697"/>
                  </a:cubicBezTo>
                  <a:lnTo>
                    <a:pt x="11853" y="261697"/>
                  </a:lnTo>
                  <a:cubicBezTo>
                    <a:pt x="8709" y="261697"/>
                    <a:pt x="5694" y="260448"/>
                    <a:pt x="3472" y="258225"/>
                  </a:cubicBezTo>
                  <a:cubicBezTo>
                    <a:pt x="1249" y="256002"/>
                    <a:pt x="0" y="252987"/>
                    <a:pt x="0" y="249844"/>
                  </a:cubicBezTo>
                  <a:lnTo>
                    <a:pt x="0" y="11853"/>
                  </a:lnTo>
                  <a:cubicBezTo>
                    <a:pt x="0" y="8709"/>
                    <a:pt x="1249" y="5694"/>
                    <a:pt x="3472" y="3472"/>
                  </a:cubicBezTo>
                  <a:cubicBezTo>
                    <a:pt x="5694" y="1249"/>
                    <a:pt x="8709" y="0"/>
                    <a:pt x="11853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751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2005417" cy="290272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616051" y="4047269"/>
            <a:ext cx="630936" cy="630936"/>
            <a:chOff x="0" y="0"/>
            <a:chExt cx="841248" cy="8412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616051" y="4047269"/>
            <a:ext cx="630936" cy="630936"/>
            <a:chOff x="0" y="0"/>
            <a:chExt cx="841248" cy="84124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841248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Archive"/>
                  <a:ea typeface="Archive"/>
                  <a:cs typeface="Archive"/>
                  <a:sym typeface="Archive"/>
                </a:rPr>
                <a:t>2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498460" y="3906118"/>
            <a:ext cx="3587130" cy="492709"/>
            <a:chOff x="0" y="0"/>
            <a:chExt cx="4782839" cy="65694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782839" cy="656946"/>
            </a:xfrm>
            <a:custGeom>
              <a:avLst/>
              <a:gdLst/>
              <a:ahLst/>
              <a:cxnLst/>
              <a:rect r="r" b="b" t="t" l="l"/>
              <a:pathLst>
                <a:path h="656946" w="4782839">
                  <a:moveTo>
                    <a:pt x="0" y="0"/>
                  </a:moveTo>
                  <a:lnTo>
                    <a:pt x="4782839" y="0"/>
                  </a:lnTo>
                  <a:lnTo>
                    <a:pt x="4782839" y="656946"/>
                  </a:lnTo>
                  <a:lnTo>
                    <a:pt x="0" y="65694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86409" r="-131332" b="-26992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782839" cy="656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F2024"/>
                  </a:solidFill>
                  <a:latin typeface="Archive"/>
                  <a:ea typeface="Archive"/>
                  <a:cs typeface="Archive"/>
                  <a:sym typeface="Archive"/>
                </a:rPr>
                <a:t>ATS อ่านและสกัดข้อมูล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493875" y="4376453"/>
            <a:ext cx="4952253" cy="472231"/>
            <a:chOff x="0" y="0"/>
            <a:chExt cx="6603004" cy="62964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603005" cy="629642"/>
            </a:xfrm>
            <a:custGeom>
              <a:avLst/>
              <a:gdLst/>
              <a:ahLst/>
              <a:cxnLst/>
              <a:rect r="r" b="b" t="t" l="l"/>
              <a:pathLst>
                <a:path h="629642" w="6603005">
                  <a:moveTo>
                    <a:pt x="0" y="0"/>
                  </a:moveTo>
                  <a:lnTo>
                    <a:pt x="6603005" y="0"/>
                  </a:lnTo>
                  <a:lnTo>
                    <a:pt x="6603005" y="629642"/>
                  </a:lnTo>
                  <a:lnTo>
                    <a:pt x="0" y="62964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01658" r="-68948" b="-28879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9525"/>
              <a:ext cx="6603004" cy="620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6B728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แยกชื่อ ทักษะ ประสบการณ์ การศึกษา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106394" y="5678694"/>
            <a:ext cx="9797556" cy="1278531"/>
            <a:chOff x="0" y="0"/>
            <a:chExt cx="2005417" cy="26169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05417" cy="261697"/>
            </a:xfrm>
            <a:custGeom>
              <a:avLst/>
              <a:gdLst/>
              <a:ahLst/>
              <a:cxnLst/>
              <a:rect r="r" b="b" t="t" l="l"/>
              <a:pathLst>
                <a:path h="261697" w="2005417">
                  <a:moveTo>
                    <a:pt x="11853" y="0"/>
                  </a:moveTo>
                  <a:lnTo>
                    <a:pt x="1993564" y="0"/>
                  </a:lnTo>
                  <a:cubicBezTo>
                    <a:pt x="1996707" y="0"/>
                    <a:pt x="1999722" y="1249"/>
                    <a:pt x="2001945" y="3472"/>
                  </a:cubicBezTo>
                  <a:cubicBezTo>
                    <a:pt x="2004168" y="5694"/>
                    <a:pt x="2005417" y="8709"/>
                    <a:pt x="2005417" y="11853"/>
                  </a:cubicBezTo>
                  <a:lnTo>
                    <a:pt x="2005417" y="249844"/>
                  </a:lnTo>
                  <a:cubicBezTo>
                    <a:pt x="2005417" y="252987"/>
                    <a:pt x="2004168" y="256002"/>
                    <a:pt x="2001945" y="258225"/>
                  </a:cubicBezTo>
                  <a:cubicBezTo>
                    <a:pt x="1999722" y="260448"/>
                    <a:pt x="1996707" y="261697"/>
                    <a:pt x="1993564" y="261697"/>
                  </a:cubicBezTo>
                  <a:lnTo>
                    <a:pt x="11853" y="261697"/>
                  </a:lnTo>
                  <a:cubicBezTo>
                    <a:pt x="8709" y="261697"/>
                    <a:pt x="5694" y="260448"/>
                    <a:pt x="3472" y="258225"/>
                  </a:cubicBezTo>
                  <a:cubicBezTo>
                    <a:pt x="1249" y="256002"/>
                    <a:pt x="0" y="252987"/>
                    <a:pt x="0" y="249844"/>
                  </a:cubicBezTo>
                  <a:lnTo>
                    <a:pt x="0" y="11853"/>
                  </a:lnTo>
                  <a:cubicBezTo>
                    <a:pt x="0" y="8709"/>
                    <a:pt x="1249" y="5694"/>
                    <a:pt x="3472" y="3472"/>
                  </a:cubicBezTo>
                  <a:cubicBezTo>
                    <a:pt x="5694" y="1249"/>
                    <a:pt x="8709" y="0"/>
                    <a:pt x="11853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751F"/>
              </a:solidFill>
              <a:prstDash val="solid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2005417" cy="290272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572738" y="5970593"/>
            <a:ext cx="630936" cy="630936"/>
            <a:chOff x="0" y="0"/>
            <a:chExt cx="841248" cy="8412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572738" y="5970593"/>
            <a:ext cx="630936" cy="630936"/>
            <a:chOff x="0" y="0"/>
            <a:chExt cx="841248" cy="84124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841248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Archive"/>
                  <a:ea typeface="Archive"/>
                  <a:cs typeface="Archive"/>
                  <a:sym typeface="Archive"/>
                </a:rPr>
                <a:t>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8498460" y="5850144"/>
            <a:ext cx="4226694" cy="547762"/>
            <a:chOff x="0" y="0"/>
            <a:chExt cx="5635592" cy="73034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635592" cy="730349"/>
            </a:xfrm>
            <a:custGeom>
              <a:avLst/>
              <a:gdLst/>
              <a:ahLst/>
              <a:cxnLst/>
              <a:rect r="r" b="b" t="t" l="l"/>
              <a:pathLst>
                <a:path h="730349" w="5635592">
                  <a:moveTo>
                    <a:pt x="0" y="0"/>
                  </a:moveTo>
                  <a:lnTo>
                    <a:pt x="5635592" y="0"/>
                  </a:lnTo>
                  <a:lnTo>
                    <a:pt x="5635592" y="730349"/>
                  </a:lnTo>
                  <a:lnTo>
                    <a:pt x="0" y="73034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7623" r="-96327" b="-23274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5635592" cy="730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2024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ให้คะแนนความสอดคล้อง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498460" y="6365413"/>
            <a:ext cx="4995567" cy="472231"/>
            <a:chOff x="0" y="0"/>
            <a:chExt cx="6660756" cy="62964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660756" cy="629642"/>
            </a:xfrm>
            <a:custGeom>
              <a:avLst/>
              <a:gdLst/>
              <a:ahLst/>
              <a:cxnLst/>
              <a:rect r="r" b="b" t="t" l="l"/>
              <a:pathLst>
                <a:path h="629642" w="6660756">
                  <a:moveTo>
                    <a:pt x="0" y="0"/>
                  </a:moveTo>
                  <a:lnTo>
                    <a:pt x="6660756" y="0"/>
                  </a:lnTo>
                  <a:lnTo>
                    <a:pt x="6660756" y="629642"/>
                  </a:lnTo>
                  <a:lnTo>
                    <a:pt x="0" y="62964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01658" r="-67483" b="-28879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9525"/>
              <a:ext cx="6660756" cy="620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6B728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เทียบคำสำคัญกับประกาศรับสมัคร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7106394" y="7617967"/>
            <a:ext cx="9797556" cy="1278531"/>
            <a:chOff x="0" y="0"/>
            <a:chExt cx="2005417" cy="26169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05417" cy="261697"/>
            </a:xfrm>
            <a:custGeom>
              <a:avLst/>
              <a:gdLst/>
              <a:ahLst/>
              <a:cxnLst/>
              <a:rect r="r" b="b" t="t" l="l"/>
              <a:pathLst>
                <a:path h="261697" w="2005417">
                  <a:moveTo>
                    <a:pt x="11853" y="0"/>
                  </a:moveTo>
                  <a:lnTo>
                    <a:pt x="1993564" y="0"/>
                  </a:lnTo>
                  <a:cubicBezTo>
                    <a:pt x="1996707" y="0"/>
                    <a:pt x="1999722" y="1249"/>
                    <a:pt x="2001945" y="3472"/>
                  </a:cubicBezTo>
                  <a:cubicBezTo>
                    <a:pt x="2004168" y="5694"/>
                    <a:pt x="2005417" y="8709"/>
                    <a:pt x="2005417" y="11853"/>
                  </a:cubicBezTo>
                  <a:lnTo>
                    <a:pt x="2005417" y="249844"/>
                  </a:lnTo>
                  <a:cubicBezTo>
                    <a:pt x="2005417" y="252987"/>
                    <a:pt x="2004168" y="256002"/>
                    <a:pt x="2001945" y="258225"/>
                  </a:cubicBezTo>
                  <a:cubicBezTo>
                    <a:pt x="1999722" y="260448"/>
                    <a:pt x="1996707" y="261697"/>
                    <a:pt x="1993564" y="261697"/>
                  </a:cubicBezTo>
                  <a:lnTo>
                    <a:pt x="11853" y="261697"/>
                  </a:lnTo>
                  <a:cubicBezTo>
                    <a:pt x="8709" y="261697"/>
                    <a:pt x="5694" y="260448"/>
                    <a:pt x="3472" y="258225"/>
                  </a:cubicBezTo>
                  <a:cubicBezTo>
                    <a:pt x="1249" y="256002"/>
                    <a:pt x="0" y="252987"/>
                    <a:pt x="0" y="249844"/>
                  </a:cubicBezTo>
                  <a:lnTo>
                    <a:pt x="0" y="11853"/>
                  </a:lnTo>
                  <a:cubicBezTo>
                    <a:pt x="0" y="8709"/>
                    <a:pt x="1249" y="5694"/>
                    <a:pt x="3472" y="3472"/>
                  </a:cubicBezTo>
                  <a:cubicBezTo>
                    <a:pt x="5694" y="1249"/>
                    <a:pt x="8709" y="0"/>
                    <a:pt x="11853" y="0"/>
                  </a:cubicBezTo>
                  <a:close/>
                </a:path>
              </a:pathLst>
            </a:custGeom>
            <a:solidFill>
              <a:srgbClr val="FFF3E8"/>
            </a:solidFill>
            <a:ln w="38100" cap="sq">
              <a:solidFill>
                <a:srgbClr val="FF751F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2005417" cy="290272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572738" y="7880927"/>
            <a:ext cx="630936" cy="630936"/>
            <a:chOff x="0" y="0"/>
            <a:chExt cx="841248" cy="84124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572738" y="7880927"/>
            <a:ext cx="630936" cy="630936"/>
            <a:chOff x="0" y="0"/>
            <a:chExt cx="841248" cy="84124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841248" cy="850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Archive"/>
                  <a:ea typeface="Archive"/>
                  <a:cs typeface="Archive"/>
                  <a:sym typeface="Archive"/>
                </a:rPr>
                <a:t>4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498460" y="7741792"/>
            <a:ext cx="3930861" cy="547762"/>
            <a:chOff x="0" y="0"/>
            <a:chExt cx="5241148" cy="73034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241148" cy="730349"/>
            </a:xfrm>
            <a:custGeom>
              <a:avLst/>
              <a:gdLst/>
              <a:ahLst/>
              <a:cxnLst/>
              <a:rect r="r" b="b" t="t" l="l"/>
              <a:pathLst>
                <a:path h="730349" w="5241148">
                  <a:moveTo>
                    <a:pt x="0" y="0"/>
                  </a:moveTo>
                  <a:lnTo>
                    <a:pt x="5241148" y="0"/>
                  </a:lnTo>
                  <a:lnTo>
                    <a:pt x="5241148" y="730349"/>
                  </a:lnTo>
                  <a:lnTo>
                    <a:pt x="0" y="73034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7623" r="-111103" b="-23274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5241148" cy="730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EA6A0A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คัดกรองก่อนถึงมือคน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450562" y="8293766"/>
            <a:ext cx="4424731" cy="472231"/>
            <a:chOff x="0" y="0"/>
            <a:chExt cx="5899641" cy="62964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899641" cy="629642"/>
            </a:xfrm>
            <a:custGeom>
              <a:avLst/>
              <a:gdLst/>
              <a:ahLst/>
              <a:cxnLst/>
              <a:rect r="r" b="b" t="t" l="l"/>
              <a:pathLst>
                <a:path h="629642" w="5899641">
                  <a:moveTo>
                    <a:pt x="0" y="0"/>
                  </a:moveTo>
                  <a:lnTo>
                    <a:pt x="5899641" y="0"/>
                  </a:lnTo>
                  <a:lnTo>
                    <a:pt x="5899641" y="629642"/>
                  </a:lnTo>
                  <a:lnTo>
                    <a:pt x="0" y="62964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01658" r="-89090" b="-288793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9525"/>
              <a:ext cx="5899641" cy="620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6B728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เอกสารคะแนนต่ำถูกตัดออกอัตโนมัติ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737655" y="3192979"/>
            <a:ext cx="535033" cy="432142"/>
            <a:chOff x="0" y="0"/>
            <a:chExt cx="475488" cy="38404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75488" cy="384048"/>
            </a:xfrm>
            <a:custGeom>
              <a:avLst/>
              <a:gdLst/>
              <a:ahLst/>
              <a:cxnLst/>
              <a:rect r="r" b="b" t="t" l="l"/>
              <a:pathLst>
                <a:path h="384048" w="475488">
                  <a:moveTo>
                    <a:pt x="0" y="192024"/>
                  </a:moveTo>
                  <a:lnTo>
                    <a:pt x="118872" y="192024"/>
                  </a:lnTo>
                  <a:lnTo>
                    <a:pt x="118872" y="0"/>
                  </a:lnTo>
                  <a:lnTo>
                    <a:pt x="356616" y="0"/>
                  </a:lnTo>
                  <a:lnTo>
                    <a:pt x="356616" y="192024"/>
                  </a:lnTo>
                  <a:lnTo>
                    <a:pt x="475488" y="192024"/>
                  </a:lnTo>
                  <a:lnTo>
                    <a:pt x="237744" y="384048"/>
                  </a:lnTo>
                  <a:close/>
                </a:path>
              </a:pathLst>
            </a:custGeom>
            <a:solidFill>
              <a:srgbClr val="FDBA74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737655" y="5132252"/>
            <a:ext cx="535033" cy="432142"/>
            <a:chOff x="0" y="0"/>
            <a:chExt cx="475488" cy="38404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75488" cy="384048"/>
            </a:xfrm>
            <a:custGeom>
              <a:avLst/>
              <a:gdLst/>
              <a:ahLst/>
              <a:cxnLst/>
              <a:rect r="r" b="b" t="t" l="l"/>
              <a:pathLst>
                <a:path h="384048" w="475488">
                  <a:moveTo>
                    <a:pt x="0" y="192024"/>
                  </a:moveTo>
                  <a:lnTo>
                    <a:pt x="118872" y="192024"/>
                  </a:lnTo>
                  <a:lnTo>
                    <a:pt x="118872" y="0"/>
                  </a:lnTo>
                  <a:lnTo>
                    <a:pt x="356616" y="0"/>
                  </a:lnTo>
                  <a:lnTo>
                    <a:pt x="356616" y="192024"/>
                  </a:lnTo>
                  <a:lnTo>
                    <a:pt x="475488" y="192024"/>
                  </a:lnTo>
                  <a:lnTo>
                    <a:pt x="237744" y="384048"/>
                  </a:lnTo>
                  <a:close/>
                </a:path>
              </a:pathLst>
            </a:custGeom>
            <a:solidFill>
              <a:srgbClr val="FDBA74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737655" y="7071524"/>
            <a:ext cx="535033" cy="432142"/>
            <a:chOff x="0" y="0"/>
            <a:chExt cx="475488" cy="38404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75488" cy="384048"/>
            </a:xfrm>
            <a:custGeom>
              <a:avLst/>
              <a:gdLst/>
              <a:ahLst/>
              <a:cxnLst/>
              <a:rect r="r" b="b" t="t" l="l"/>
              <a:pathLst>
                <a:path h="384048" w="475488">
                  <a:moveTo>
                    <a:pt x="0" y="192024"/>
                  </a:moveTo>
                  <a:lnTo>
                    <a:pt x="118872" y="192024"/>
                  </a:lnTo>
                  <a:lnTo>
                    <a:pt x="118872" y="0"/>
                  </a:lnTo>
                  <a:lnTo>
                    <a:pt x="356616" y="0"/>
                  </a:lnTo>
                  <a:lnTo>
                    <a:pt x="356616" y="192024"/>
                  </a:lnTo>
                  <a:lnTo>
                    <a:pt x="475488" y="192024"/>
                  </a:lnTo>
                  <a:lnTo>
                    <a:pt x="237744" y="384048"/>
                  </a:lnTo>
                  <a:close/>
                </a:path>
              </a:pathLst>
            </a:custGeom>
            <a:solidFill>
              <a:srgbClr val="FDBA74"/>
            </a:solidFill>
          </p:spPr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5" t="0" r="-72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549177" y="7230243"/>
            <a:ext cx="7982871" cy="2028057"/>
            <a:chOff x="0" y="0"/>
            <a:chExt cx="1633977" cy="41511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33977" cy="415114"/>
            </a:xfrm>
            <a:custGeom>
              <a:avLst/>
              <a:gdLst/>
              <a:ahLst/>
              <a:cxnLst/>
              <a:rect r="r" b="b" t="t" l="l"/>
              <a:pathLst>
                <a:path h="415114" w="1633977">
                  <a:moveTo>
                    <a:pt x="14547" y="0"/>
                  </a:moveTo>
                  <a:lnTo>
                    <a:pt x="1619430" y="0"/>
                  </a:lnTo>
                  <a:cubicBezTo>
                    <a:pt x="1623288" y="0"/>
                    <a:pt x="1626988" y="1533"/>
                    <a:pt x="1629716" y="4261"/>
                  </a:cubicBezTo>
                  <a:cubicBezTo>
                    <a:pt x="1632445" y="6989"/>
                    <a:pt x="1633977" y="10689"/>
                    <a:pt x="1633977" y="14547"/>
                  </a:cubicBezTo>
                  <a:lnTo>
                    <a:pt x="1633977" y="400566"/>
                  </a:lnTo>
                  <a:cubicBezTo>
                    <a:pt x="1633977" y="404425"/>
                    <a:pt x="1632445" y="408125"/>
                    <a:pt x="1629716" y="410853"/>
                  </a:cubicBezTo>
                  <a:cubicBezTo>
                    <a:pt x="1626988" y="413581"/>
                    <a:pt x="1623288" y="415114"/>
                    <a:pt x="1619430" y="415114"/>
                  </a:cubicBezTo>
                  <a:lnTo>
                    <a:pt x="14547" y="415114"/>
                  </a:lnTo>
                  <a:cubicBezTo>
                    <a:pt x="10689" y="415114"/>
                    <a:pt x="6989" y="413581"/>
                    <a:pt x="4261" y="410853"/>
                  </a:cubicBezTo>
                  <a:cubicBezTo>
                    <a:pt x="1533" y="408125"/>
                    <a:pt x="0" y="404425"/>
                    <a:pt x="0" y="400566"/>
                  </a:cubicBezTo>
                  <a:lnTo>
                    <a:pt x="0" y="14547"/>
                  </a:lnTo>
                  <a:cubicBezTo>
                    <a:pt x="0" y="10689"/>
                    <a:pt x="1533" y="6989"/>
                    <a:pt x="4261" y="4261"/>
                  </a:cubicBezTo>
                  <a:cubicBezTo>
                    <a:pt x="6989" y="1533"/>
                    <a:pt x="10689" y="0"/>
                    <a:pt x="14547" y="0"/>
                  </a:cubicBezTo>
                  <a:close/>
                </a:path>
              </a:pathLst>
            </a:custGeom>
            <a:solidFill>
              <a:srgbClr val="FFF3E8"/>
            </a:solidFill>
            <a:ln w="38100" cap="sq">
              <a:solidFill>
                <a:srgbClr val="FF751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633977" cy="443689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14706" y="4891773"/>
            <a:ext cx="7982871" cy="2106968"/>
            <a:chOff x="0" y="0"/>
            <a:chExt cx="1633977" cy="4312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33977" cy="431265"/>
            </a:xfrm>
            <a:custGeom>
              <a:avLst/>
              <a:gdLst/>
              <a:ahLst/>
              <a:cxnLst/>
              <a:rect r="r" b="b" t="t" l="l"/>
              <a:pathLst>
                <a:path h="431265" w="1633977">
                  <a:moveTo>
                    <a:pt x="14547" y="0"/>
                  </a:moveTo>
                  <a:lnTo>
                    <a:pt x="1619430" y="0"/>
                  </a:lnTo>
                  <a:cubicBezTo>
                    <a:pt x="1623288" y="0"/>
                    <a:pt x="1626988" y="1533"/>
                    <a:pt x="1629716" y="4261"/>
                  </a:cubicBezTo>
                  <a:cubicBezTo>
                    <a:pt x="1632445" y="6989"/>
                    <a:pt x="1633977" y="10689"/>
                    <a:pt x="1633977" y="14547"/>
                  </a:cubicBezTo>
                  <a:lnTo>
                    <a:pt x="1633977" y="416718"/>
                  </a:lnTo>
                  <a:cubicBezTo>
                    <a:pt x="1633977" y="420576"/>
                    <a:pt x="1632445" y="424277"/>
                    <a:pt x="1629716" y="427005"/>
                  </a:cubicBezTo>
                  <a:cubicBezTo>
                    <a:pt x="1626988" y="429733"/>
                    <a:pt x="1623288" y="431265"/>
                    <a:pt x="1619430" y="431265"/>
                  </a:cubicBezTo>
                  <a:lnTo>
                    <a:pt x="14547" y="431265"/>
                  </a:lnTo>
                  <a:cubicBezTo>
                    <a:pt x="10689" y="431265"/>
                    <a:pt x="6989" y="429733"/>
                    <a:pt x="4261" y="427005"/>
                  </a:cubicBezTo>
                  <a:cubicBezTo>
                    <a:pt x="1533" y="424277"/>
                    <a:pt x="0" y="420576"/>
                    <a:pt x="0" y="416718"/>
                  </a:cubicBezTo>
                  <a:lnTo>
                    <a:pt x="0" y="14547"/>
                  </a:lnTo>
                  <a:cubicBezTo>
                    <a:pt x="0" y="10689"/>
                    <a:pt x="1533" y="6989"/>
                    <a:pt x="4261" y="4261"/>
                  </a:cubicBezTo>
                  <a:cubicBezTo>
                    <a:pt x="6989" y="1533"/>
                    <a:pt x="10689" y="0"/>
                    <a:pt x="14547" y="0"/>
                  </a:cubicBezTo>
                  <a:close/>
                </a:path>
              </a:pathLst>
            </a:custGeom>
            <a:solidFill>
              <a:srgbClr val="FFF3E8"/>
            </a:solidFill>
            <a:ln w="38100" cap="sq">
              <a:solidFill>
                <a:srgbClr val="FF751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633977" cy="459841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630885"/>
            <a:ext cx="852048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DATABASE</a:t>
            </a:r>
            <a:r>
              <a:rPr lang="en-US" sz="48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 &amp; SYSTEM DESIGN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11621" y="6814313"/>
            <a:ext cx="7026819" cy="1246428"/>
            <a:chOff x="0" y="0"/>
            <a:chExt cx="1265946" cy="22455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5946" cy="224555"/>
            </a:xfrm>
            <a:custGeom>
              <a:avLst/>
              <a:gdLst/>
              <a:ahLst/>
              <a:cxnLst/>
              <a:rect r="r" b="b" t="t" l="l"/>
              <a:pathLst>
                <a:path h="224555" w="1265946">
                  <a:moveTo>
                    <a:pt x="16527" y="0"/>
                  </a:moveTo>
                  <a:lnTo>
                    <a:pt x="1249419" y="0"/>
                  </a:lnTo>
                  <a:cubicBezTo>
                    <a:pt x="1258547" y="0"/>
                    <a:pt x="1265946" y="7399"/>
                    <a:pt x="1265946" y="16527"/>
                  </a:cubicBezTo>
                  <a:lnTo>
                    <a:pt x="1265946" y="208029"/>
                  </a:lnTo>
                  <a:cubicBezTo>
                    <a:pt x="1265946" y="217156"/>
                    <a:pt x="1258547" y="224555"/>
                    <a:pt x="1249419" y="224555"/>
                  </a:cubicBezTo>
                  <a:lnTo>
                    <a:pt x="16527" y="224555"/>
                  </a:lnTo>
                  <a:cubicBezTo>
                    <a:pt x="7399" y="224555"/>
                    <a:pt x="0" y="217156"/>
                    <a:pt x="0" y="208029"/>
                  </a:cubicBezTo>
                  <a:lnTo>
                    <a:pt x="0" y="16527"/>
                  </a:lnTo>
                  <a:cubicBezTo>
                    <a:pt x="0" y="7399"/>
                    <a:pt x="7399" y="0"/>
                    <a:pt x="165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751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265946" cy="25313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01983" y="206070"/>
            <a:ext cx="527677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กา</a:t>
            </a: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รออกแบบฐานข้อมูลและโครงสร้างระบบ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511621" y="3876285"/>
            <a:ext cx="7026819" cy="1246428"/>
            <a:chOff x="0" y="0"/>
            <a:chExt cx="1265946" cy="2245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65946" cy="224555"/>
            </a:xfrm>
            <a:custGeom>
              <a:avLst/>
              <a:gdLst/>
              <a:ahLst/>
              <a:cxnLst/>
              <a:rect r="r" b="b" t="t" l="l"/>
              <a:pathLst>
                <a:path h="224555" w="1265946">
                  <a:moveTo>
                    <a:pt x="16527" y="0"/>
                  </a:moveTo>
                  <a:lnTo>
                    <a:pt x="1249419" y="0"/>
                  </a:lnTo>
                  <a:cubicBezTo>
                    <a:pt x="1258547" y="0"/>
                    <a:pt x="1265946" y="7399"/>
                    <a:pt x="1265946" y="16527"/>
                  </a:cubicBezTo>
                  <a:lnTo>
                    <a:pt x="1265946" y="208029"/>
                  </a:lnTo>
                  <a:cubicBezTo>
                    <a:pt x="1265946" y="217156"/>
                    <a:pt x="1258547" y="224555"/>
                    <a:pt x="1249419" y="224555"/>
                  </a:cubicBezTo>
                  <a:lnTo>
                    <a:pt x="16527" y="224555"/>
                  </a:lnTo>
                  <a:cubicBezTo>
                    <a:pt x="7399" y="224555"/>
                    <a:pt x="0" y="217156"/>
                    <a:pt x="0" y="208029"/>
                  </a:cubicBezTo>
                  <a:lnTo>
                    <a:pt x="0" y="16527"/>
                  </a:lnTo>
                  <a:cubicBezTo>
                    <a:pt x="0" y="7399"/>
                    <a:pt x="7399" y="0"/>
                    <a:pt x="165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751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265946" cy="25313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01983" y="1821552"/>
            <a:ext cx="6309360" cy="547762"/>
            <a:chOff x="0" y="0"/>
            <a:chExt cx="8412480" cy="73034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12480" cy="730349"/>
            </a:xfrm>
            <a:custGeom>
              <a:avLst/>
              <a:gdLst/>
              <a:ahLst/>
              <a:cxnLst/>
              <a:rect r="r" b="b" t="t" l="l"/>
              <a:pathLst>
                <a:path h="730349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0349"/>
                  </a:lnTo>
                  <a:lnTo>
                    <a:pt x="0" y="73034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6877" r="0" b="-16199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8412480" cy="730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EA6A0A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ตารางหลักในฐานข้อมูล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11621" y="2503881"/>
            <a:ext cx="7026819" cy="1246428"/>
            <a:chOff x="0" y="0"/>
            <a:chExt cx="1265946" cy="22455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65946" cy="224555"/>
            </a:xfrm>
            <a:custGeom>
              <a:avLst/>
              <a:gdLst/>
              <a:ahLst/>
              <a:cxnLst/>
              <a:rect r="r" b="b" t="t" l="l"/>
              <a:pathLst>
                <a:path h="224555" w="1265946">
                  <a:moveTo>
                    <a:pt x="16527" y="0"/>
                  </a:moveTo>
                  <a:lnTo>
                    <a:pt x="1249419" y="0"/>
                  </a:lnTo>
                  <a:cubicBezTo>
                    <a:pt x="1258547" y="0"/>
                    <a:pt x="1265946" y="7399"/>
                    <a:pt x="1265946" y="16527"/>
                  </a:cubicBezTo>
                  <a:lnTo>
                    <a:pt x="1265946" y="208029"/>
                  </a:lnTo>
                  <a:cubicBezTo>
                    <a:pt x="1265946" y="217156"/>
                    <a:pt x="1258547" y="224555"/>
                    <a:pt x="1249419" y="224555"/>
                  </a:cubicBezTo>
                  <a:lnTo>
                    <a:pt x="16527" y="224555"/>
                  </a:lnTo>
                  <a:cubicBezTo>
                    <a:pt x="7399" y="224555"/>
                    <a:pt x="0" y="217156"/>
                    <a:pt x="0" y="208029"/>
                  </a:cubicBezTo>
                  <a:lnTo>
                    <a:pt x="0" y="16527"/>
                  </a:lnTo>
                  <a:cubicBezTo>
                    <a:pt x="0" y="7399"/>
                    <a:pt x="7399" y="0"/>
                    <a:pt x="165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751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265946" cy="25313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854521" y="2630925"/>
            <a:ext cx="1452300" cy="425044"/>
            <a:chOff x="0" y="0"/>
            <a:chExt cx="1936399" cy="5667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36399" cy="566725"/>
            </a:xfrm>
            <a:custGeom>
              <a:avLst/>
              <a:gdLst/>
              <a:ahLst/>
              <a:cxnLst/>
              <a:rect r="r" b="b" t="t" l="l"/>
              <a:pathLst>
                <a:path h="566725" w="1936399">
                  <a:moveTo>
                    <a:pt x="0" y="0"/>
                  </a:moveTo>
                  <a:lnTo>
                    <a:pt x="1936399" y="0"/>
                  </a:lnTo>
                  <a:lnTo>
                    <a:pt x="1936399" y="566725"/>
                  </a:lnTo>
                  <a:lnTo>
                    <a:pt x="0" y="56672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0346" r="-343883" b="-24070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936399" cy="5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2024"/>
                  </a:solidFill>
                  <a:latin typeface="Archive"/>
                  <a:ea typeface="Archive"/>
                  <a:cs typeface="Archive"/>
                  <a:sym typeface="Archive"/>
                </a:rPr>
                <a:t>users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854521" y="3111044"/>
            <a:ext cx="3566753" cy="410822"/>
            <a:chOff x="0" y="0"/>
            <a:chExt cx="4755670" cy="54776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55670" cy="547762"/>
            </a:xfrm>
            <a:custGeom>
              <a:avLst/>
              <a:gdLst/>
              <a:ahLst/>
              <a:cxnLst/>
              <a:rect r="r" b="b" t="t" l="l"/>
              <a:pathLst>
                <a:path h="547762" w="4755670">
                  <a:moveTo>
                    <a:pt x="0" y="0"/>
                  </a:moveTo>
                  <a:lnTo>
                    <a:pt x="4755670" y="0"/>
                  </a:lnTo>
                  <a:lnTo>
                    <a:pt x="4755670" y="547762"/>
                  </a:lnTo>
                  <a:lnTo>
                    <a:pt x="0" y="54776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65604" r="-82661" b="-25241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4755670" cy="547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ข้อมูลผู้ใช้และสิทธิ์การใช้งาน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854521" y="3982428"/>
            <a:ext cx="2646233" cy="425044"/>
            <a:chOff x="0" y="0"/>
            <a:chExt cx="3528311" cy="5667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528311" cy="566725"/>
            </a:xfrm>
            <a:custGeom>
              <a:avLst/>
              <a:gdLst/>
              <a:ahLst/>
              <a:cxnLst/>
              <a:rect r="r" b="b" t="t" l="l"/>
              <a:pathLst>
                <a:path h="566725" w="3528311">
                  <a:moveTo>
                    <a:pt x="0" y="0"/>
                  </a:moveTo>
                  <a:lnTo>
                    <a:pt x="3528311" y="0"/>
                  </a:lnTo>
                  <a:lnTo>
                    <a:pt x="3528311" y="566725"/>
                  </a:lnTo>
                  <a:lnTo>
                    <a:pt x="0" y="56672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0346" r="-143611" b="-24070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3528311" cy="5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2024"/>
                  </a:solidFill>
                  <a:latin typeface="Archive"/>
                  <a:ea typeface="Archive"/>
                  <a:cs typeface="Archive"/>
                  <a:sym typeface="Archive"/>
                </a:rPr>
                <a:t>resumes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854521" y="4491122"/>
            <a:ext cx="5115650" cy="410822"/>
            <a:chOff x="0" y="0"/>
            <a:chExt cx="6820867" cy="54776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20867" cy="547762"/>
            </a:xfrm>
            <a:custGeom>
              <a:avLst/>
              <a:gdLst/>
              <a:ahLst/>
              <a:cxnLst/>
              <a:rect r="r" b="b" t="t" l="l"/>
              <a:pathLst>
                <a:path h="547762" w="6820867">
                  <a:moveTo>
                    <a:pt x="0" y="0"/>
                  </a:moveTo>
                  <a:lnTo>
                    <a:pt x="6820867" y="0"/>
                  </a:lnTo>
                  <a:lnTo>
                    <a:pt x="6820867" y="547762"/>
                  </a:lnTo>
                  <a:lnTo>
                    <a:pt x="0" y="54776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65604" r="-27356" b="-25241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6820867" cy="547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เนื้อหาเรซูเม่ เทมเพลต และสถานะเผยแพร่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11621" y="5345299"/>
            <a:ext cx="7026819" cy="1246428"/>
            <a:chOff x="0" y="0"/>
            <a:chExt cx="1265946" cy="22455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65946" cy="224555"/>
            </a:xfrm>
            <a:custGeom>
              <a:avLst/>
              <a:gdLst/>
              <a:ahLst/>
              <a:cxnLst/>
              <a:rect r="r" b="b" t="t" l="l"/>
              <a:pathLst>
                <a:path h="224555" w="1265946">
                  <a:moveTo>
                    <a:pt x="16527" y="0"/>
                  </a:moveTo>
                  <a:lnTo>
                    <a:pt x="1249419" y="0"/>
                  </a:lnTo>
                  <a:cubicBezTo>
                    <a:pt x="1258547" y="0"/>
                    <a:pt x="1265946" y="7399"/>
                    <a:pt x="1265946" y="16527"/>
                  </a:cubicBezTo>
                  <a:lnTo>
                    <a:pt x="1265946" y="208029"/>
                  </a:lnTo>
                  <a:cubicBezTo>
                    <a:pt x="1265946" y="217156"/>
                    <a:pt x="1258547" y="224555"/>
                    <a:pt x="1249419" y="224555"/>
                  </a:cubicBezTo>
                  <a:lnTo>
                    <a:pt x="16527" y="224555"/>
                  </a:lnTo>
                  <a:cubicBezTo>
                    <a:pt x="7399" y="224555"/>
                    <a:pt x="0" y="217156"/>
                    <a:pt x="0" y="208029"/>
                  </a:cubicBezTo>
                  <a:lnTo>
                    <a:pt x="0" y="16527"/>
                  </a:lnTo>
                  <a:cubicBezTo>
                    <a:pt x="0" y="7399"/>
                    <a:pt x="7399" y="0"/>
                    <a:pt x="1652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FF751F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265946" cy="25313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854521" y="5550580"/>
            <a:ext cx="3170510" cy="425044"/>
            <a:chOff x="0" y="0"/>
            <a:chExt cx="4227346" cy="56672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27346" cy="566725"/>
            </a:xfrm>
            <a:custGeom>
              <a:avLst/>
              <a:gdLst/>
              <a:ahLst/>
              <a:cxnLst/>
              <a:rect r="r" b="b" t="t" l="l"/>
              <a:pathLst>
                <a:path h="566725" w="4227346">
                  <a:moveTo>
                    <a:pt x="0" y="0"/>
                  </a:moveTo>
                  <a:lnTo>
                    <a:pt x="4227346" y="0"/>
                  </a:lnTo>
                  <a:lnTo>
                    <a:pt x="4227346" y="566725"/>
                  </a:lnTo>
                  <a:lnTo>
                    <a:pt x="0" y="56672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0346" r="-103327" b="-24070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227346" cy="5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2024"/>
                  </a:solidFill>
                  <a:latin typeface="Archive"/>
                  <a:ea typeface="Archive"/>
                  <a:cs typeface="Archive"/>
                  <a:sym typeface="Archive"/>
                </a:rPr>
                <a:t>resume_versions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854521" y="5975624"/>
            <a:ext cx="5115650" cy="410822"/>
            <a:chOff x="0" y="0"/>
            <a:chExt cx="6820867" cy="54776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820867" cy="547762"/>
            </a:xfrm>
            <a:custGeom>
              <a:avLst/>
              <a:gdLst/>
              <a:ahLst/>
              <a:cxnLst/>
              <a:rect r="r" b="b" t="t" l="l"/>
              <a:pathLst>
                <a:path h="547762" w="6820867">
                  <a:moveTo>
                    <a:pt x="0" y="0"/>
                  </a:moveTo>
                  <a:lnTo>
                    <a:pt x="6820867" y="0"/>
                  </a:lnTo>
                  <a:lnTo>
                    <a:pt x="6820867" y="547762"/>
                  </a:lnTo>
                  <a:lnTo>
                    <a:pt x="0" y="54776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65604" r="-27356" b="-25241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6820867" cy="547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ประวัติย้อนหลังของเอกสาร (Snapshot)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854521" y="7039402"/>
            <a:ext cx="2646233" cy="425044"/>
            <a:chOff x="0" y="0"/>
            <a:chExt cx="3528311" cy="56672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528311" cy="566725"/>
            </a:xfrm>
            <a:custGeom>
              <a:avLst/>
              <a:gdLst/>
              <a:ahLst/>
              <a:cxnLst/>
              <a:rect r="r" b="b" t="t" l="l"/>
              <a:pathLst>
                <a:path h="566725" w="3528311">
                  <a:moveTo>
                    <a:pt x="0" y="0"/>
                  </a:moveTo>
                  <a:lnTo>
                    <a:pt x="3528311" y="0"/>
                  </a:lnTo>
                  <a:lnTo>
                    <a:pt x="3528311" y="566725"/>
                  </a:lnTo>
                  <a:lnTo>
                    <a:pt x="0" y="56672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0346" r="-143611" b="-24070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528311" cy="5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2024"/>
                  </a:solidFill>
                  <a:latin typeface="Archive"/>
                  <a:ea typeface="Archive"/>
                  <a:cs typeface="Archive"/>
                  <a:sym typeface="Archive"/>
                </a:rPr>
                <a:t>rate_limits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854521" y="7433797"/>
            <a:ext cx="4377479" cy="410822"/>
            <a:chOff x="0" y="0"/>
            <a:chExt cx="5836639" cy="54776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836639" cy="547762"/>
            </a:xfrm>
            <a:custGeom>
              <a:avLst/>
              <a:gdLst/>
              <a:ahLst/>
              <a:cxnLst/>
              <a:rect r="r" b="b" t="t" l="l"/>
              <a:pathLst>
                <a:path h="547762" w="5836639">
                  <a:moveTo>
                    <a:pt x="0" y="0"/>
                  </a:moveTo>
                  <a:lnTo>
                    <a:pt x="5836639" y="0"/>
                  </a:lnTo>
                  <a:lnTo>
                    <a:pt x="5836639" y="547762"/>
                  </a:lnTo>
                  <a:lnTo>
                    <a:pt x="0" y="54776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65604" r="-48832" b="-25241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5836639" cy="547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ควบคุมอัตราการเรียกใช้ฟังก์ชัน AI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514706" y="2412756"/>
            <a:ext cx="7907249" cy="2247516"/>
            <a:chOff x="0" y="0"/>
            <a:chExt cx="1618498" cy="46003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618498" cy="460034"/>
            </a:xfrm>
            <a:custGeom>
              <a:avLst/>
              <a:gdLst/>
              <a:ahLst/>
              <a:cxnLst/>
              <a:rect r="r" b="b" t="t" l="l"/>
              <a:pathLst>
                <a:path h="460034" w="1618498">
                  <a:moveTo>
                    <a:pt x="14686" y="0"/>
                  </a:moveTo>
                  <a:lnTo>
                    <a:pt x="1603812" y="0"/>
                  </a:lnTo>
                  <a:cubicBezTo>
                    <a:pt x="1607707" y="0"/>
                    <a:pt x="1611443" y="1547"/>
                    <a:pt x="1614197" y="4302"/>
                  </a:cubicBezTo>
                  <a:cubicBezTo>
                    <a:pt x="1616951" y="7056"/>
                    <a:pt x="1618498" y="10791"/>
                    <a:pt x="1618498" y="14686"/>
                  </a:cubicBezTo>
                  <a:lnTo>
                    <a:pt x="1618498" y="445347"/>
                  </a:lnTo>
                  <a:cubicBezTo>
                    <a:pt x="1618498" y="449242"/>
                    <a:pt x="1616951" y="452978"/>
                    <a:pt x="1614197" y="455732"/>
                  </a:cubicBezTo>
                  <a:cubicBezTo>
                    <a:pt x="1611443" y="458486"/>
                    <a:pt x="1607707" y="460034"/>
                    <a:pt x="1603812" y="460034"/>
                  </a:cubicBezTo>
                  <a:lnTo>
                    <a:pt x="14686" y="460034"/>
                  </a:lnTo>
                  <a:cubicBezTo>
                    <a:pt x="10791" y="460034"/>
                    <a:pt x="7056" y="458486"/>
                    <a:pt x="4302" y="455732"/>
                  </a:cubicBezTo>
                  <a:cubicBezTo>
                    <a:pt x="1547" y="452978"/>
                    <a:pt x="0" y="449242"/>
                    <a:pt x="0" y="445347"/>
                  </a:cubicBezTo>
                  <a:lnTo>
                    <a:pt x="0" y="14686"/>
                  </a:lnTo>
                  <a:cubicBezTo>
                    <a:pt x="0" y="10791"/>
                    <a:pt x="1547" y="7056"/>
                    <a:pt x="4302" y="4302"/>
                  </a:cubicBezTo>
                  <a:cubicBezTo>
                    <a:pt x="7056" y="1547"/>
                    <a:pt x="10791" y="0"/>
                    <a:pt x="14686" y="0"/>
                  </a:cubicBezTo>
                  <a:close/>
                </a:path>
              </a:pathLst>
            </a:custGeom>
            <a:solidFill>
              <a:srgbClr val="FFF3E8"/>
            </a:solidFill>
            <a:ln w="38100" cap="sq">
              <a:solidFill>
                <a:srgbClr val="FF751F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618498" cy="488609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24436" y="1821552"/>
            <a:ext cx="6309360" cy="547762"/>
            <a:chOff x="0" y="0"/>
            <a:chExt cx="8412480" cy="73034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412480" cy="730349"/>
            </a:xfrm>
            <a:custGeom>
              <a:avLst/>
              <a:gdLst/>
              <a:ahLst/>
              <a:cxnLst/>
              <a:rect r="r" b="b" t="t" l="l"/>
              <a:pathLst>
                <a:path h="730349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0349"/>
                  </a:lnTo>
                  <a:lnTo>
                    <a:pt x="0" y="73034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6877" r="0" b="-16199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8412480" cy="7303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2024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แนวคิดก</a:t>
              </a:r>
              <a:r>
                <a:rPr lang="en-US" sz="2799" b="true">
                  <a:solidFill>
                    <a:srgbClr val="1F2024"/>
                  </a:solidFill>
                  <a:latin typeface="Canva Sans 2 Bold"/>
                  <a:ea typeface="Canva Sans 2 Bold"/>
                  <a:cs typeface="Canva Sans 2 Bold"/>
                  <a:sym typeface="Canva Sans 2 Bold"/>
                </a:rPr>
                <a:t>ารออกแบบที่สำคัญ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722726" y="2630925"/>
            <a:ext cx="3154680" cy="425044"/>
            <a:chOff x="0" y="0"/>
            <a:chExt cx="4206240" cy="56672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06240" cy="566725"/>
            </a:xfrm>
            <a:custGeom>
              <a:avLst/>
              <a:gdLst/>
              <a:ahLst/>
              <a:cxnLst/>
              <a:rect r="r" b="b" t="t" l="l"/>
              <a:pathLst>
                <a:path h="566725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566725"/>
                  </a:lnTo>
                  <a:lnTo>
                    <a:pt x="0" y="56672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0080" r="-145652" b="-30043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4206240" cy="5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2024"/>
                  </a:solidFill>
                  <a:latin typeface="Archive"/>
                  <a:ea typeface="Archive"/>
                  <a:cs typeface="Archive"/>
                  <a:sym typeface="Archive"/>
                </a:rPr>
                <a:t>จัดเก็บแบบ JSONB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776443" y="3199507"/>
            <a:ext cx="7493505" cy="1138704"/>
            <a:chOff x="0" y="0"/>
            <a:chExt cx="9991340" cy="15182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991340" cy="1518271"/>
            </a:xfrm>
            <a:custGeom>
              <a:avLst/>
              <a:gdLst/>
              <a:ahLst/>
              <a:cxnLst/>
              <a:rect r="r" b="b" t="t" l="l"/>
              <a:pathLst>
                <a:path h="1518271" w="9991340">
                  <a:moveTo>
                    <a:pt x="0" y="0"/>
                  </a:moveTo>
                  <a:lnTo>
                    <a:pt x="9991340" y="0"/>
                  </a:lnTo>
                  <a:lnTo>
                    <a:pt x="9991340" y="1518271"/>
                  </a:lnTo>
                  <a:lnTo>
                    <a:pt x="0" y="151827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5266" r="-3416" b="-6994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9991340" cy="15468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3"/>
                </a:lnSpc>
              </a:pPr>
              <a:r>
                <a:rPr lang="en-US" sz="2100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เรซูเม่มีโครงสร้างยืดหยุ่นและซ้อนกันหลายชั้น การเก็บเป็นก้อน JSONB เดียวลดการ Join หลายตารางและแก้ไขโครงสร้างได้โดยไม่ต้องย้ายฐานข้อมูล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722726" y="5168403"/>
            <a:ext cx="4269463" cy="425044"/>
            <a:chOff x="0" y="0"/>
            <a:chExt cx="5692617" cy="56672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692617" cy="566725"/>
            </a:xfrm>
            <a:custGeom>
              <a:avLst/>
              <a:gdLst/>
              <a:ahLst/>
              <a:cxnLst/>
              <a:rect r="r" b="b" t="t" l="l"/>
              <a:pathLst>
                <a:path h="566725" w="5692617">
                  <a:moveTo>
                    <a:pt x="0" y="0"/>
                  </a:moveTo>
                  <a:lnTo>
                    <a:pt x="5692617" y="0"/>
                  </a:lnTo>
                  <a:lnTo>
                    <a:pt x="5692617" y="566725"/>
                  </a:lnTo>
                  <a:lnTo>
                    <a:pt x="0" y="56672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0080" r="-81510" b="-30043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5692617" cy="5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2024"/>
                  </a:solidFill>
                  <a:latin typeface="Archive"/>
                  <a:ea typeface="Archive"/>
                  <a:cs typeface="Archive"/>
                  <a:sym typeface="Archive"/>
                </a:rPr>
                <a:t>Row Level Security (RLS)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722726" y="5736322"/>
            <a:ext cx="6505940" cy="850392"/>
            <a:chOff x="0" y="0"/>
            <a:chExt cx="8674587" cy="113385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674587" cy="1133856"/>
            </a:xfrm>
            <a:custGeom>
              <a:avLst/>
              <a:gdLst/>
              <a:ahLst/>
              <a:cxnLst/>
              <a:rect r="r" b="b" t="t" l="l"/>
              <a:pathLst>
                <a:path h="1133856" w="8674587">
                  <a:moveTo>
                    <a:pt x="0" y="0"/>
                  </a:moveTo>
                  <a:lnTo>
                    <a:pt x="8674587" y="0"/>
                  </a:lnTo>
                  <a:lnTo>
                    <a:pt x="8674587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7565" r="-19114" b="-12756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8674587" cy="11624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3"/>
                </a:lnSpc>
              </a:pPr>
              <a:r>
                <a:rPr lang="en-US" sz="2100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กำหนดนโยบายความปลอดภัยระดับแถว ผู้ใช้เข้าถึงได้เฉพาะเอกสารของตนเองเท่านั้น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776443" y="7482687"/>
            <a:ext cx="3626541" cy="425044"/>
            <a:chOff x="0" y="0"/>
            <a:chExt cx="4835389" cy="56672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835389" cy="566725"/>
            </a:xfrm>
            <a:custGeom>
              <a:avLst/>
              <a:gdLst/>
              <a:ahLst/>
              <a:cxnLst/>
              <a:rect r="r" b="b" t="t" l="l"/>
              <a:pathLst>
                <a:path h="566725" w="4835389">
                  <a:moveTo>
                    <a:pt x="0" y="0"/>
                  </a:moveTo>
                  <a:lnTo>
                    <a:pt x="4835389" y="0"/>
                  </a:lnTo>
                  <a:lnTo>
                    <a:pt x="4835389" y="566725"/>
                  </a:lnTo>
                  <a:lnTo>
                    <a:pt x="0" y="56672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0080" r="-113689" b="-30043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4835389" cy="566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2024"/>
                  </a:solidFill>
                  <a:latin typeface="Archive"/>
                  <a:ea typeface="Archive"/>
                  <a:cs typeface="Archive"/>
                  <a:sym typeface="Archive"/>
                </a:rPr>
                <a:t>เก็บเวอร์ชันย้อนหลัง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812655" y="8050606"/>
            <a:ext cx="7355650" cy="879554"/>
            <a:chOff x="0" y="0"/>
            <a:chExt cx="9807533" cy="117273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807533" cy="1172739"/>
            </a:xfrm>
            <a:custGeom>
              <a:avLst/>
              <a:gdLst/>
              <a:ahLst/>
              <a:cxnLst/>
              <a:rect r="r" b="b" t="t" l="l"/>
              <a:pathLst>
                <a:path h="1172739" w="9807533">
                  <a:moveTo>
                    <a:pt x="0" y="0"/>
                  </a:moveTo>
                  <a:lnTo>
                    <a:pt x="9807533" y="0"/>
                  </a:lnTo>
                  <a:lnTo>
                    <a:pt x="9807533" y="1172739"/>
                  </a:lnTo>
                  <a:lnTo>
                    <a:pt x="0" y="117273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3335" r="-5354" b="-12002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9807533" cy="1201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2"/>
                </a:lnSpc>
              </a:pPr>
              <a:r>
                <a:rPr lang="en-US" sz="2400">
                  <a:solidFill>
                    <a:srgbClr val="1F2024"/>
                  </a:solidFill>
                  <a:latin typeface="Canva Sans 2"/>
                  <a:ea typeface="Canva Sans 2"/>
                  <a:cs typeface="Canva Sans 2"/>
                  <a:sym typeface="Canva Sans 2"/>
                </a:rPr>
                <a:t>รองรับการติดตามการเปลี่ยนแปลงและกู้คืนเอกสารเวอร์ชันก่อนหน้า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28977"/>
            <a:ext cx="9012172" cy="9617464"/>
          </a:xfrm>
          <a:custGeom>
            <a:avLst/>
            <a:gdLst/>
            <a:ahLst/>
            <a:cxnLst/>
            <a:rect r="r" b="b" t="t" l="l"/>
            <a:pathLst>
              <a:path h="9617464" w="9012172">
                <a:moveTo>
                  <a:pt x="0" y="0"/>
                </a:moveTo>
                <a:lnTo>
                  <a:pt x="9012172" y="0"/>
                </a:lnTo>
                <a:lnTo>
                  <a:pt x="9012172" y="9617464"/>
                </a:lnTo>
                <a:lnTo>
                  <a:pt x="0" y="9617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7638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25" t="0" r="-725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588625" y="2025189"/>
            <a:ext cx="6469698" cy="1680923"/>
            <a:chOff x="0" y="0"/>
            <a:chExt cx="1265946" cy="3289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65946" cy="328911"/>
            </a:xfrm>
            <a:custGeom>
              <a:avLst/>
              <a:gdLst/>
              <a:ahLst/>
              <a:cxnLst/>
              <a:rect r="r" b="b" t="t" l="l"/>
              <a:pathLst>
                <a:path h="328911" w="1265946">
                  <a:moveTo>
                    <a:pt x="17950" y="0"/>
                  </a:moveTo>
                  <a:lnTo>
                    <a:pt x="1247996" y="0"/>
                  </a:lnTo>
                  <a:cubicBezTo>
                    <a:pt x="1257909" y="0"/>
                    <a:pt x="1265946" y="8036"/>
                    <a:pt x="1265946" y="17950"/>
                  </a:cubicBezTo>
                  <a:lnTo>
                    <a:pt x="1265946" y="310962"/>
                  </a:lnTo>
                  <a:cubicBezTo>
                    <a:pt x="1265946" y="315722"/>
                    <a:pt x="1264055" y="320288"/>
                    <a:pt x="1260688" y="323654"/>
                  </a:cubicBezTo>
                  <a:cubicBezTo>
                    <a:pt x="1257322" y="327020"/>
                    <a:pt x="1252757" y="328911"/>
                    <a:pt x="1247996" y="328911"/>
                  </a:cubicBezTo>
                  <a:lnTo>
                    <a:pt x="17950" y="328911"/>
                  </a:lnTo>
                  <a:cubicBezTo>
                    <a:pt x="13189" y="328911"/>
                    <a:pt x="8624" y="327020"/>
                    <a:pt x="5257" y="323654"/>
                  </a:cubicBezTo>
                  <a:cubicBezTo>
                    <a:pt x="1891" y="320288"/>
                    <a:pt x="0" y="315722"/>
                    <a:pt x="0" y="310962"/>
                  </a:cubicBezTo>
                  <a:lnTo>
                    <a:pt x="0" y="17950"/>
                  </a:lnTo>
                  <a:cubicBezTo>
                    <a:pt x="0" y="13189"/>
                    <a:pt x="1891" y="8624"/>
                    <a:pt x="5257" y="5257"/>
                  </a:cubicBezTo>
                  <a:cubicBezTo>
                    <a:pt x="8624" y="1891"/>
                    <a:pt x="13189" y="0"/>
                    <a:pt x="1795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sq">
              <a:solidFill>
                <a:srgbClr val="FF751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265946" cy="357486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88625" y="3850501"/>
            <a:ext cx="6469698" cy="1680923"/>
            <a:chOff x="0" y="0"/>
            <a:chExt cx="1265946" cy="3289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65946" cy="328911"/>
            </a:xfrm>
            <a:custGeom>
              <a:avLst/>
              <a:gdLst/>
              <a:ahLst/>
              <a:cxnLst/>
              <a:rect r="r" b="b" t="t" l="l"/>
              <a:pathLst>
                <a:path h="328911" w="1265946">
                  <a:moveTo>
                    <a:pt x="17950" y="0"/>
                  </a:moveTo>
                  <a:lnTo>
                    <a:pt x="1247996" y="0"/>
                  </a:lnTo>
                  <a:cubicBezTo>
                    <a:pt x="1257909" y="0"/>
                    <a:pt x="1265946" y="8036"/>
                    <a:pt x="1265946" y="17950"/>
                  </a:cubicBezTo>
                  <a:lnTo>
                    <a:pt x="1265946" y="310962"/>
                  </a:lnTo>
                  <a:cubicBezTo>
                    <a:pt x="1265946" y="315722"/>
                    <a:pt x="1264055" y="320288"/>
                    <a:pt x="1260688" y="323654"/>
                  </a:cubicBezTo>
                  <a:cubicBezTo>
                    <a:pt x="1257322" y="327020"/>
                    <a:pt x="1252757" y="328911"/>
                    <a:pt x="1247996" y="328911"/>
                  </a:cubicBezTo>
                  <a:lnTo>
                    <a:pt x="17950" y="328911"/>
                  </a:lnTo>
                  <a:cubicBezTo>
                    <a:pt x="13189" y="328911"/>
                    <a:pt x="8624" y="327020"/>
                    <a:pt x="5257" y="323654"/>
                  </a:cubicBezTo>
                  <a:cubicBezTo>
                    <a:pt x="1891" y="320288"/>
                    <a:pt x="0" y="315722"/>
                    <a:pt x="0" y="310962"/>
                  </a:cubicBezTo>
                  <a:lnTo>
                    <a:pt x="0" y="17950"/>
                  </a:lnTo>
                  <a:cubicBezTo>
                    <a:pt x="0" y="13189"/>
                    <a:pt x="1891" y="8624"/>
                    <a:pt x="5257" y="5257"/>
                  </a:cubicBezTo>
                  <a:cubicBezTo>
                    <a:pt x="8624" y="1891"/>
                    <a:pt x="13189" y="0"/>
                    <a:pt x="1795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sq">
              <a:solidFill>
                <a:srgbClr val="FF751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265946" cy="357486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88625" y="5675812"/>
            <a:ext cx="6469698" cy="1680923"/>
            <a:chOff x="0" y="0"/>
            <a:chExt cx="1265946" cy="3289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65946" cy="328911"/>
            </a:xfrm>
            <a:custGeom>
              <a:avLst/>
              <a:gdLst/>
              <a:ahLst/>
              <a:cxnLst/>
              <a:rect r="r" b="b" t="t" l="l"/>
              <a:pathLst>
                <a:path h="328911" w="1265946">
                  <a:moveTo>
                    <a:pt x="17950" y="0"/>
                  </a:moveTo>
                  <a:lnTo>
                    <a:pt x="1247996" y="0"/>
                  </a:lnTo>
                  <a:cubicBezTo>
                    <a:pt x="1257909" y="0"/>
                    <a:pt x="1265946" y="8036"/>
                    <a:pt x="1265946" y="17950"/>
                  </a:cubicBezTo>
                  <a:lnTo>
                    <a:pt x="1265946" y="310962"/>
                  </a:lnTo>
                  <a:cubicBezTo>
                    <a:pt x="1265946" y="315722"/>
                    <a:pt x="1264055" y="320288"/>
                    <a:pt x="1260688" y="323654"/>
                  </a:cubicBezTo>
                  <a:cubicBezTo>
                    <a:pt x="1257322" y="327020"/>
                    <a:pt x="1252757" y="328911"/>
                    <a:pt x="1247996" y="328911"/>
                  </a:cubicBezTo>
                  <a:lnTo>
                    <a:pt x="17950" y="328911"/>
                  </a:lnTo>
                  <a:cubicBezTo>
                    <a:pt x="13189" y="328911"/>
                    <a:pt x="8624" y="327020"/>
                    <a:pt x="5257" y="323654"/>
                  </a:cubicBezTo>
                  <a:cubicBezTo>
                    <a:pt x="1891" y="320288"/>
                    <a:pt x="0" y="315722"/>
                    <a:pt x="0" y="310962"/>
                  </a:cubicBezTo>
                  <a:lnTo>
                    <a:pt x="0" y="17950"/>
                  </a:lnTo>
                  <a:cubicBezTo>
                    <a:pt x="0" y="13189"/>
                    <a:pt x="1891" y="8624"/>
                    <a:pt x="5257" y="5257"/>
                  </a:cubicBezTo>
                  <a:cubicBezTo>
                    <a:pt x="8624" y="1891"/>
                    <a:pt x="13189" y="0"/>
                    <a:pt x="1795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sq">
              <a:solidFill>
                <a:srgbClr val="FF751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265946" cy="357486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88625" y="7501124"/>
            <a:ext cx="6469698" cy="1680923"/>
            <a:chOff x="0" y="0"/>
            <a:chExt cx="1265946" cy="3289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65946" cy="328911"/>
            </a:xfrm>
            <a:custGeom>
              <a:avLst/>
              <a:gdLst/>
              <a:ahLst/>
              <a:cxnLst/>
              <a:rect r="r" b="b" t="t" l="l"/>
              <a:pathLst>
                <a:path h="328911" w="1265946">
                  <a:moveTo>
                    <a:pt x="17950" y="0"/>
                  </a:moveTo>
                  <a:lnTo>
                    <a:pt x="1247996" y="0"/>
                  </a:lnTo>
                  <a:cubicBezTo>
                    <a:pt x="1257909" y="0"/>
                    <a:pt x="1265946" y="8036"/>
                    <a:pt x="1265946" y="17950"/>
                  </a:cubicBezTo>
                  <a:lnTo>
                    <a:pt x="1265946" y="310962"/>
                  </a:lnTo>
                  <a:cubicBezTo>
                    <a:pt x="1265946" y="315722"/>
                    <a:pt x="1264055" y="320288"/>
                    <a:pt x="1260688" y="323654"/>
                  </a:cubicBezTo>
                  <a:cubicBezTo>
                    <a:pt x="1257322" y="327020"/>
                    <a:pt x="1252757" y="328911"/>
                    <a:pt x="1247996" y="328911"/>
                  </a:cubicBezTo>
                  <a:lnTo>
                    <a:pt x="17950" y="328911"/>
                  </a:lnTo>
                  <a:cubicBezTo>
                    <a:pt x="13189" y="328911"/>
                    <a:pt x="8624" y="327020"/>
                    <a:pt x="5257" y="323654"/>
                  </a:cubicBezTo>
                  <a:cubicBezTo>
                    <a:pt x="1891" y="320288"/>
                    <a:pt x="0" y="315722"/>
                    <a:pt x="0" y="310962"/>
                  </a:cubicBezTo>
                  <a:lnTo>
                    <a:pt x="0" y="17950"/>
                  </a:lnTo>
                  <a:cubicBezTo>
                    <a:pt x="0" y="13189"/>
                    <a:pt x="1891" y="8624"/>
                    <a:pt x="5257" y="5257"/>
                  </a:cubicBezTo>
                  <a:cubicBezTo>
                    <a:pt x="8624" y="1891"/>
                    <a:pt x="13189" y="0"/>
                    <a:pt x="1795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8100" cap="sq">
              <a:solidFill>
                <a:srgbClr val="FF751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1265946" cy="357486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9395991" y="1023159"/>
            <a:ext cx="5536406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SYSTEM IN ACTION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35801" y="722169"/>
            <a:ext cx="337214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หน้าจ</a:t>
            </a: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อการทำงานของระบบ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72680" y="2192305"/>
            <a:ext cx="319623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Live Preview แ</a:t>
            </a:r>
            <a:r>
              <a:rPr lang="en-US" b="true" sz="21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บบเรียลไทม์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63971" y="4018805"/>
            <a:ext cx="286494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เทมเพลตและสีธีมที่ปรับได้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74678" y="5844116"/>
            <a:ext cx="327719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ตัด</a:t>
            </a:r>
            <a:r>
              <a:rPr lang="en-US" b="true" sz="21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พื้นหลังรูปโปรไฟล์อัตโนมัติ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65219" y="7669428"/>
            <a:ext cx="291331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ส่</a:t>
            </a:r>
            <a:r>
              <a:rPr lang="en-US" b="true" sz="21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งออกเป็น PDF ขนาด A4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74088" y="2702142"/>
            <a:ext cx="559110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ผู้ใช้เห็น</a:t>
            </a:r>
            <a:r>
              <a:rPr lang="en-US" sz="2100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เอกสารเปลี่ยนแปลงทันทีขณะกรอกข้อมูล โดยไม่ต้องกดบันทึกหรือสร้างไฟล์ใหม่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74088" y="4532716"/>
            <a:ext cx="559110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เลือกรูปแบบ</a:t>
            </a:r>
            <a:r>
              <a:rPr lang="en-US" sz="2100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เอกสารและปรับสีให้เหมาะกับสายอาชีพของผู้สมัคร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74088" y="6358027"/>
            <a:ext cx="559110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อัปโหลดรูป</a:t>
            </a:r>
            <a:r>
              <a:rPr lang="en-US" sz="2100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แล้วระบบประมวลผลภาพและนำกลับมาแสดงบนเทมเพลตทันที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74088" y="8183339"/>
            <a:ext cx="559110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ระบบคำนวณ</a:t>
            </a:r>
            <a:r>
              <a:rPr lang="en-US" sz="2100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ระยะขอบและจัดหน้าอัตโนมัติ พร้อมนำไปใช้สมัครงานได้ทันที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7538894" y="9666412"/>
            <a:ext cx="506208" cy="506208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84540" y="2273726"/>
            <a:ext cx="15766018" cy="7006323"/>
            <a:chOff x="0" y="0"/>
            <a:chExt cx="20114514" cy="89387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4513" cy="8938768"/>
            </a:xfrm>
            <a:custGeom>
              <a:avLst/>
              <a:gdLst/>
              <a:ahLst/>
              <a:cxnLst/>
              <a:rect r="r" b="b" t="t" l="l"/>
              <a:pathLst>
                <a:path h="8938768" w="20114513">
                  <a:moveTo>
                    <a:pt x="0" y="220726"/>
                  </a:moveTo>
                  <a:cubicBezTo>
                    <a:pt x="0" y="98806"/>
                    <a:pt x="193103" y="0"/>
                    <a:pt x="431380" y="0"/>
                  </a:cubicBezTo>
                  <a:lnTo>
                    <a:pt x="19683135" y="0"/>
                  </a:lnTo>
                  <a:cubicBezTo>
                    <a:pt x="19921410" y="0"/>
                    <a:pt x="20114513" y="98806"/>
                    <a:pt x="20114513" y="220726"/>
                  </a:cubicBezTo>
                  <a:lnTo>
                    <a:pt x="20114513" y="8718042"/>
                  </a:lnTo>
                  <a:cubicBezTo>
                    <a:pt x="20114513" y="8839962"/>
                    <a:pt x="19921410" y="8938768"/>
                    <a:pt x="19683135" y="8938768"/>
                  </a:cubicBezTo>
                  <a:lnTo>
                    <a:pt x="431380" y="8938768"/>
                  </a:lnTo>
                  <a:cubicBezTo>
                    <a:pt x="193103" y="8938768"/>
                    <a:pt x="0" y="8839962"/>
                    <a:pt x="0" y="8718042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-15325"/>
              </a:stretch>
            </a:blipFill>
            <a:ln cap="sq">
              <a:noFill/>
              <a:prstDash val="dash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913334"/>
            <a:ext cx="645890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SYSTEM IN ACTION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1613" y="621869"/>
            <a:ext cx="337220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หน้าจ</a:t>
            </a: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อการทำงานของระบบ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25" t="0" r="-725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84540" y="2273726"/>
            <a:ext cx="15766018" cy="7006323"/>
            <a:chOff x="0" y="0"/>
            <a:chExt cx="20114514" cy="89387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4513" cy="8938768"/>
            </a:xfrm>
            <a:custGeom>
              <a:avLst/>
              <a:gdLst/>
              <a:ahLst/>
              <a:cxnLst/>
              <a:rect r="r" b="b" t="t" l="l"/>
              <a:pathLst>
                <a:path h="8938768" w="20114513">
                  <a:moveTo>
                    <a:pt x="0" y="220726"/>
                  </a:moveTo>
                  <a:cubicBezTo>
                    <a:pt x="0" y="98806"/>
                    <a:pt x="193103" y="0"/>
                    <a:pt x="431380" y="0"/>
                  </a:cubicBezTo>
                  <a:lnTo>
                    <a:pt x="19683135" y="0"/>
                  </a:lnTo>
                  <a:cubicBezTo>
                    <a:pt x="19921410" y="0"/>
                    <a:pt x="20114513" y="98806"/>
                    <a:pt x="20114513" y="220726"/>
                  </a:cubicBezTo>
                  <a:lnTo>
                    <a:pt x="20114513" y="8718042"/>
                  </a:lnTo>
                  <a:cubicBezTo>
                    <a:pt x="20114513" y="8839962"/>
                    <a:pt x="19921410" y="8938768"/>
                    <a:pt x="19683135" y="8938768"/>
                  </a:cubicBezTo>
                  <a:lnTo>
                    <a:pt x="431380" y="8938768"/>
                  </a:lnTo>
                  <a:cubicBezTo>
                    <a:pt x="193103" y="8938768"/>
                    <a:pt x="0" y="8839962"/>
                    <a:pt x="0" y="8718042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-15325"/>
              </a:stretch>
            </a:blipFill>
            <a:ln cap="sq">
              <a:noFill/>
              <a:prstDash val="dash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913334"/>
            <a:ext cx="645890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SYSTEM IN ACTION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1680" y="621869"/>
            <a:ext cx="337207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หน้าจ</a:t>
            </a: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อการทำงานของระบบ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25" t="0" r="-725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84540" y="2273726"/>
            <a:ext cx="15766018" cy="7006323"/>
            <a:chOff x="0" y="0"/>
            <a:chExt cx="20114514" cy="89387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4513" cy="8938768"/>
            </a:xfrm>
            <a:custGeom>
              <a:avLst/>
              <a:gdLst/>
              <a:ahLst/>
              <a:cxnLst/>
              <a:rect r="r" b="b" t="t" l="l"/>
              <a:pathLst>
                <a:path h="8938768" w="20114513">
                  <a:moveTo>
                    <a:pt x="0" y="220726"/>
                  </a:moveTo>
                  <a:cubicBezTo>
                    <a:pt x="0" y="98806"/>
                    <a:pt x="193103" y="0"/>
                    <a:pt x="431380" y="0"/>
                  </a:cubicBezTo>
                  <a:lnTo>
                    <a:pt x="19683135" y="0"/>
                  </a:lnTo>
                  <a:cubicBezTo>
                    <a:pt x="19921410" y="0"/>
                    <a:pt x="20114513" y="98806"/>
                    <a:pt x="20114513" y="220726"/>
                  </a:cubicBezTo>
                  <a:lnTo>
                    <a:pt x="20114513" y="8718042"/>
                  </a:lnTo>
                  <a:cubicBezTo>
                    <a:pt x="20114513" y="8839962"/>
                    <a:pt x="19921410" y="8938768"/>
                    <a:pt x="19683135" y="8938768"/>
                  </a:cubicBezTo>
                  <a:lnTo>
                    <a:pt x="431380" y="8938768"/>
                  </a:lnTo>
                  <a:cubicBezTo>
                    <a:pt x="193103" y="8938768"/>
                    <a:pt x="0" y="8839962"/>
                    <a:pt x="0" y="8718042"/>
                  </a:cubicBezTo>
                  <a:close/>
                </a:path>
              </a:pathLst>
            </a:custGeom>
            <a:blipFill>
              <a:blip r:embed="rId4"/>
              <a:stretch>
                <a:fillRect l="0" t="-7662" r="0" b="-7662"/>
              </a:stretch>
            </a:blipFill>
            <a:ln cap="sq">
              <a:noFill/>
              <a:prstDash val="dash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913334"/>
            <a:ext cx="645890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SYSTEM IN ACTION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1613" y="621869"/>
            <a:ext cx="337220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หน้าจ</a:t>
            </a: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อการทำงานของระบบ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25" t="0" r="-725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84540" y="2273726"/>
            <a:ext cx="15766018" cy="7006323"/>
            <a:chOff x="0" y="0"/>
            <a:chExt cx="20114514" cy="89387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114513" cy="8938768"/>
            </a:xfrm>
            <a:custGeom>
              <a:avLst/>
              <a:gdLst/>
              <a:ahLst/>
              <a:cxnLst/>
              <a:rect r="r" b="b" t="t" l="l"/>
              <a:pathLst>
                <a:path h="8938768" w="20114513">
                  <a:moveTo>
                    <a:pt x="0" y="220726"/>
                  </a:moveTo>
                  <a:cubicBezTo>
                    <a:pt x="0" y="98806"/>
                    <a:pt x="193103" y="0"/>
                    <a:pt x="431380" y="0"/>
                  </a:cubicBezTo>
                  <a:lnTo>
                    <a:pt x="19683135" y="0"/>
                  </a:lnTo>
                  <a:cubicBezTo>
                    <a:pt x="19921410" y="0"/>
                    <a:pt x="20114513" y="98806"/>
                    <a:pt x="20114513" y="220726"/>
                  </a:cubicBezTo>
                  <a:lnTo>
                    <a:pt x="20114513" y="8718042"/>
                  </a:lnTo>
                  <a:cubicBezTo>
                    <a:pt x="20114513" y="8839962"/>
                    <a:pt x="19921410" y="8938768"/>
                    <a:pt x="19683135" y="8938768"/>
                  </a:cubicBezTo>
                  <a:lnTo>
                    <a:pt x="431380" y="8938768"/>
                  </a:lnTo>
                  <a:cubicBezTo>
                    <a:pt x="193103" y="8938768"/>
                    <a:pt x="0" y="8839962"/>
                    <a:pt x="0" y="8718042"/>
                  </a:cubicBezTo>
                  <a:close/>
                </a:path>
              </a:pathLst>
            </a:custGeom>
            <a:blipFill>
              <a:blip r:embed="rId4"/>
              <a:stretch>
                <a:fillRect l="0" t="-7662" r="0" b="-7662"/>
              </a:stretch>
            </a:blipFill>
            <a:ln cap="sq">
              <a:noFill/>
              <a:prstDash val="dash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913334"/>
            <a:ext cx="645890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SYSTEM IN ACTION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1613" y="621869"/>
            <a:ext cx="3372207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หน้าจ</a:t>
            </a: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อการทำงานของระบบ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25" t="0" r="-725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5" t="0" r="-72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12625" y="1282065"/>
            <a:ext cx="5953244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TESTING METHOD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50795" y="990600"/>
            <a:ext cx="358973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วิธี</a:t>
            </a: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การทดสอบและประเมินผล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08494" y="3016250"/>
            <a:ext cx="3790063" cy="5095795"/>
            <a:chOff x="0" y="0"/>
            <a:chExt cx="5073650" cy="68215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73650" cy="6821597"/>
            </a:xfrm>
            <a:custGeom>
              <a:avLst/>
              <a:gdLst/>
              <a:ahLst/>
              <a:cxnLst/>
              <a:rect r="r" b="b" t="t" l="l"/>
              <a:pathLst>
                <a:path h="6821597" w="5073650">
                  <a:moveTo>
                    <a:pt x="0" y="312382"/>
                  </a:moveTo>
                  <a:cubicBezTo>
                    <a:pt x="0" y="139927"/>
                    <a:pt x="132207" y="0"/>
                    <a:pt x="295148" y="0"/>
                  </a:cubicBezTo>
                  <a:lnTo>
                    <a:pt x="4778502" y="0"/>
                  </a:lnTo>
                  <a:cubicBezTo>
                    <a:pt x="4941570" y="0"/>
                    <a:pt x="5073650" y="139927"/>
                    <a:pt x="5073650" y="312382"/>
                  </a:cubicBezTo>
                  <a:lnTo>
                    <a:pt x="5073650" y="6509215"/>
                  </a:lnTo>
                  <a:cubicBezTo>
                    <a:pt x="5073650" y="6681805"/>
                    <a:pt x="4941443" y="6821597"/>
                    <a:pt x="4778502" y="6821597"/>
                  </a:cubicBezTo>
                  <a:lnTo>
                    <a:pt x="295148" y="6821597"/>
                  </a:lnTo>
                  <a:cubicBezTo>
                    <a:pt x="132207" y="6821597"/>
                    <a:pt x="0" y="6681670"/>
                    <a:pt x="0" y="6509215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426915" y="3289666"/>
            <a:ext cx="3168396" cy="960239"/>
            <a:chOff x="0" y="0"/>
            <a:chExt cx="4224528" cy="128031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24528" cy="1280319"/>
            </a:xfrm>
            <a:custGeom>
              <a:avLst/>
              <a:gdLst/>
              <a:ahLst/>
              <a:cxnLst/>
              <a:rect r="r" b="b" t="t" l="l"/>
              <a:pathLst>
                <a:path h="1280319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1280319"/>
                  </a:lnTo>
                  <a:lnTo>
                    <a:pt x="0" y="128031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439" r="0" b="285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4224528" cy="12707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DBA74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01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26915" y="4297530"/>
            <a:ext cx="3168396" cy="873095"/>
            <a:chOff x="0" y="0"/>
            <a:chExt cx="4224528" cy="11641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24528" cy="1164127"/>
            </a:xfrm>
            <a:custGeom>
              <a:avLst/>
              <a:gdLst/>
              <a:ahLst/>
              <a:cxnLst/>
              <a:rect r="r" b="b" t="t" l="l"/>
              <a:pathLst>
                <a:path h="1164127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1164127"/>
                  </a:lnTo>
                  <a:lnTo>
                    <a:pt x="0" y="116412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009" r="0" b="-1940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4224528" cy="1173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5"/>
                </a:lnSpc>
              </a:pPr>
              <a:r>
                <a:rPr lang="en-US" sz="2400" b="true">
                  <a:solidFill>
                    <a:srgbClr val="1F2024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ความแม่นยำของโมเดล AI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26915" y="5216502"/>
            <a:ext cx="3168396" cy="987552"/>
            <a:chOff x="0" y="0"/>
            <a:chExt cx="4224528" cy="13167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224528" cy="1316736"/>
            </a:xfrm>
            <a:custGeom>
              <a:avLst/>
              <a:gdLst/>
              <a:ahLst/>
              <a:cxnLst/>
              <a:rect r="r" b="b" t="t" l="l"/>
              <a:pathLst>
                <a:path h="1316736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514" r="0" b="-1251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4224528" cy="1335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4"/>
                </a:lnSpc>
              </a:pPr>
              <a:r>
                <a:rPr lang="en-US" sz="1800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ทดสอบการสกัดข้อมูลจากเรซูเม่ดิจิทัล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412625" y="6340645"/>
            <a:ext cx="3196967" cy="28569"/>
          </a:xfrm>
          <a:prstGeom prst="line">
            <a:avLst/>
          </a:prstGeom>
          <a:ln cap="rnd" w="19050">
            <a:solidFill>
              <a:srgbClr val="FDBA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426915" y="6519522"/>
            <a:ext cx="3168396" cy="657783"/>
            <a:chOff x="0" y="0"/>
            <a:chExt cx="4224528" cy="8770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24528" cy="877044"/>
            </a:xfrm>
            <a:custGeom>
              <a:avLst/>
              <a:gdLst/>
              <a:ahLst/>
              <a:cxnLst/>
              <a:rect r="r" b="b" t="t" l="l"/>
              <a:pathLst>
                <a:path h="877044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877044"/>
                  </a:lnTo>
                  <a:lnTo>
                    <a:pt x="0" y="87704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0066" r="0" b="-3764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224528" cy="877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EA6A0A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50 ไฟล์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26915" y="7150458"/>
            <a:ext cx="3168396" cy="417723"/>
            <a:chOff x="0" y="0"/>
            <a:chExt cx="4224528" cy="5569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24528" cy="556964"/>
            </a:xfrm>
            <a:custGeom>
              <a:avLst/>
              <a:gdLst/>
              <a:ahLst/>
              <a:cxnLst/>
              <a:rect r="r" b="b" t="t" l="l"/>
              <a:pathLst>
                <a:path h="556964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556964"/>
                  </a:lnTo>
                  <a:lnTo>
                    <a:pt x="0" y="5569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8539" r="0" b="-9704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224528" cy="556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เปรียบเทียบ 5 โมเดล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278038" y="3030709"/>
            <a:ext cx="3790063" cy="5095795"/>
            <a:chOff x="0" y="0"/>
            <a:chExt cx="5073650" cy="682159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73650" cy="6821597"/>
            </a:xfrm>
            <a:custGeom>
              <a:avLst/>
              <a:gdLst/>
              <a:ahLst/>
              <a:cxnLst/>
              <a:rect r="r" b="b" t="t" l="l"/>
              <a:pathLst>
                <a:path h="6821597" w="5073650">
                  <a:moveTo>
                    <a:pt x="0" y="312382"/>
                  </a:moveTo>
                  <a:cubicBezTo>
                    <a:pt x="0" y="139927"/>
                    <a:pt x="132207" y="0"/>
                    <a:pt x="295148" y="0"/>
                  </a:cubicBezTo>
                  <a:lnTo>
                    <a:pt x="4778502" y="0"/>
                  </a:lnTo>
                  <a:cubicBezTo>
                    <a:pt x="4941570" y="0"/>
                    <a:pt x="5073650" y="139927"/>
                    <a:pt x="5073650" y="312382"/>
                  </a:cubicBezTo>
                  <a:lnTo>
                    <a:pt x="5073650" y="6509215"/>
                  </a:lnTo>
                  <a:cubicBezTo>
                    <a:pt x="5073650" y="6681805"/>
                    <a:pt x="4941443" y="6821597"/>
                    <a:pt x="4778502" y="6821597"/>
                  </a:cubicBezTo>
                  <a:lnTo>
                    <a:pt x="295148" y="6821597"/>
                  </a:lnTo>
                  <a:cubicBezTo>
                    <a:pt x="132207" y="6821597"/>
                    <a:pt x="0" y="6681670"/>
                    <a:pt x="0" y="6509215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588871" y="3289666"/>
            <a:ext cx="3168396" cy="960239"/>
            <a:chOff x="0" y="0"/>
            <a:chExt cx="4224528" cy="12803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224528" cy="1280319"/>
            </a:xfrm>
            <a:custGeom>
              <a:avLst/>
              <a:gdLst/>
              <a:ahLst/>
              <a:cxnLst/>
              <a:rect r="r" b="b" t="t" l="l"/>
              <a:pathLst>
                <a:path h="1280319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1280319"/>
                  </a:lnTo>
                  <a:lnTo>
                    <a:pt x="0" y="128031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439" r="0" b="285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4224528" cy="12707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DBA74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02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613153" y="4311246"/>
            <a:ext cx="3168396" cy="873095"/>
            <a:chOff x="0" y="0"/>
            <a:chExt cx="4224528" cy="116412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24528" cy="1164127"/>
            </a:xfrm>
            <a:custGeom>
              <a:avLst/>
              <a:gdLst/>
              <a:ahLst/>
              <a:cxnLst/>
              <a:rect r="r" b="b" t="t" l="l"/>
              <a:pathLst>
                <a:path h="1164127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1164127"/>
                  </a:lnTo>
                  <a:lnTo>
                    <a:pt x="0" y="116412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009" r="0" b="-1940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4224528" cy="1173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5"/>
                </a:lnSpc>
              </a:pPr>
              <a:r>
                <a:rPr lang="en-US" sz="2400" b="true">
                  <a:solidFill>
                    <a:srgbClr val="1F2024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ระยะเวลาในการดำเนินงาน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613153" y="5230218"/>
            <a:ext cx="3168396" cy="987552"/>
            <a:chOff x="0" y="0"/>
            <a:chExt cx="4224528" cy="13167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24528" cy="1316736"/>
            </a:xfrm>
            <a:custGeom>
              <a:avLst/>
              <a:gdLst/>
              <a:ahLst/>
              <a:cxnLst/>
              <a:rect r="r" b="b" t="t" l="l"/>
              <a:pathLst>
                <a:path h="1316736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514" r="0" b="-1251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4224528" cy="1335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4"/>
                </a:lnSpc>
              </a:pPr>
              <a:r>
                <a:rPr lang="en-US" sz="1800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เทียบการจัดทำด้วยตนเองกับการใช้ระบบ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>
            <a:off x="5598862" y="6354361"/>
            <a:ext cx="3196967" cy="28569"/>
          </a:xfrm>
          <a:prstGeom prst="line">
            <a:avLst/>
          </a:prstGeom>
          <a:ln cap="rnd" w="19050">
            <a:solidFill>
              <a:srgbClr val="FDBA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5613153" y="6533238"/>
            <a:ext cx="3168396" cy="657783"/>
            <a:chOff x="0" y="0"/>
            <a:chExt cx="4224528" cy="87704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24528" cy="877044"/>
            </a:xfrm>
            <a:custGeom>
              <a:avLst/>
              <a:gdLst/>
              <a:ahLst/>
              <a:cxnLst/>
              <a:rect r="r" b="b" t="t" l="l"/>
              <a:pathLst>
                <a:path h="877044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877044"/>
                  </a:lnTo>
                  <a:lnTo>
                    <a:pt x="0" y="87704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0066" r="0" b="-3764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224528" cy="877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EA6A0A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50 รายการ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613153" y="7164174"/>
            <a:ext cx="3168396" cy="417723"/>
            <a:chOff x="0" y="0"/>
            <a:chExt cx="4224528" cy="5569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224528" cy="556964"/>
            </a:xfrm>
            <a:custGeom>
              <a:avLst/>
              <a:gdLst/>
              <a:ahLst/>
              <a:cxnLst/>
              <a:rect r="r" b="b" t="t" l="l"/>
              <a:pathLst>
                <a:path h="556964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556964"/>
                  </a:lnTo>
                  <a:lnTo>
                    <a:pt x="0" y="5569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8539" r="0" b="-9704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224528" cy="556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วัด 4 ขั้นตอนหลัก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44735" y="3030709"/>
            <a:ext cx="3790063" cy="5095795"/>
            <a:chOff x="0" y="0"/>
            <a:chExt cx="5073650" cy="682159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073650" cy="6821597"/>
            </a:xfrm>
            <a:custGeom>
              <a:avLst/>
              <a:gdLst/>
              <a:ahLst/>
              <a:cxnLst/>
              <a:rect r="r" b="b" t="t" l="l"/>
              <a:pathLst>
                <a:path h="6821597" w="5073650">
                  <a:moveTo>
                    <a:pt x="0" y="312382"/>
                  </a:moveTo>
                  <a:cubicBezTo>
                    <a:pt x="0" y="139927"/>
                    <a:pt x="132207" y="0"/>
                    <a:pt x="295148" y="0"/>
                  </a:cubicBezTo>
                  <a:lnTo>
                    <a:pt x="4778502" y="0"/>
                  </a:lnTo>
                  <a:cubicBezTo>
                    <a:pt x="4941570" y="0"/>
                    <a:pt x="5073650" y="139927"/>
                    <a:pt x="5073650" y="312382"/>
                  </a:cubicBezTo>
                  <a:lnTo>
                    <a:pt x="5073650" y="6509215"/>
                  </a:lnTo>
                  <a:cubicBezTo>
                    <a:pt x="5073650" y="6681805"/>
                    <a:pt x="4941443" y="6821597"/>
                    <a:pt x="4778502" y="6821597"/>
                  </a:cubicBezTo>
                  <a:lnTo>
                    <a:pt x="295148" y="6821597"/>
                  </a:lnTo>
                  <a:cubicBezTo>
                    <a:pt x="132207" y="6821597"/>
                    <a:pt x="0" y="6681670"/>
                    <a:pt x="0" y="6509215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753900" y="3289666"/>
            <a:ext cx="3168396" cy="960239"/>
            <a:chOff x="0" y="0"/>
            <a:chExt cx="4224528" cy="128031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24528" cy="1280319"/>
            </a:xfrm>
            <a:custGeom>
              <a:avLst/>
              <a:gdLst/>
              <a:ahLst/>
              <a:cxnLst/>
              <a:rect r="r" b="b" t="t" l="l"/>
              <a:pathLst>
                <a:path h="1280319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1280319"/>
                  </a:lnTo>
                  <a:lnTo>
                    <a:pt x="0" y="128031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439" r="0" b="285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9525"/>
              <a:ext cx="4224528" cy="12707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DBA74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03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796533" y="4311246"/>
            <a:ext cx="3168396" cy="873095"/>
            <a:chOff x="0" y="0"/>
            <a:chExt cx="4224528" cy="116412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224528" cy="1164127"/>
            </a:xfrm>
            <a:custGeom>
              <a:avLst/>
              <a:gdLst/>
              <a:ahLst/>
              <a:cxnLst/>
              <a:rect r="r" b="b" t="t" l="l"/>
              <a:pathLst>
                <a:path h="1164127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1164127"/>
                  </a:lnTo>
                  <a:lnTo>
                    <a:pt x="0" y="116412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009" r="0" b="-19409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4224528" cy="1173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5"/>
                </a:lnSpc>
              </a:pPr>
              <a:r>
                <a:rPr lang="en-US" sz="2400" b="true">
                  <a:solidFill>
                    <a:srgbClr val="1F2024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การทำงานของเว็บแอปพลิเคชัน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796533" y="5230218"/>
            <a:ext cx="3168396" cy="987552"/>
            <a:chOff x="0" y="0"/>
            <a:chExt cx="4224528" cy="131673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224528" cy="1316736"/>
            </a:xfrm>
            <a:custGeom>
              <a:avLst/>
              <a:gdLst/>
              <a:ahLst/>
              <a:cxnLst/>
              <a:rect r="r" b="b" t="t" l="l"/>
              <a:pathLst>
                <a:path h="1316736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514" r="0" b="-1251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4224528" cy="1335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4"/>
                </a:lnSpc>
              </a:pPr>
              <a:r>
                <a:rPr lang="en-US" sz="1800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ตรวจสอบความถูกต้องของทุกฟังก์ชัน</a:t>
              </a:r>
            </a:p>
          </p:txBody>
        </p:sp>
      </p:grpSp>
      <p:sp>
        <p:nvSpPr>
          <p:cNvPr name="AutoShape 61" id="61"/>
          <p:cNvSpPr/>
          <p:nvPr/>
        </p:nvSpPr>
        <p:spPr>
          <a:xfrm>
            <a:off x="9782242" y="6354361"/>
            <a:ext cx="3196967" cy="28569"/>
          </a:xfrm>
          <a:prstGeom prst="line">
            <a:avLst/>
          </a:prstGeom>
          <a:ln cap="rnd" w="19050">
            <a:solidFill>
              <a:srgbClr val="FDBA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2" id="62"/>
          <p:cNvGrpSpPr/>
          <p:nvPr/>
        </p:nvGrpSpPr>
        <p:grpSpPr>
          <a:xfrm rot="0">
            <a:off x="9796533" y="6533238"/>
            <a:ext cx="3168396" cy="657783"/>
            <a:chOff x="0" y="0"/>
            <a:chExt cx="4224528" cy="87704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24528" cy="877044"/>
            </a:xfrm>
            <a:custGeom>
              <a:avLst/>
              <a:gdLst/>
              <a:ahLst/>
              <a:cxnLst/>
              <a:rect r="r" b="b" t="t" l="l"/>
              <a:pathLst>
                <a:path h="877044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877044"/>
                  </a:lnTo>
                  <a:lnTo>
                    <a:pt x="0" y="87704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0066" r="0" b="-3764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4224528" cy="877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EA6A0A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5 หมวด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796533" y="7164174"/>
            <a:ext cx="3168396" cy="417723"/>
            <a:chOff x="0" y="0"/>
            <a:chExt cx="4224528" cy="5569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24528" cy="556964"/>
            </a:xfrm>
            <a:custGeom>
              <a:avLst/>
              <a:gdLst/>
              <a:ahLst/>
              <a:cxnLst/>
              <a:rect r="r" b="b" t="t" l="l"/>
              <a:pathLst>
                <a:path h="556964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556964"/>
                  </a:lnTo>
                  <a:lnTo>
                    <a:pt x="0" y="5569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8539" r="0" b="-9704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4224528" cy="556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ตามขอบเขตที่กำหนด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614278" y="3045168"/>
            <a:ext cx="3790063" cy="5095795"/>
            <a:chOff x="0" y="0"/>
            <a:chExt cx="5073650" cy="682159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073650" cy="6821597"/>
            </a:xfrm>
            <a:custGeom>
              <a:avLst/>
              <a:gdLst/>
              <a:ahLst/>
              <a:cxnLst/>
              <a:rect r="r" b="b" t="t" l="l"/>
              <a:pathLst>
                <a:path h="6821597" w="5073650">
                  <a:moveTo>
                    <a:pt x="0" y="312382"/>
                  </a:moveTo>
                  <a:cubicBezTo>
                    <a:pt x="0" y="139927"/>
                    <a:pt x="132207" y="0"/>
                    <a:pt x="295148" y="0"/>
                  </a:cubicBezTo>
                  <a:lnTo>
                    <a:pt x="4778502" y="0"/>
                  </a:lnTo>
                  <a:cubicBezTo>
                    <a:pt x="4941570" y="0"/>
                    <a:pt x="5073650" y="139927"/>
                    <a:pt x="5073650" y="312382"/>
                  </a:cubicBezTo>
                  <a:lnTo>
                    <a:pt x="5073650" y="6509215"/>
                  </a:lnTo>
                  <a:cubicBezTo>
                    <a:pt x="5073650" y="6681805"/>
                    <a:pt x="4941443" y="6821597"/>
                    <a:pt x="4778502" y="6821597"/>
                  </a:cubicBezTo>
                  <a:lnTo>
                    <a:pt x="295148" y="6821597"/>
                  </a:lnTo>
                  <a:cubicBezTo>
                    <a:pt x="132207" y="6821597"/>
                    <a:pt x="0" y="6681670"/>
                    <a:pt x="0" y="6509215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3982770" y="3289666"/>
            <a:ext cx="3168396" cy="960239"/>
            <a:chOff x="0" y="0"/>
            <a:chExt cx="4224528" cy="128031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224528" cy="1280319"/>
            </a:xfrm>
            <a:custGeom>
              <a:avLst/>
              <a:gdLst/>
              <a:ahLst/>
              <a:cxnLst/>
              <a:rect r="r" b="b" t="t" l="l"/>
              <a:pathLst>
                <a:path h="1280319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1280319"/>
                  </a:lnTo>
                  <a:lnTo>
                    <a:pt x="0" y="128031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1439" r="0" b="285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9525"/>
              <a:ext cx="4224528" cy="12707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DBA74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04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982770" y="4324962"/>
            <a:ext cx="3168396" cy="873095"/>
            <a:chOff x="0" y="0"/>
            <a:chExt cx="4224528" cy="116412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224528" cy="1164127"/>
            </a:xfrm>
            <a:custGeom>
              <a:avLst/>
              <a:gdLst/>
              <a:ahLst/>
              <a:cxnLst/>
              <a:rect r="r" b="b" t="t" l="l"/>
              <a:pathLst>
                <a:path h="1164127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1164127"/>
                  </a:lnTo>
                  <a:lnTo>
                    <a:pt x="0" y="116412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009" r="0" b="-19409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4224528" cy="1173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85"/>
                </a:lnSpc>
              </a:pPr>
              <a:r>
                <a:rPr lang="en-US" sz="2400" b="true">
                  <a:solidFill>
                    <a:srgbClr val="1F2024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ความพึงพอใจของผู้ใช้งาน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3982770" y="5243934"/>
            <a:ext cx="3168396" cy="987552"/>
            <a:chOff x="0" y="0"/>
            <a:chExt cx="4224528" cy="131673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224528" cy="1316736"/>
            </a:xfrm>
            <a:custGeom>
              <a:avLst/>
              <a:gdLst/>
              <a:ahLst/>
              <a:cxnLst/>
              <a:rect r="r" b="b" t="t" l="l"/>
              <a:pathLst>
                <a:path h="1316736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514" r="0" b="-1251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4224528" cy="1335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4"/>
                </a:lnSpc>
              </a:pPr>
              <a:r>
                <a:rPr lang="en-US" sz="1800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ประเมินผลการใช้งานจริงด้วยแบบสอบถาม</a:t>
              </a:r>
            </a:p>
          </p:txBody>
        </p:sp>
      </p:grpSp>
      <p:sp>
        <p:nvSpPr>
          <p:cNvPr name="AutoShape 79" id="79"/>
          <p:cNvSpPr/>
          <p:nvPr/>
        </p:nvSpPr>
        <p:spPr>
          <a:xfrm>
            <a:off x="13968480" y="6368077"/>
            <a:ext cx="3196967" cy="28569"/>
          </a:xfrm>
          <a:prstGeom prst="line">
            <a:avLst/>
          </a:prstGeom>
          <a:ln cap="rnd" w="19050">
            <a:solidFill>
              <a:srgbClr val="FDBA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0" id="80"/>
          <p:cNvGrpSpPr/>
          <p:nvPr/>
        </p:nvGrpSpPr>
        <p:grpSpPr>
          <a:xfrm rot="0">
            <a:off x="13982770" y="6546954"/>
            <a:ext cx="3168396" cy="657783"/>
            <a:chOff x="0" y="0"/>
            <a:chExt cx="4224528" cy="87704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224528" cy="877044"/>
            </a:xfrm>
            <a:custGeom>
              <a:avLst/>
              <a:gdLst/>
              <a:ahLst/>
              <a:cxnLst/>
              <a:rect r="r" b="b" t="t" l="l"/>
              <a:pathLst>
                <a:path h="877044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877044"/>
                  </a:lnTo>
                  <a:lnTo>
                    <a:pt x="0" y="87704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0066" r="0" b="-3764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4224528" cy="877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EA6A0A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30 คน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982770" y="7177890"/>
            <a:ext cx="3168396" cy="417723"/>
            <a:chOff x="0" y="0"/>
            <a:chExt cx="4224528" cy="55696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224528" cy="556964"/>
            </a:xfrm>
            <a:custGeom>
              <a:avLst/>
              <a:gdLst/>
              <a:ahLst/>
              <a:cxnLst/>
              <a:rect r="r" b="b" t="t" l="l"/>
              <a:pathLst>
                <a:path h="556964" w="4224528">
                  <a:moveTo>
                    <a:pt x="0" y="0"/>
                  </a:moveTo>
                  <a:lnTo>
                    <a:pt x="4224528" y="0"/>
                  </a:lnTo>
                  <a:lnTo>
                    <a:pt x="4224528" y="556964"/>
                  </a:lnTo>
                  <a:lnTo>
                    <a:pt x="0" y="5569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8539" r="0" b="-9704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4224528" cy="556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9 รายการประเมิน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5" t="0" r="-72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60436" y="788640"/>
            <a:ext cx="5141167" cy="480120"/>
            <a:chOff x="0" y="0"/>
            <a:chExt cx="6422509" cy="5997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22509" cy="599781"/>
            </a:xfrm>
            <a:custGeom>
              <a:avLst/>
              <a:gdLst/>
              <a:ahLst/>
              <a:cxnLst/>
              <a:rect r="r" b="b" t="t" l="l"/>
              <a:pathLst>
                <a:path h="599781" w="6422509">
                  <a:moveTo>
                    <a:pt x="0" y="0"/>
                  </a:moveTo>
                  <a:lnTo>
                    <a:pt x="6422509" y="0"/>
                  </a:lnTo>
                  <a:lnTo>
                    <a:pt x="6422509" y="599781"/>
                  </a:lnTo>
                  <a:lnTo>
                    <a:pt x="0" y="5997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56217" r="-142036" b="-45378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6422509" cy="590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ผลการทดสอบความแม่นยำของโมเดล AI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02980" y="1268760"/>
            <a:ext cx="6224380" cy="1054037"/>
            <a:chOff x="0" y="0"/>
            <a:chExt cx="7775693" cy="13167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75693" cy="1316736"/>
            </a:xfrm>
            <a:custGeom>
              <a:avLst/>
              <a:gdLst/>
              <a:ahLst/>
              <a:cxnLst/>
              <a:rect r="r" b="b" t="t" l="l"/>
              <a:pathLst>
                <a:path h="1316736" w="7775693">
                  <a:moveTo>
                    <a:pt x="0" y="0"/>
                  </a:moveTo>
                  <a:lnTo>
                    <a:pt x="7775693" y="0"/>
                  </a:lnTo>
                  <a:lnTo>
                    <a:pt x="7775693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9800" r="-125786" b="-2098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7775693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>
                  <a:solidFill>
                    <a:srgbClr val="1F2024"/>
                  </a:solidFill>
                  <a:latin typeface="Archive"/>
                  <a:ea typeface="Archive"/>
                  <a:cs typeface="Archive"/>
                  <a:sym typeface="Archive"/>
                </a:rPr>
                <a:t>MODEL ACCURACY</a:t>
              </a:r>
            </a:p>
          </p:txBody>
        </p:sp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41" y="1467819"/>
            <a:ext cx="13950424" cy="7956756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 rot="0">
            <a:off x="12883497" y="2636435"/>
            <a:ext cx="5012977" cy="3350572"/>
            <a:chOff x="0" y="0"/>
            <a:chExt cx="6262370" cy="418564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62370" cy="4185640"/>
            </a:xfrm>
            <a:custGeom>
              <a:avLst/>
              <a:gdLst/>
              <a:ahLst/>
              <a:cxnLst/>
              <a:rect r="r" b="b" t="t" l="l"/>
              <a:pathLst>
                <a:path h="4185640" w="6262370">
                  <a:moveTo>
                    <a:pt x="0" y="311483"/>
                  </a:moveTo>
                  <a:cubicBezTo>
                    <a:pt x="0" y="139432"/>
                    <a:pt x="132461" y="0"/>
                    <a:pt x="295910" y="0"/>
                  </a:cubicBezTo>
                  <a:lnTo>
                    <a:pt x="5966460" y="0"/>
                  </a:lnTo>
                  <a:cubicBezTo>
                    <a:pt x="6129909" y="0"/>
                    <a:pt x="6262370" y="139432"/>
                    <a:pt x="6262370" y="311483"/>
                  </a:cubicBezTo>
                  <a:lnTo>
                    <a:pt x="6262370" y="3874157"/>
                  </a:lnTo>
                  <a:cubicBezTo>
                    <a:pt x="6262370" y="4046208"/>
                    <a:pt x="6129909" y="4185640"/>
                    <a:pt x="5966460" y="4185640"/>
                  </a:cubicBezTo>
                  <a:lnTo>
                    <a:pt x="295910" y="4185640"/>
                  </a:lnTo>
                  <a:cubicBezTo>
                    <a:pt x="132461" y="4185641"/>
                    <a:pt x="0" y="4046208"/>
                    <a:pt x="0" y="3874157"/>
                  </a:cubicBezTo>
                  <a:close/>
                </a:path>
              </a:pathLst>
            </a:custGeom>
            <a:solidFill>
              <a:srgbClr val="FFF3E8"/>
            </a:solidFill>
            <a:ln w="33338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237994" y="2942302"/>
            <a:ext cx="4318622" cy="417723"/>
            <a:chOff x="0" y="0"/>
            <a:chExt cx="5394960" cy="5218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94960" cy="521833"/>
            </a:xfrm>
            <a:custGeom>
              <a:avLst/>
              <a:gdLst/>
              <a:ahLst/>
              <a:cxnLst/>
              <a:rect r="r" b="b" t="t" l="l"/>
              <a:pathLst>
                <a:path h="521833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521833"/>
                  </a:lnTo>
                  <a:lnTo>
                    <a:pt x="0" y="52183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2381" r="0" b="-15050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394960" cy="521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โมเดลที่เลือกใช้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237994" y="3414609"/>
            <a:ext cx="4318622" cy="512442"/>
            <a:chOff x="0" y="0"/>
            <a:chExt cx="5394960" cy="64015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94960" cy="640159"/>
            </a:xfrm>
            <a:custGeom>
              <a:avLst/>
              <a:gdLst/>
              <a:ahLst/>
              <a:cxnLst/>
              <a:rect r="r" b="b" t="t" l="l"/>
              <a:pathLst>
                <a:path h="640159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640159"/>
                  </a:lnTo>
                  <a:lnTo>
                    <a:pt x="0" y="64015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5645" r="0" b="-11277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5394960" cy="6306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024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GPT-OSS-120B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237994" y="3852228"/>
            <a:ext cx="4318622" cy="1291272"/>
            <a:chOff x="0" y="0"/>
            <a:chExt cx="5394960" cy="161309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94960" cy="1613098"/>
            </a:xfrm>
            <a:custGeom>
              <a:avLst/>
              <a:gdLst/>
              <a:ahLst/>
              <a:cxnLst/>
              <a:rect r="r" b="b" t="t" l="l"/>
              <a:pathLst>
                <a:path h="1613098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1613098"/>
                  </a:lnTo>
                  <a:lnTo>
                    <a:pt x="0" y="161309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0021" r="0" b="-31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394960" cy="1613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EA6A0A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98.80%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237994" y="5090852"/>
            <a:ext cx="4318622" cy="673412"/>
            <a:chOff x="0" y="0"/>
            <a:chExt cx="5394960" cy="84124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94960" cy="841248"/>
            </a:xfrm>
            <a:custGeom>
              <a:avLst/>
              <a:gdLst/>
              <a:ahLst/>
              <a:cxnLst/>
              <a:rect r="r" b="b" t="t" l="l"/>
              <a:pathLst>
                <a:path h="841248" w="5394960">
                  <a:moveTo>
                    <a:pt x="0" y="0"/>
                  </a:moveTo>
                  <a:lnTo>
                    <a:pt x="5394960" y="0"/>
                  </a:lnTo>
                  <a:lnTo>
                    <a:pt x="539496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4958" r="0" b="-7495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5394960" cy="860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4"/>
                </a:lnSpc>
              </a:pPr>
              <a:r>
                <a:rPr lang="en-US" sz="1800">
                  <a:solidFill>
                    <a:srgbClr val="1F2024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ความแม่นยำเฉลี่ยสูงสุดจากการทดสอบ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237994" y="6232725"/>
            <a:ext cx="4391819" cy="417723"/>
            <a:chOff x="0" y="0"/>
            <a:chExt cx="5486400" cy="52183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521833"/>
            </a:xfrm>
            <a:custGeom>
              <a:avLst/>
              <a:gdLst/>
              <a:ahLst/>
              <a:cxnLst/>
              <a:rect r="r" b="b" t="t" l="l"/>
              <a:pathLst>
                <a:path h="521833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21833"/>
                  </a:lnTo>
                  <a:lnTo>
                    <a:pt x="0" y="52183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5795" r="0" b="-15392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5486400" cy="5218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EA6A0A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เกณฑ์การพิจารณา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237994" y="6707598"/>
            <a:ext cx="4399139" cy="1280071"/>
            <a:chOff x="0" y="0"/>
            <a:chExt cx="5495544" cy="159910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495544" cy="1599105"/>
            </a:xfrm>
            <a:custGeom>
              <a:avLst/>
              <a:gdLst/>
              <a:ahLst/>
              <a:cxnLst/>
              <a:rect r="r" b="b" t="t" l="l"/>
              <a:pathLst>
                <a:path h="1599105" w="5495544">
                  <a:moveTo>
                    <a:pt x="0" y="0"/>
                  </a:moveTo>
                  <a:lnTo>
                    <a:pt x="5495544" y="0"/>
                  </a:lnTo>
                  <a:lnTo>
                    <a:pt x="5495544" y="1599105"/>
                  </a:lnTo>
                  <a:lnTo>
                    <a:pt x="0" y="159910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065" r="-1497" b="-3086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5495544" cy="1599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024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ความแม่นยำในการสกัดข้อมูล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024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ความถูกต้องของโครงสร้าง JSON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024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ความเสถียรในการตอบกลับ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454137" y="8788228"/>
            <a:ext cx="11711518" cy="439182"/>
            <a:chOff x="0" y="0"/>
            <a:chExt cx="1463040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14630400" cy="539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ทดสอบกับชุดข้อมูลเอกสารเรซูเม่ดิจิทัลจำนวน 50 ไฟล์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11879" y="2946148"/>
            <a:ext cx="3828821" cy="468461"/>
            <a:chOff x="0" y="0"/>
            <a:chExt cx="4783085" cy="58521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783085" cy="585216"/>
            </a:xfrm>
            <a:custGeom>
              <a:avLst/>
              <a:gdLst/>
              <a:ahLst/>
              <a:cxnLst/>
              <a:rect r="r" b="b" t="t" l="l"/>
              <a:pathLst>
                <a:path h="585216" w="4783085">
                  <a:moveTo>
                    <a:pt x="0" y="0"/>
                  </a:moveTo>
                  <a:lnTo>
                    <a:pt x="4783085" y="0"/>
                  </a:lnTo>
                  <a:lnTo>
                    <a:pt x="4783085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7571" r="-224995" b="-46757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4783085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Gemma-4-31B-IT</a:t>
              </a: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(88.4%)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11879" y="4077490"/>
            <a:ext cx="3828821" cy="468461"/>
            <a:chOff x="0" y="0"/>
            <a:chExt cx="4783085" cy="5852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83085" cy="585216"/>
            </a:xfrm>
            <a:custGeom>
              <a:avLst/>
              <a:gdLst/>
              <a:ahLst/>
              <a:cxnLst/>
              <a:rect r="r" b="b" t="t" l="l"/>
              <a:pathLst>
                <a:path h="585216" w="4783085">
                  <a:moveTo>
                    <a:pt x="0" y="0"/>
                  </a:moveTo>
                  <a:lnTo>
                    <a:pt x="4783085" y="0"/>
                  </a:lnTo>
                  <a:lnTo>
                    <a:pt x="4783085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7571" r="-224995" b="-46757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4783085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DeepSeek-V4-Pro</a:t>
              </a: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(92.0%)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11879" y="5213629"/>
            <a:ext cx="4437778" cy="468461"/>
            <a:chOff x="0" y="0"/>
            <a:chExt cx="5543813" cy="5852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543812" cy="585216"/>
            </a:xfrm>
            <a:custGeom>
              <a:avLst/>
              <a:gdLst/>
              <a:ahLst/>
              <a:cxnLst/>
              <a:rect r="r" b="b" t="t" l="l"/>
              <a:pathLst>
                <a:path h="585216" w="5543812">
                  <a:moveTo>
                    <a:pt x="0" y="0"/>
                  </a:moveTo>
                  <a:lnTo>
                    <a:pt x="5543812" y="0"/>
                  </a:lnTo>
                  <a:lnTo>
                    <a:pt x="55438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7571" r="-180399" b="-46757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5543813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Llama-3.3-Nemotron-49B</a:t>
              </a: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(94.8%)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11879" y="6348840"/>
            <a:ext cx="4437778" cy="468461"/>
            <a:chOff x="0" y="0"/>
            <a:chExt cx="5543813" cy="58521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543812" cy="585216"/>
            </a:xfrm>
            <a:custGeom>
              <a:avLst/>
              <a:gdLst/>
              <a:ahLst/>
              <a:cxnLst/>
              <a:rect r="r" b="b" t="t" l="l"/>
              <a:pathLst>
                <a:path h="585216" w="5543812">
                  <a:moveTo>
                    <a:pt x="0" y="0"/>
                  </a:moveTo>
                  <a:lnTo>
                    <a:pt x="5543812" y="0"/>
                  </a:lnTo>
                  <a:lnTo>
                    <a:pt x="554381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7571" r="-180399" b="-46757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5543813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Nemotron-3-Super-120B</a:t>
              </a: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(96.8%) 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11879" y="7471516"/>
            <a:ext cx="3828821" cy="468461"/>
            <a:chOff x="0" y="0"/>
            <a:chExt cx="4783085" cy="58521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783085" cy="585216"/>
            </a:xfrm>
            <a:custGeom>
              <a:avLst/>
              <a:gdLst/>
              <a:ahLst/>
              <a:cxnLst/>
              <a:rect r="r" b="b" t="t" l="l"/>
              <a:pathLst>
                <a:path h="585216" w="4783085">
                  <a:moveTo>
                    <a:pt x="0" y="0"/>
                  </a:moveTo>
                  <a:lnTo>
                    <a:pt x="4783085" y="0"/>
                  </a:lnTo>
                  <a:lnTo>
                    <a:pt x="4783085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7571" r="-224995" b="-46757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4783085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GPT-OSS-120B</a:t>
              </a: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 (98.8%)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1342946" y="9725025"/>
            <a:ext cx="6553527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Canva Sans 2"/>
                <a:ea typeface="Canva Sans 2"/>
                <a:cs typeface="Canva Sans 2"/>
                <a:sym typeface="Canva Sans 2"/>
                <a:hlinkClick r:id="rId9" tooltip="https://build.nvidia.com/models?orderBy=weightPopular%3ADESC"/>
              </a:rPr>
              <a:t>https://build.nvidia.com/models?orderBy=weightPopular%3ADESC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5" t="0" r="-72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64012" y="788640"/>
            <a:ext cx="5124676" cy="480120"/>
            <a:chOff x="0" y="0"/>
            <a:chExt cx="6295009" cy="5897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95009" cy="589765"/>
            </a:xfrm>
            <a:custGeom>
              <a:avLst/>
              <a:gdLst/>
              <a:ahLst/>
              <a:cxnLst/>
              <a:rect r="r" b="b" t="t" l="l"/>
              <a:pathLst>
                <a:path h="589765" w="6295009">
                  <a:moveTo>
                    <a:pt x="0" y="0"/>
                  </a:moveTo>
                  <a:lnTo>
                    <a:pt x="6295009" y="0"/>
                  </a:lnTo>
                  <a:lnTo>
                    <a:pt x="6295009" y="589765"/>
                  </a:lnTo>
                  <a:lnTo>
                    <a:pt x="0" y="5897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3964" r="-146938" b="-46319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6295009" cy="58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ผลการเปรียบเทียบระยะเวลาดำเนินงาน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1161230"/>
            <a:ext cx="6043913" cy="1071936"/>
            <a:chOff x="0" y="0"/>
            <a:chExt cx="7424175" cy="13167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424175" cy="1316736"/>
            </a:xfrm>
            <a:custGeom>
              <a:avLst/>
              <a:gdLst/>
              <a:ahLst/>
              <a:cxnLst/>
              <a:rect r="r" b="b" t="t" l="l"/>
              <a:pathLst>
                <a:path h="1316736" w="7424175">
                  <a:moveTo>
                    <a:pt x="0" y="0"/>
                  </a:moveTo>
                  <a:lnTo>
                    <a:pt x="7424175" y="0"/>
                  </a:lnTo>
                  <a:lnTo>
                    <a:pt x="7424175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9800" r="-136477" b="-2098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7424175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>
                  <a:solidFill>
                    <a:srgbClr val="1F2024"/>
                  </a:solidFill>
                  <a:latin typeface="Archive"/>
                  <a:ea typeface="Archive"/>
                  <a:cs typeface="Archive"/>
                  <a:sym typeface="Archive"/>
                </a:rPr>
                <a:t>TIME REDUCTION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27357" y="2539889"/>
            <a:ext cx="17418956" cy="2114096"/>
            <a:chOff x="0" y="0"/>
            <a:chExt cx="21396960" cy="25968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96961" cy="2596896"/>
            </a:xfrm>
            <a:custGeom>
              <a:avLst/>
              <a:gdLst/>
              <a:ahLst/>
              <a:cxnLst/>
              <a:rect r="r" b="b" t="t" l="l"/>
              <a:pathLst>
                <a:path h="2596896" w="21396961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21140928" y="0"/>
                  </a:lnTo>
                  <a:cubicBezTo>
                    <a:pt x="21282279" y="0"/>
                    <a:pt x="21396961" y="114681"/>
                    <a:pt x="21396961" y="256032"/>
                  </a:cubicBezTo>
                  <a:lnTo>
                    <a:pt x="21396961" y="2340864"/>
                  </a:lnTo>
                  <a:cubicBezTo>
                    <a:pt x="21396961" y="2482215"/>
                    <a:pt x="21282279" y="2596896"/>
                    <a:pt x="21140928" y="2596896"/>
                  </a:cubicBezTo>
                  <a:lnTo>
                    <a:pt x="256032" y="2596896"/>
                  </a:lnTo>
                  <a:cubicBezTo>
                    <a:pt x="114681" y="2596896"/>
                    <a:pt x="0" y="2482215"/>
                    <a:pt x="0" y="2340864"/>
                  </a:cubicBezTo>
                  <a:close/>
                </a:path>
              </a:pathLst>
            </a:custGeom>
            <a:solidFill>
              <a:srgbClr val="FFF3E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71709" y="2617227"/>
            <a:ext cx="5210799" cy="1042289"/>
            <a:chOff x="0" y="0"/>
            <a:chExt cx="6400800" cy="12803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00800" cy="1280319"/>
            </a:xfrm>
            <a:custGeom>
              <a:avLst/>
              <a:gdLst/>
              <a:ahLst/>
              <a:cxnLst/>
              <a:rect r="r" b="b" t="t" l="l"/>
              <a:pathLst>
                <a:path h="1280319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280319"/>
                  </a:lnTo>
                  <a:lnTo>
                    <a:pt x="0" y="128031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7418" r="0" b="-3740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6400800" cy="12707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960 วินาที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73997" y="3611825"/>
            <a:ext cx="5210799" cy="424722"/>
            <a:chOff x="0" y="0"/>
            <a:chExt cx="6400800" cy="52171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00800" cy="521717"/>
            </a:xfrm>
            <a:custGeom>
              <a:avLst/>
              <a:gdLst/>
              <a:ahLst/>
              <a:cxnLst/>
              <a:rect r="r" b="b" t="t" l="l"/>
              <a:pathLst>
                <a:path h="521717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21717"/>
                  </a:lnTo>
                  <a:lnTo>
                    <a:pt x="0" y="5217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9981" r="0" b="-18813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400800" cy="521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2024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≈ 16 นาที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73997" y="4043577"/>
            <a:ext cx="5210799" cy="387088"/>
            <a:chOff x="0" y="0"/>
            <a:chExt cx="6400800" cy="4754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00800" cy="475488"/>
            </a:xfrm>
            <a:custGeom>
              <a:avLst/>
              <a:gdLst/>
              <a:ahLst/>
              <a:cxnLst/>
              <a:rect r="r" b="b" t="t" l="l"/>
              <a:pathLst>
                <a:path h="475488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2298" r="0" b="-21229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9525"/>
              <a:ext cx="6400800" cy="46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จัดทำด้วยตนเอง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6396831" y="2822139"/>
            <a:ext cx="31013" cy="1519820"/>
          </a:xfrm>
          <a:prstGeom prst="line">
            <a:avLst/>
          </a:prstGeom>
          <a:ln cap="rnd" w="19050">
            <a:solidFill>
              <a:srgbClr val="FDBA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6680316" y="2617227"/>
            <a:ext cx="5210799" cy="1042289"/>
            <a:chOff x="0" y="0"/>
            <a:chExt cx="6400800" cy="128031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00800" cy="1280319"/>
            </a:xfrm>
            <a:custGeom>
              <a:avLst/>
              <a:gdLst/>
              <a:ahLst/>
              <a:cxnLst/>
              <a:rect r="r" b="b" t="t" l="l"/>
              <a:pathLst>
                <a:path h="1280319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280319"/>
                  </a:lnTo>
                  <a:lnTo>
                    <a:pt x="0" y="128031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7418" r="0" b="-3740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6400800" cy="12707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F2024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245 วินาที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680316" y="3611825"/>
            <a:ext cx="5210799" cy="424722"/>
            <a:chOff x="0" y="0"/>
            <a:chExt cx="6400800" cy="52171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00800" cy="521717"/>
            </a:xfrm>
            <a:custGeom>
              <a:avLst/>
              <a:gdLst/>
              <a:ahLst/>
              <a:cxnLst/>
              <a:rect r="r" b="b" t="t" l="l"/>
              <a:pathLst>
                <a:path h="521717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21717"/>
                  </a:lnTo>
                  <a:lnTo>
                    <a:pt x="0" y="5217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9981" r="0" b="-18813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6400800" cy="521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2024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≈ 4–5 นาที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680316" y="4043577"/>
            <a:ext cx="5210799" cy="387088"/>
            <a:chOff x="0" y="0"/>
            <a:chExt cx="6400800" cy="47548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400800" cy="475488"/>
            </a:xfrm>
            <a:custGeom>
              <a:avLst/>
              <a:gdLst/>
              <a:ahLst/>
              <a:cxnLst/>
              <a:rect r="r" b="b" t="t" l="l"/>
              <a:pathLst>
                <a:path h="475488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2298" r="0" b="-21229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6400800" cy="46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ใช้ระบบ AIRB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>
            <a:off x="12203149" y="2822139"/>
            <a:ext cx="31013" cy="1519820"/>
          </a:xfrm>
          <a:prstGeom prst="line">
            <a:avLst/>
          </a:prstGeom>
          <a:ln cap="rnd" w="19050">
            <a:solidFill>
              <a:srgbClr val="FDBA7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2486635" y="2617227"/>
            <a:ext cx="5210799" cy="1042289"/>
            <a:chOff x="0" y="0"/>
            <a:chExt cx="6400800" cy="12803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400800" cy="1280319"/>
            </a:xfrm>
            <a:custGeom>
              <a:avLst/>
              <a:gdLst/>
              <a:ahLst/>
              <a:cxnLst/>
              <a:rect r="r" b="b" t="t" l="l"/>
              <a:pathLst>
                <a:path h="1280319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280319"/>
                  </a:lnTo>
                  <a:lnTo>
                    <a:pt x="0" y="128031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7418" r="0" b="-3740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9525"/>
              <a:ext cx="6400800" cy="12707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EA6A0A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74.48%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486635" y="3611825"/>
            <a:ext cx="5210799" cy="424722"/>
            <a:chOff x="0" y="0"/>
            <a:chExt cx="6400800" cy="52171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00800" cy="521717"/>
            </a:xfrm>
            <a:custGeom>
              <a:avLst/>
              <a:gdLst/>
              <a:ahLst/>
              <a:cxnLst/>
              <a:rect r="r" b="b" t="t" l="l"/>
              <a:pathLst>
                <a:path h="521717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21717"/>
                  </a:lnTo>
                  <a:lnTo>
                    <a:pt x="0" y="52171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9981" r="0" b="-18813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6400800" cy="5217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1F2024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ลดลงโดยรวม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486635" y="4043577"/>
            <a:ext cx="5210799" cy="387088"/>
            <a:chOff x="0" y="0"/>
            <a:chExt cx="6400800" cy="4754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00800" cy="475488"/>
            </a:xfrm>
            <a:custGeom>
              <a:avLst/>
              <a:gdLst/>
              <a:ahLst/>
              <a:cxnLst/>
              <a:rect r="r" b="b" t="t" l="l"/>
              <a:pathLst>
                <a:path h="475488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2298" r="0" b="-21229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9525"/>
              <a:ext cx="6400800" cy="465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ประหยัดเวลาเฉลี่ย</a:t>
              </a:r>
            </a:p>
          </p:txBody>
        </p:sp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396130" y="3868339"/>
            <a:ext cx="13085357" cy="6428195"/>
          </a:xfrm>
          <a:prstGeom prst="rect">
            <a:avLst/>
          </a:prstGeom>
        </p:spPr>
      </p:pic>
      <p:grpSp>
        <p:nvGrpSpPr>
          <p:cNvPr name="Group 50" id="50"/>
          <p:cNvGrpSpPr/>
          <p:nvPr/>
        </p:nvGrpSpPr>
        <p:grpSpPr>
          <a:xfrm rot="0">
            <a:off x="2584628" y="5752360"/>
            <a:ext cx="2683444" cy="417723"/>
            <a:chOff x="0" y="0"/>
            <a:chExt cx="3296268" cy="5131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96268" cy="513120"/>
            </a:xfrm>
            <a:custGeom>
              <a:avLst/>
              <a:gdLst/>
              <a:ahLst/>
              <a:cxnLst/>
              <a:rect r="r" b="b" t="t" l="l"/>
              <a:pathLst>
                <a:path h="513120" w="3296268">
                  <a:moveTo>
                    <a:pt x="0" y="0"/>
                  </a:moveTo>
                  <a:lnTo>
                    <a:pt x="3296268" y="0"/>
                  </a:lnTo>
                  <a:lnTo>
                    <a:pt x="3296268" y="513120"/>
                  </a:lnTo>
                  <a:lnTo>
                    <a:pt x="0" y="513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33267" r="-371587" b="-54731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3296268" cy="51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จัดหน้</a:t>
              </a: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าและส่งออก PDF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803321" y="6667159"/>
            <a:ext cx="2464751" cy="417723"/>
            <a:chOff x="0" y="0"/>
            <a:chExt cx="3027632" cy="513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027631" cy="513120"/>
            </a:xfrm>
            <a:custGeom>
              <a:avLst/>
              <a:gdLst/>
              <a:ahLst/>
              <a:cxnLst/>
              <a:rect r="r" b="b" t="t" l="l"/>
              <a:pathLst>
                <a:path h="513120" w="3027631">
                  <a:moveTo>
                    <a:pt x="0" y="0"/>
                  </a:moveTo>
                  <a:lnTo>
                    <a:pt x="3027631" y="0"/>
                  </a:lnTo>
                  <a:lnTo>
                    <a:pt x="3027631" y="513120"/>
                  </a:lnTo>
                  <a:lnTo>
                    <a:pt x="0" y="513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33267" r="-413431" b="-54731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027632" cy="51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ตรวจ</a:t>
              </a: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สอบเกณฑ์ ATS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3289396" y="7465882"/>
            <a:ext cx="1978676" cy="417723"/>
            <a:chOff x="0" y="0"/>
            <a:chExt cx="2430550" cy="5131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430550" cy="513120"/>
            </a:xfrm>
            <a:custGeom>
              <a:avLst/>
              <a:gdLst/>
              <a:ahLst/>
              <a:cxnLst/>
              <a:rect r="r" b="b" t="t" l="l"/>
              <a:pathLst>
                <a:path h="513120" w="2430550">
                  <a:moveTo>
                    <a:pt x="0" y="0"/>
                  </a:moveTo>
                  <a:lnTo>
                    <a:pt x="2430550" y="0"/>
                  </a:lnTo>
                  <a:lnTo>
                    <a:pt x="2430550" y="513120"/>
                  </a:lnTo>
                  <a:lnTo>
                    <a:pt x="0" y="513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33267" r="-539559" b="-54731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2430550" cy="51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เกลาสำนวนภาษา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454137" y="8527225"/>
            <a:ext cx="2813935" cy="417723"/>
            <a:chOff x="0" y="0"/>
            <a:chExt cx="3456559" cy="5131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56559" cy="513120"/>
            </a:xfrm>
            <a:custGeom>
              <a:avLst/>
              <a:gdLst/>
              <a:ahLst/>
              <a:cxnLst/>
              <a:rect r="r" b="b" t="t" l="l"/>
              <a:pathLst>
                <a:path h="513120" w="3456559">
                  <a:moveTo>
                    <a:pt x="0" y="0"/>
                  </a:moveTo>
                  <a:lnTo>
                    <a:pt x="3456559" y="0"/>
                  </a:lnTo>
                  <a:lnTo>
                    <a:pt x="3456559" y="513120"/>
                  </a:lnTo>
                  <a:lnTo>
                    <a:pt x="0" y="513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33267" r="-349718" b="-54731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3456559" cy="513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กรอ</a:t>
              </a: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กข้อมูลลงแบบฟอร์ม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5" t="0" r="-72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31612" y="672312"/>
            <a:ext cx="5994614" cy="480120"/>
            <a:chOff x="0" y="0"/>
            <a:chExt cx="7363617" cy="5897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63616" cy="589765"/>
            </a:xfrm>
            <a:custGeom>
              <a:avLst/>
              <a:gdLst/>
              <a:ahLst/>
              <a:cxnLst/>
              <a:rect r="r" b="b" t="t" l="l"/>
              <a:pathLst>
                <a:path h="589765" w="7363616">
                  <a:moveTo>
                    <a:pt x="0" y="0"/>
                  </a:moveTo>
                  <a:lnTo>
                    <a:pt x="7363616" y="0"/>
                  </a:lnTo>
                  <a:lnTo>
                    <a:pt x="7363616" y="589765"/>
                  </a:lnTo>
                  <a:lnTo>
                    <a:pt x="0" y="5897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3964" r="-111102" b="-46319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7363617" cy="58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ผลการทดสอบการทำงานของเว็บแอปพลิเคชัน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1087" y="2477392"/>
            <a:ext cx="7683666" cy="2703347"/>
            <a:chOff x="0" y="0"/>
            <a:chExt cx="9595666" cy="337604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95666" cy="3376047"/>
            </a:xfrm>
            <a:custGeom>
              <a:avLst/>
              <a:gdLst/>
              <a:ahLst/>
              <a:cxnLst/>
              <a:rect r="r" b="b" t="t" l="l"/>
              <a:pathLst>
                <a:path h="3376047" w="9595666">
                  <a:moveTo>
                    <a:pt x="0" y="306937"/>
                  </a:moveTo>
                  <a:cubicBezTo>
                    <a:pt x="0" y="137439"/>
                    <a:pt x="120710" y="0"/>
                    <a:pt x="269579" y="0"/>
                  </a:cubicBezTo>
                  <a:lnTo>
                    <a:pt x="9326087" y="0"/>
                  </a:lnTo>
                  <a:cubicBezTo>
                    <a:pt x="9474957" y="0"/>
                    <a:pt x="9595666" y="137439"/>
                    <a:pt x="9595666" y="306937"/>
                  </a:cubicBezTo>
                  <a:lnTo>
                    <a:pt x="9595666" y="3069110"/>
                  </a:lnTo>
                  <a:cubicBezTo>
                    <a:pt x="9595666" y="3238609"/>
                    <a:pt x="9474957" y="3376047"/>
                    <a:pt x="9326087" y="3376047"/>
                  </a:cubicBezTo>
                  <a:lnTo>
                    <a:pt x="269579" y="3376047"/>
                  </a:lnTo>
                  <a:cubicBezTo>
                    <a:pt x="120710" y="3376047"/>
                    <a:pt x="0" y="3238609"/>
                    <a:pt x="0" y="306911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3338" cap="sq">
              <a:solidFill>
                <a:srgbClr val="F97316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188267" y="2920024"/>
            <a:ext cx="4988926" cy="556964"/>
            <a:chOff x="0" y="0"/>
            <a:chExt cx="6230369" cy="69555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30369" cy="695559"/>
            </a:xfrm>
            <a:custGeom>
              <a:avLst/>
              <a:gdLst/>
              <a:ahLst/>
              <a:cxnLst/>
              <a:rect r="r" b="b" t="t" l="l"/>
              <a:pathLst>
                <a:path h="695559" w="6230369">
                  <a:moveTo>
                    <a:pt x="0" y="0"/>
                  </a:moveTo>
                  <a:lnTo>
                    <a:pt x="6230369" y="0"/>
                  </a:lnTo>
                  <a:lnTo>
                    <a:pt x="6230369" y="695559"/>
                  </a:lnTo>
                  <a:lnTo>
                    <a:pt x="0" y="69555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594" r="-35023" b="-17773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6230369" cy="695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2024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ระบบจัดการผู้ใช้และสิทธิ์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85355" y="3677558"/>
            <a:ext cx="5691838" cy="1287809"/>
            <a:chOff x="0" y="0"/>
            <a:chExt cx="7108193" cy="16082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08193" cy="1608267"/>
            </a:xfrm>
            <a:custGeom>
              <a:avLst/>
              <a:gdLst/>
              <a:ahLst/>
              <a:cxnLst/>
              <a:rect r="r" b="b" t="t" l="l"/>
              <a:pathLst>
                <a:path h="1608267" w="7108193">
                  <a:moveTo>
                    <a:pt x="0" y="0"/>
                  </a:moveTo>
                  <a:lnTo>
                    <a:pt x="7108193" y="0"/>
                  </a:lnTo>
                  <a:lnTo>
                    <a:pt x="7108193" y="1608267"/>
                  </a:lnTo>
                  <a:lnTo>
                    <a:pt x="0" y="16082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4672" r="-31213" b="-6132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7108193" cy="1608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024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ลงทะเบียนและเข้าสู่ระบบผ่าน Supabase Auth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024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ควบคุมสิทธิ์การเข้าถึงด้วย RLS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31383" y="2477392"/>
            <a:ext cx="7878884" cy="2703347"/>
            <a:chOff x="0" y="0"/>
            <a:chExt cx="9839462" cy="33760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839462" cy="3376047"/>
            </a:xfrm>
            <a:custGeom>
              <a:avLst/>
              <a:gdLst/>
              <a:ahLst/>
              <a:cxnLst/>
              <a:rect r="r" b="b" t="t" l="l"/>
              <a:pathLst>
                <a:path h="3376047" w="9839462">
                  <a:moveTo>
                    <a:pt x="0" y="306937"/>
                  </a:moveTo>
                  <a:cubicBezTo>
                    <a:pt x="0" y="137439"/>
                    <a:pt x="123777" y="0"/>
                    <a:pt x="276428" y="0"/>
                  </a:cubicBezTo>
                  <a:lnTo>
                    <a:pt x="9563034" y="0"/>
                  </a:lnTo>
                  <a:cubicBezTo>
                    <a:pt x="9715685" y="0"/>
                    <a:pt x="9839462" y="137439"/>
                    <a:pt x="9839462" y="306937"/>
                  </a:cubicBezTo>
                  <a:lnTo>
                    <a:pt x="9839462" y="3069110"/>
                  </a:lnTo>
                  <a:cubicBezTo>
                    <a:pt x="9839462" y="3238609"/>
                    <a:pt x="9715685" y="3376047"/>
                    <a:pt x="9563034" y="3376047"/>
                  </a:cubicBezTo>
                  <a:lnTo>
                    <a:pt x="276428" y="3376047"/>
                  </a:lnTo>
                  <a:cubicBezTo>
                    <a:pt x="123777" y="3376047"/>
                    <a:pt x="0" y="3238609"/>
                    <a:pt x="0" y="306911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3338" cap="sq">
              <a:solidFill>
                <a:srgbClr val="F97316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759212" y="2889722"/>
            <a:ext cx="644336" cy="666631"/>
            <a:chOff x="0" y="0"/>
            <a:chExt cx="804672" cy="83251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04672" cy="832515"/>
            </a:xfrm>
            <a:custGeom>
              <a:avLst/>
              <a:gdLst/>
              <a:ahLst/>
              <a:cxnLst/>
              <a:rect r="r" b="b" t="t" l="l"/>
              <a:pathLst>
                <a:path h="832515" w="804672">
                  <a:moveTo>
                    <a:pt x="0" y="416257"/>
                  </a:moveTo>
                  <a:cubicBezTo>
                    <a:pt x="0" y="186317"/>
                    <a:pt x="180086" y="0"/>
                    <a:pt x="402336" y="0"/>
                  </a:cubicBezTo>
                  <a:cubicBezTo>
                    <a:pt x="624586" y="0"/>
                    <a:pt x="804672" y="186317"/>
                    <a:pt x="804672" y="416257"/>
                  </a:cubicBezTo>
                  <a:cubicBezTo>
                    <a:pt x="804672" y="646198"/>
                    <a:pt x="624586" y="832515"/>
                    <a:pt x="402336" y="832515"/>
                  </a:cubicBezTo>
                  <a:cubicBezTo>
                    <a:pt x="180086" y="832515"/>
                    <a:pt x="0" y="646198"/>
                    <a:pt x="0" y="416257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759212" y="2889722"/>
            <a:ext cx="644336" cy="666631"/>
            <a:chOff x="0" y="0"/>
            <a:chExt cx="804672" cy="8325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04672" cy="832515"/>
            </a:xfrm>
            <a:custGeom>
              <a:avLst/>
              <a:gdLst/>
              <a:ahLst/>
              <a:cxnLst/>
              <a:rect r="r" b="b" t="t" l="l"/>
              <a:pathLst>
                <a:path h="832515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32515"/>
                  </a:lnTo>
                  <a:lnTo>
                    <a:pt x="0" y="83251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334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804672" cy="83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✓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608563" y="2920024"/>
            <a:ext cx="4626638" cy="556964"/>
            <a:chOff x="0" y="0"/>
            <a:chExt cx="5777928" cy="6955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77929" cy="695559"/>
            </a:xfrm>
            <a:custGeom>
              <a:avLst/>
              <a:gdLst/>
              <a:ahLst/>
              <a:cxnLst/>
              <a:rect r="r" b="b" t="t" l="l"/>
              <a:pathLst>
                <a:path h="695559" w="5777929">
                  <a:moveTo>
                    <a:pt x="0" y="0"/>
                  </a:moveTo>
                  <a:lnTo>
                    <a:pt x="5777929" y="0"/>
                  </a:lnTo>
                  <a:lnTo>
                    <a:pt x="5777929" y="695559"/>
                  </a:lnTo>
                  <a:lnTo>
                    <a:pt x="0" y="69555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594" r="-45596" b="-17773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5777928" cy="695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2024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ระบบจัดการเอกสารเรซูเม่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905652" y="3677558"/>
            <a:ext cx="5329549" cy="1287809"/>
            <a:chOff x="0" y="0"/>
            <a:chExt cx="6655752" cy="160826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55753" cy="1608267"/>
            </a:xfrm>
            <a:custGeom>
              <a:avLst/>
              <a:gdLst/>
              <a:ahLst/>
              <a:cxnLst/>
              <a:rect r="r" b="b" t="t" l="l"/>
              <a:pathLst>
                <a:path h="1608267" w="6655753">
                  <a:moveTo>
                    <a:pt x="0" y="0"/>
                  </a:moveTo>
                  <a:lnTo>
                    <a:pt x="6655753" y="0"/>
                  </a:lnTo>
                  <a:lnTo>
                    <a:pt x="6655753" y="1608267"/>
                  </a:lnTo>
                  <a:lnTo>
                    <a:pt x="0" y="16082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4672" r="-40132" b="-6132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6655752" cy="1608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024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สร้าง แก้ไข ลบ และจัดการหลายรายการ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024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บันทึกเวอร์ชันย้อนหลังของเอกสาร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8700" y="1028700"/>
            <a:ext cx="10045628" cy="1091346"/>
            <a:chOff x="0" y="0"/>
            <a:chExt cx="12339769" cy="134057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339770" cy="1340579"/>
            </a:xfrm>
            <a:custGeom>
              <a:avLst/>
              <a:gdLst/>
              <a:ahLst/>
              <a:cxnLst/>
              <a:rect r="r" b="b" t="t" l="l"/>
              <a:pathLst>
                <a:path h="1340579" w="12339770">
                  <a:moveTo>
                    <a:pt x="0" y="0"/>
                  </a:moveTo>
                  <a:lnTo>
                    <a:pt x="12339770" y="0"/>
                  </a:lnTo>
                  <a:lnTo>
                    <a:pt x="12339770" y="1340579"/>
                  </a:lnTo>
                  <a:lnTo>
                    <a:pt x="0" y="134057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6069" r="-42275" b="-20429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2339769" cy="1340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>
                  <a:solidFill>
                    <a:srgbClr val="1F2024"/>
                  </a:solidFill>
                  <a:latin typeface="Archive"/>
                  <a:ea typeface="Archive"/>
                  <a:cs typeface="Archive"/>
                  <a:sym typeface="Archive"/>
                </a:rPr>
                <a:t>FUNCTIONAL TEST RESULTS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11087" y="5446928"/>
            <a:ext cx="7683666" cy="2703347"/>
            <a:chOff x="0" y="0"/>
            <a:chExt cx="9595666" cy="337604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595666" cy="3376047"/>
            </a:xfrm>
            <a:custGeom>
              <a:avLst/>
              <a:gdLst/>
              <a:ahLst/>
              <a:cxnLst/>
              <a:rect r="r" b="b" t="t" l="l"/>
              <a:pathLst>
                <a:path h="3376047" w="9595666">
                  <a:moveTo>
                    <a:pt x="0" y="306937"/>
                  </a:moveTo>
                  <a:cubicBezTo>
                    <a:pt x="0" y="137439"/>
                    <a:pt x="120710" y="0"/>
                    <a:pt x="269579" y="0"/>
                  </a:cubicBezTo>
                  <a:lnTo>
                    <a:pt x="9326087" y="0"/>
                  </a:lnTo>
                  <a:cubicBezTo>
                    <a:pt x="9474957" y="0"/>
                    <a:pt x="9595666" y="137439"/>
                    <a:pt x="9595666" y="306937"/>
                  </a:cubicBezTo>
                  <a:lnTo>
                    <a:pt x="9595666" y="3069110"/>
                  </a:lnTo>
                  <a:cubicBezTo>
                    <a:pt x="9595666" y="3238609"/>
                    <a:pt x="9474957" y="3376047"/>
                    <a:pt x="9326087" y="3376047"/>
                  </a:cubicBezTo>
                  <a:lnTo>
                    <a:pt x="269579" y="3376047"/>
                  </a:lnTo>
                  <a:cubicBezTo>
                    <a:pt x="120710" y="3376047"/>
                    <a:pt x="0" y="3238609"/>
                    <a:pt x="0" y="306911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3338" cap="sq">
              <a:solidFill>
                <a:srgbClr val="F97316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2188267" y="5889560"/>
            <a:ext cx="4988926" cy="556964"/>
            <a:chOff x="0" y="0"/>
            <a:chExt cx="6230369" cy="69555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230369" cy="695559"/>
            </a:xfrm>
            <a:custGeom>
              <a:avLst/>
              <a:gdLst/>
              <a:ahLst/>
              <a:cxnLst/>
              <a:rect r="r" b="b" t="t" l="l"/>
              <a:pathLst>
                <a:path h="695559" w="6230369">
                  <a:moveTo>
                    <a:pt x="0" y="0"/>
                  </a:moveTo>
                  <a:lnTo>
                    <a:pt x="6230369" y="0"/>
                  </a:lnTo>
                  <a:lnTo>
                    <a:pt x="6230369" y="695559"/>
                  </a:lnTo>
                  <a:lnTo>
                    <a:pt x="0" y="69555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594" r="-35023" b="-17773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6230369" cy="695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2024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ระบบประมวลผลปัญญาประดิษฐ์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85355" y="6647095"/>
            <a:ext cx="5691838" cy="1287809"/>
            <a:chOff x="0" y="0"/>
            <a:chExt cx="7108193" cy="160826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108193" cy="1608267"/>
            </a:xfrm>
            <a:custGeom>
              <a:avLst/>
              <a:gdLst/>
              <a:ahLst/>
              <a:cxnLst/>
              <a:rect r="r" b="b" t="t" l="l"/>
              <a:pathLst>
                <a:path h="1608267" w="7108193">
                  <a:moveTo>
                    <a:pt x="0" y="0"/>
                  </a:moveTo>
                  <a:lnTo>
                    <a:pt x="7108193" y="0"/>
                  </a:lnTo>
                  <a:lnTo>
                    <a:pt x="7108193" y="1608267"/>
                  </a:lnTo>
                  <a:lnTo>
                    <a:pt x="0" y="16082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4672" r="-31213" b="-6132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7108193" cy="1608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024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สกัดข้อมูลจากไฟล์ PDF ที่อัปโหลด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024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เกลาสำนวนและวิเคราะห์คะแนน ATS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31383" y="5446928"/>
            <a:ext cx="7878884" cy="2703347"/>
            <a:chOff x="0" y="0"/>
            <a:chExt cx="9839462" cy="337604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839462" cy="3376047"/>
            </a:xfrm>
            <a:custGeom>
              <a:avLst/>
              <a:gdLst/>
              <a:ahLst/>
              <a:cxnLst/>
              <a:rect r="r" b="b" t="t" l="l"/>
              <a:pathLst>
                <a:path h="3376047" w="9839462">
                  <a:moveTo>
                    <a:pt x="0" y="306937"/>
                  </a:moveTo>
                  <a:cubicBezTo>
                    <a:pt x="0" y="137439"/>
                    <a:pt x="123777" y="0"/>
                    <a:pt x="276428" y="0"/>
                  </a:cubicBezTo>
                  <a:lnTo>
                    <a:pt x="9563034" y="0"/>
                  </a:lnTo>
                  <a:cubicBezTo>
                    <a:pt x="9715685" y="0"/>
                    <a:pt x="9839462" y="137439"/>
                    <a:pt x="9839462" y="306937"/>
                  </a:cubicBezTo>
                  <a:lnTo>
                    <a:pt x="9839462" y="3069110"/>
                  </a:lnTo>
                  <a:cubicBezTo>
                    <a:pt x="9839462" y="3238609"/>
                    <a:pt x="9715685" y="3376047"/>
                    <a:pt x="9563034" y="3376047"/>
                  </a:cubicBezTo>
                  <a:lnTo>
                    <a:pt x="276428" y="3376047"/>
                  </a:lnTo>
                  <a:cubicBezTo>
                    <a:pt x="123777" y="3376047"/>
                    <a:pt x="0" y="3238609"/>
                    <a:pt x="0" y="306911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33338" cap="sq">
              <a:solidFill>
                <a:srgbClr val="F97316">
                  <a:alpha val="49804"/>
                </a:srgbClr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759212" y="5859259"/>
            <a:ext cx="644336" cy="666631"/>
            <a:chOff x="0" y="0"/>
            <a:chExt cx="804672" cy="83251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04672" cy="832515"/>
            </a:xfrm>
            <a:custGeom>
              <a:avLst/>
              <a:gdLst/>
              <a:ahLst/>
              <a:cxnLst/>
              <a:rect r="r" b="b" t="t" l="l"/>
              <a:pathLst>
                <a:path h="832515" w="804672">
                  <a:moveTo>
                    <a:pt x="0" y="416257"/>
                  </a:moveTo>
                  <a:cubicBezTo>
                    <a:pt x="0" y="186317"/>
                    <a:pt x="180086" y="0"/>
                    <a:pt x="402336" y="0"/>
                  </a:cubicBezTo>
                  <a:cubicBezTo>
                    <a:pt x="624586" y="0"/>
                    <a:pt x="804672" y="186317"/>
                    <a:pt x="804672" y="416257"/>
                  </a:cubicBezTo>
                  <a:cubicBezTo>
                    <a:pt x="804672" y="646198"/>
                    <a:pt x="624586" y="832515"/>
                    <a:pt x="402336" y="832515"/>
                  </a:cubicBezTo>
                  <a:cubicBezTo>
                    <a:pt x="180086" y="832515"/>
                    <a:pt x="0" y="646198"/>
                    <a:pt x="0" y="416257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759212" y="5859259"/>
            <a:ext cx="644336" cy="666631"/>
            <a:chOff x="0" y="0"/>
            <a:chExt cx="804672" cy="83251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04672" cy="832515"/>
            </a:xfrm>
            <a:custGeom>
              <a:avLst/>
              <a:gdLst/>
              <a:ahLst/>
              <a:cxnLst/>
              <a:rect r="r" b="b" t="t" l="l"/>
              <a:pathLst>
                <a:path h="832515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32515"/>
                  </a:lnTo>
                  <a:lnTo>
                    <a:pt x="0" y="83251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334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804672" cy="83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✓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608563" y="5889560"/>
            <a:ext cx="4626638" cy="556964"/>
            <a:chOff x="0" y="0"/>
            <a:chExt cx="5777928" cy="69555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777929" cy="695559"/>
            </a:xfrm>
            <a:custGeom>
              <a:avLst/>
              <a:gdLst/>
              <a:ahLst/>
              <a:cxnLst/>
              <a:rect r="r" b="b" t="t" l="l"/>
              <a:pathLst>
                <a:path h="695559" w="5777929">
                  <a:moveTo>
                    <a:pt x="0" y="0"/>
                  </a:moveTo>
                  <a:lnTo>
                    <a:pt x="5777929" y="0"/>
                  </a:lnTo>
                  <a:lnTo>
                    <a:pt x="5777929" y="695559"/>
                  </a:lnTo>
                  <a:lnTo>
                    <a:pt x="0" y="69555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594" r="-45596" b="-17773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777928" cy="695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2024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ระบบแสดงผลและส่งออก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905652" y="6647095"/>
            <a:ext cx="5329549" cy="1287809"/>
            <a:chOff x="0" y="0"/>
            <a:chExt cx="6655752" cy="160826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655753" cy="1608267"/>
            </a:xfrm>
            <a:custGeom>
              <a:avLst/>
              <a:gdLst/>
              <a:ahLst/>
              <a:cxnLst/>
              <a:rect r="r" b="b" t="t" l="l"/>
              <a:pathLst>
                <a:path h="1608267" w="6655753">
                  <a:moveTo>
                    <a:pt x="0" y="0"/>
                  </a:moveTo>
                  <a:lnTo>
                    <a:pt x="6655753" y="0"/>
                  </a:lnTo>
                  <a:lnTo>
                    <a:pt x="6655753" y="1608267"/>
                  </a:lnTo>
                  <a:lnTo>
                    <a:pt x="0" y="160826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4672" r="-40132" b="-6132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6655752" cy="1608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024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Live Preview แสดงผลแบบเรียลไทม์</a:t>
              </a:r>
            </a:p>
            <a:p>
              <a:pPr algn="l" marL="380048" indent="-190024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F2024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ส่งออกเอกสาร PDF ขนาด A4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2737842" y="8636050"/>
            <a:ext cx="8976768" cy="484822"/>
            <a:chOff x="0" y="0"/>
            <a:chExt cx="11210544" cy="60546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210544" cy="605465"/>
            </a:xfrm>
            <a:custGeom>
              <a:avLst/>
              <a:gdLst/>
              <a:ahLst/>
              <a:cxnLst/>
              <a:rect r="r" b="b" t="t" l="l"/>
              <a:pathLst>
                <a:path h="605465" w="11210544">
                  <a:moveTo>
                    <a:pt x="0" y="0"/>
                  </a:moveTo>
                  <a:lnTo>
                    <a:pt x="11210544" y="0"/>
                  </a:lnTo>
                  <a:lnTo>
                    <a:pt x="11210544" y="605465"/>
                  </a:lnTo>
                  <a:lnTo>
                    <a:pt x="0" y="6054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28496" r="-87601" b="-62515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11210544" cy="605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ผลการทดสอบ: ทุกฟังก์ชันตามขอบเขตที่กำหนดสามารถทำงานได้ถูกต้องครบถ้วน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34381" y="2865190"/>
            <a:ext cx="644336" cy="666631"/>
            <a:chOff x="0" y="0"/>
            <a:chExt cx="804672" cy="83251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04672" cy="832515"/>
            </a:xfrm>
            <a:custGeom>
              <a:avLst/>
              <a:gdLst/>
              <a:ahLst/>
              <a:cxnLst/>
              <a:rect r="r" b="b" t="t" l="l"/>
              <a:pathLst>
                <a:path h="832515" w="804672">
                  <a:moveTo>
                    <a:pt x="0" y="416257"/>
                  </a:moveTo>
                  <a:cubicBezTo>
                    <a:pt x="0" y="186317"/>
                    <a:pt x="180086" y="0"/>
                    <a:pt x="402336" y="0"/>
                  </a:cubicBezTo>
                  <a:cubicBezTo>
                    <a:pt x="624586" y="0"/>
                    <a:pt x="804672" y="186317"/>
                    <a:pt x="804672" y="416257"/>
                  </a:cubicBezTo>
                  <a:cubicBezTo>
                    <a:pt x="804672" y="646198"/>
                    <a:pt x="624586" y="832515"/>
                    <a:pt x="402336" y="832515"/>
                  </a:cubicBezTo>
                  <a:cubicBezTo>
                    <a:pt x="180086" y="832515"/>
                    <a:pt x="0" y="646198"/>
                    <a:pt x="0" y="416257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34381" y="2865190"/>
            <a:ext cx="644336" cy="666631"/>
            <a:chOff x="0" y="0"/>
            <a:chExt cx="804672" cy="83251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04672" cy="832515"/>
            </a:xfrm>
            <a:custGeom>
              <a:avLst/>
              <a:gdLst/>
              <a:ahLst/>
              <a:cxnLst/>
              <a:rect r="r" b="b" t="t" l="l"/>
              <a:pathLst>
                <a:path h="832515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32515"/>
                  </a:lnTo>
                  <a:lnTo>
                    <a:pt x="0" y="83251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334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804672" cy="83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✓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34381" y="5859259"/>
            <a:ext cx="644336" cy="666631"/>
            <a:chOff x="0" y="0"/>
            <a:chExt cx="804672" cy="83251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04672" cy="832515"/>
            </a:xfrm>
            <a:custGeom>
              <a:avLst/>
              <a:gdLst/>
              <a:ahLst/>
              <a:cxnLst/>
              <a:rect r="r" b="b" t="t" l="l"/>
              <a:pathLst>
                <a:path h="832515" w="804672">
                  <a:moveTo>
                    <a:pt x="0" y="416257"/>
                  </a:moveTo>
                  <a:cubicBezTo>
                    <a:pt x="0" y="186317"/>
                    <a:pt x="180086" y="0"/>
                    <a:pt x="402336" y="0"/>
                  </a:cubicBezTo>
                  <a:cubicBezTo>
                    <a:pt x="624586" y="0"/>
                    <a:pt x="804672" y="186317"/>
                    <a:pt x="804672" y="416257"/>
                  </a:cubicBezTo>
                  <a:cubicBezTo>
                    <a:pt x="804672" y="646198"/>
                    <a:pt x="624586" y="832515"/>
                    <a:pt x="402336" y="832515"/>
                  </a:cubicBezTo>
                  <a:cubicBezTo>
                    <a:pt x="180086" y="832515"/>
                    <a:pt x="0" y="646198"/>
                    <a:pt x="0" y="416257"/>
                  </a:cubicBez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34381" y="5859259"/>
            <a:ext cx="644336" cy="666631"/>
            <a:chOff x="0" y="0"/>
            <a:chExt cx="804672" cy="83251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04672" cy="832515"/>
            </a:xfrm>
            <a:custGeom>
              <a:avLst/>
              <a:gdLst/>
              <a:ahLst/>
              <a:cxnLst/>
              <a:rect r="r" b="b" t="t" l="l"/>
              <a:pathLst>
                <a:path h="832515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32515"/>
                  </a:lnTo>
                  <a:lnTo>
                    <a:pt x="0" y="83251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334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804672" cy="832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✓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5" t="0" r="-72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05411" y="648716"/>
            <a:ext cx="5124676" cy="480120"/>
            <a:chOff x="0" y="0"/>
            <a:chExt cx="6295009" cy="5897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295009" cy="589765"/>
            </a:xfrm>
            <a:custGeom>
              <a:avLst/>
              <a:gdLst/>
              <a:ahLst/>
              <a:cxnLst/>
              <a:rect r="r" b="b" t="t" l="l"/>
              <a:pathLst>
                <a:path h="589765" w="6295009">
                  <a:moveTo>
                    <a:pt x="0" y="0"/>
                  </a:moveTo>
                  <a:lnTo>
                    <a:pt x="6295009" y="0"/>
                  </a:lnTo>
                  <a:lnTo>
                    <a:pt x="6295009" y="589765"/>
                  </a:lnTo>
                  <a:lnTo>
                    <a:pt x="0" y="5897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3964" r="-146938" b="-46319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6295009" cy="580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ผลการประเมินความพึงพอใจของผู้ใช้งาน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08494" y="1037482"/>
            <a:ext cx="7805538" cy="994943"/>
            <a:chOff x="0" y="0"/>
            <a:chExt cx="9588105" cy="122216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88105" cy="1222161"/>
            </a:xfrm>
            <a:custGeom>
              <a:avLst/>
              <a:gdLst/>
              <a:ahLst/>
              <a:cxnLst/>
              <a:rect r="r" b="b" t="t" l="l"/>
              <a:pathLst>
                <a:path h="1222161" w="9588105">
                  <a:moveTo>
                    <a:pt x="0" y="0"/>
                  </a:moveTo>
                  <a:lnTo>
                    <a:pt x="9588105" y="0"/>
                  </a:lnTo>
                  <a:lnTo>
                    <a:pt x="9588105" y="1222161"/>
                  </a:lnTo>
                  <a:lnTo>
                    <a:pt x="0" y="122216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6035" r="-83106" b="-23377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9588105" cy="12221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>
                  <a:solidFill>
                    <a:srgbClr val="1F2024"/>
                  </a:solidFill>
                  <a:latin typeface="Archive"/>
                  <a:ea typeface="Archive"/>
                  <a:cs typeface="Archive"/>
                  <a:sym typeface="Archive"/>
                </a:rPr>
                <a:t>USER SATISFACTION</a:t>
              </a:r>
            </a:p>
          </p:txBody>
        </p:sp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72074" y="1252341"/>
            <a:ext cx="13965738" cy="8225191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 rot="0">
            <a:off x="13298716" y="1833376"/>
            <a:ext cx="4488020" cy="2399183"/>
            <a:chOff x="0" y="0"/>
            <a:chExt cx="5530850" cy="29566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30850" cy="2956654"/>
            </a:xfrm>
            <a:custGeom>
              <a:avLst/>
              <a:gdLst/>
              <a:ahLst/>
              <a:cxnLst/>
              <a:rect r="r" b="b" t="t" l="l"/>
              <a:pathLst>
                <a:path h="2956654" w="5530850">
                  <a:moveTo>
                    <a:pt x="0" y="270323"/>
                  </a:moveTo>
                  <a:cubicBezTo>
                    <a:pt x="0" y="121043"/>
                    <a:pt x="132842" y="0"/>
                    <a:pt x="296672" y="0"/>
                  </a:cubicBezTo>
                  <a:lnTo>
                    <a:pt x="5234178" y="0"/>
                  </a:lnTo>
                  <a:cubicBezTo>
                    <a:pt x="5398008" y="0"/>
                    <a:pt x="5530850" y="121043"/>
                    <a:pt x="5530850" y="270323"/>
                  </a:cubicBezTo>
                  <a:lnTo>
                    <a:pt x="5530850" y="2686331"/>
                  </a:lnTo>
                  <a:cubicBezTo>
                    <a:pt x="5530850" y="2835610"/>
                    <a:pt x="5398008" y="2956654"/>
                    <a:pt x="5234178" y="2956654"/>
                  </a:cubicBezTo>
                  <a:lnTo>
                    <a:pt x="296672" y="2956654"/>
                  </a:lnTo>
                  <a:cubicBezTo>
                    <a:pt x="132842" y="2956654"/>
                    <a:pt x="0" y="2835610"/>
                    <a:pt x="0" y="2686331"/>
                  </a:cubicBezTo>
                  <a:close/>
                </a:path>
              </a:pathLst>
            </a:custGeom>
            <a:solidFill>
              <a:srgbClr val="FFF3E8"/>
            </a:solidFill>
            <a:ln w="33338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658067" y="2032425"/>
            <a:ext cx="3858357" cy="480120"/>
            <a:chOff x="0" y="0"/>
            <a:chExt cx="4754880" cy="5916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54880" cy="591679"/>
            </a:xfrm>
            <a:custGeom>
              <a:avLst/>
              <a:gdLst/>
              <a:ahLst/>
              <a:cxnLst/>
              <a:rect r="r" b="b" t="t" l="l"/>
              <a:pathLst>
                <a:path h="591679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91679"/>
                  </a:lnTo>
                  <a:lnTo>
                    <a:pt x="0" y="59167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6405" r="0" b="-9676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4754880" cy="582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ภาพรวม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658067" y="2459254"/>
            <a:ext cx="3858357" cy="1147428"/>
            <a:chOff x="0" y="0"/>
            <a:chExt cx="4754880" cy="141404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54880" cy="1414042"/>
            </a:xfrm>
            <a:custGeom>
              <a:avLst/>
              <a:gdLst/>
              <a:ahLst/>
              <a:cxnLst/>
              <a:rect r="r" b="b" t="t" l="l"/>
              <a:pathLst>
                <a:path h="141404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14042"/>
                  </a:lnTo>
                  <a:lnTo>
                    <a:pt x="0" y="141404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427" r="0" b="-561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754880" cy="14235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39"/>
                </a:lnSpc>
              </a:pPr>
              <a:r>
                <a:rPr lang="en-US" sz="5700" b="true">
                  <a:solidFill>
                    <a:srgbClr val="EA6A0A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ดีมาก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658067" y="3434295"/>
            <a:ext cx="3858357" cy="706583"/>
            <a:chOff x="0" y="0"/>
            <a:chExt cx="4754880" cy="87076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54880" cy="870763"/>
            </a:xfrm>
            <a:custGeom>
              <a:avLst/>
              <a:gdLst/>
              <a:ahLst/>
              <a:cxnLst/>
              <a:rect r="r" b="b" t="t" l="l"/>
              <a:pathLst>
                <a:path h="870763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870763"/>
                  </a:lnTo>
                  <a:lnTo>
                    <a:pt x="0" y="87076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8094" r="0" b="-5470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4754880" cy="8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63"/>
                </a:lnSpc>
              </a:pPr>
              <a:r>
                <a:rPr lang="en-US" sz="2100">
                  <a:solidFill>
                    <a:srgbClr val="1F2024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จากผู้ใช้งานกลุ่มตัวอย่าง 30 คน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343235" y="4398201"/>
            <a:ext cx="4488020" cy="4648209"/>
            <a:chOff x="0" y="0"/>
            <a:chExt cx="5530850" cy="57282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30850" cy="5728260"/>
            </a:xfrm>
            <a:custGeom>
              <a:avLst/>
              <a:gdLst/>
              <a:ahLst/>
              <a:cxnLst/>
              <a:rect r="r" b="b" t="t" l="l"/>
              <a:pathLst>
                <a:path h="5728260" w="5530850">
                  <a:moveTo>
                    <a:pt x="0" y="453777"/>
                  </a:moveTo>
                  <a:cubicBezTo>
                    <a:pt x="0" y="203149"/>
                    <a:pt x="132588" y="0"/>
                    <a:pt x="296164" y="0"/>
                  </a:cubicBezTo>
                  <a:lnTo>
                    <a:pt x="5234686" y="0"/>
                  </a:lnTo>
                  <a:cubicBezTo>
                    <a:pt x="5398262" y="0"/>
                    <a:pt x="5530850" y="203149"/>
                    <a:pt x="5530850" y="453777"/>
                  </a:cubicBezTo>
                  <a:lnTo>
                    <a:pt x="5530850" y="5274482"/>
                  </a:lnTo>
                  <a:cubicBezTo>
                    <a:pt x="5530850" y="5525111"/>
                    <a:pt x="5398262" y="5728260"/>
                    <a:pt x="5234686" y="5728260"/>
                  </a:cubicBezTo>
                  <a:lnTo>
                    <a:pt x="296164" y="5728260"/>
                  </a:lnTo>
                  <a:cubicBezTo>
                    <a:pt x="132588" y="5728260"/>
                    <a:pt x="0" y="5525111"/>
                    <a:pt x="0" y="5274482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F97316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687746" y="4544526"/>
            <a:ext cx="3858357" cy="480120"/>
            <a:chOff x="0" y="0"/>
            <a:chExt cx="4754880" cy="59167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754880" cy="591679"/>
            </a:xfrm>
            <a:custGeom>
              <a:avLst/>
              <a:gdLst/>
              <a:ahLst/>
              <a:cxnLst/>
              <a:rect r="r" b="b" t="t" l="l"/>
              <a:pathLst>
                <a:path h="591679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91679"/>
                  </a:lnTo>
                  <a:lnTo>
                    <a:pt x="0" y="59167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3314" r="0" b="-9985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9525"/>
              <a:ext cx="4754880" cy="5821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A6A0A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ข้อสังเกต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687746" y="4966066"/>
            <a:ext cx="3888037" cy="3944514"/>
            <a:chOff x="0" y="0"/>
            <a:chExt cx="4791456" cy="486105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791456" cy="4861056"/>
            </a:xfrm>
            <a:custGeom>
              <a:avLst/>
              <a:gdLst/>
              <a:ahLst/>
              <a:cxnLst/>
              <a:rect r="r" b="b" t="t" l="l"/>
              <a:pathLst>
                <a:path h="4861056" w="4791456">
                  <a:moveTo>
                    <a:pt x="0" y="0"/>
                  </a:moveTo>
                  <a:lnTo>
                    <a:pt x="4791456" y="0"/>
                  </a:lnTo>
                  <a:lnTo>
                    <a:pt x="4791456" y="4861056"/>
                  </a:lnTo>
                  <a:lnTo>
                    <a:pt x="0" y="486105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1007" t="0" r="-21007" b="4544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4791456" cy="4880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80048" indent="-190024" lvl="1">
                <a:lnSpc>
                  <a:spcPts val="2799"/>
                </a:lnSpc>
                <a:buFont typeface="Arial"/>
                <a:buChar char="•"/>
              </a:pPr>
              <a:r>
                <a:rPr lang="en-US" sz="2100">
                  <a:solidFill>
                    <a:srgbClr val="1F2024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จุดเด่น (4.93): ความง่ายในการเข้าถึงระบบสูงเป็นอันดับ 1 จากการ Deploy บน Vercel และระบบ SSO ของ Supabase</a:t>
              </a:r>
            </a:p>
            <a:p>
              <a:pPr algn="l" marL="380048" indent="-190024" lvl="1">
                <a:lnSpc>
                  <a:spcPts val="2799"/>
                </a:lnSpc>
                <a:buFont typeface="Arial"/>
                <a:buChar char="•"/>
              </a:pPr>
              <a:r>
                <a:rPr lang="en-US" sz="2100">
                  <a:solidFill>
                    <a:srgbClr val="1F2024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จุดปรับปรุง (4.47): ความเร็ว AI อยู่ในระดับดีแต่ต่ำสุด เกิดจากระยะเวลาประมวลผลโมเดล 120B ผ่าน API ภายนอก</a:t>
              </a:r>
            </a:p>
            <a:p>
              <a:pPr algn="l" marL="380048" indent="-190024" lvl="1">
                <a:lnSpc>
                  <a:spcPts val="2799"/>
                </a:lnSpc>
                <a:buFont typeface="Arial"/>
                <a:buChar char="•"/>
              </a:pPr>
              <a:r>
                <a:rPr lang="en-US" sz="2100">
                  <a:solidFill>
                    <a:srgbClr val="1F2024"/>
                  </a:solidFill>
                  <a:latin typeface="Canva Sans 1"/>
                  <a:ea typeface="Canva Sans 1"/>
                  <a:cs typeface="Canva Sans 1"/>
                  <a:sym typeface="Canva Sans 1"/>
                </a:rPr>
                <a:t>การต่อยอด: เตรียมระบบแคชและ Fallback ด้วยโมเดลสำรองเพื่อลดความล่าช้า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538894" y="9666412"/>
            <a:ext cx="506208" cy="506208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5" t="0" r="-72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403368" y="1910083"/>
            <a:ext cx="13217608" cy="1869868"/>
            <a:chOff x="0" y="0"/>
            <a:chExt cx="2381273" cy="3368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81273" cy="336874"/>
            </a:xfrm>
            <a:custGeom>
              <a:avLst/>
              <a:gdLst/>
              <a:ahLst/>
              <a:cxnLst/>
              <a:rect r="r" b="b" t="t" l="l"/>
              <a:pathLst>
                <a:path h="336874" w="2381273">
                  <a:moveTo>
                    <a:pt x="29286" y="0"/>
                  </a:moveTo>
                  <a:lnTo>
                    <a:pt x="2351986" y="0"/>
                  </a:lnTo>
                  <a:cubicBezTo>
                    <a:pt x="2359753" y="0"/>
                    <a:pt x="2367203" y="3086"/>
                    <a:pt x="2372695" y="8578"/>
                  </a:cubicBezTo>
                  <a:cubicBezTo>
                    <a:pt x="2378187" y="14070"/>
                    <a:pt x="2381273" y="21519"/>
                    <a:pt x="2381273" y="29286"/>
                  </a:cubicBezTo>
                  <a:lnTo>
                    <a:pt x="2381273" y="307587"/>
                  </a:lnTo>
                  <a:cubicBezTo>
                    <a:pt x="2381273" y="323762"/>
                    <a:pt x="2368161" y="336874"/>
                    <a:pt x="2351986" y="336874"/>
                  </a:cubicBezTo>
                  <a:lnTo>
                    <a:pt x="29286" y="336874"/>
                  </a:lnTo>
                  <a:cubicBezTo>
                    <a:pt x="21519" y="336874"/>
                    <a:pt x="14070" y="333788"/>
                    <a:pt x="8578" y="328296"/>
                  </a:cubicBezTo>
                  <a:cubicBezTo>
                    <a:pt x="3086" y="322804"/>
                    <a:pt x="0" y="315355"/>
                    <a:pt x="0" y="307587"/>
                  </a:cubicBezTo>
                  <a:lnTo>
                    <a:pt x="0" y="29286"/>
                  </a:lnTo>
                  <a:cubicBezTo>
                    <a:pt x="0" y="21519"/>
                    <a:pt x="3086" y="14070"/>
                    <a:pt x="8578" y="8578"/>
                  </a:cubicBezTo>
                  <a:cubicBezTo>
                    <a:pt x="14070" y="3086"/>
                    <a:pt x="21519" y="0"/>
                    <a:pt x="2928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751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381273" cy="365449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35116" y="756923"/>
            <a:ext cx="4755008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CONCLUSION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12755" y="451967"/>
            <a:ext cx="273144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สรุปผลการดำเนินงาน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33241" y="2156757"/>
            <a:ext cx="343078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พัฒนาเว็บแอปพลิเคชัน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926686" y="2806917"/>
            <a:ext cx="11089271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พัฒนาระบบ AIRB สำเร็จด้วย Next.js, Tailwind CSS และ Supabase นำขึ้นใช้งานจริงบน Vercel ทุกฟังก์ชันตามขอบเขตทำงานได้ถูกต้องครบถ้วน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403368" y="4367278"/>
            <a:ext cx="13217608" cy="1869868"/>
            <a:chOff x="0" y="0"/>
            <a:chExt cx="2381273" cy="3368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81273" cy="336874"/>
            </a:xfrm>
            <a:custGeom>
              <a:avLst/>
              <a:gdLst/>
              <a:ahLst/>
              <a:cxnLst/>
              <a:rect r="r" b="b" t="t" l="l"/>
              <a:pathLst>
                <a:path h="336874" w="2381273">
                  <a:moveTo>
                    <a:pt x="29286" y="0"/>
                  </a:moveTo>
                  <a:lnTo>
                    <a:pt x="2351986" y="0"/>
                  </a:lnTo>
                  <a:cubicBezTo>
                    <a:pt x="2359753" y="0"/>
                    <a:pt x="2367203" y="3086"/>
                    <a:pt x="2372695" y="8578"/>
                  </a:cubicBezTo>
                  <a:cubicBezTo>
                    <a:pt x="2378187" y="14070"/>
                    <a:pt x="2381273" y="21519"/>
                    <a:pt x="2381273" y="29286"/>
                  </a:cubicBezTo>
                  <a:lnTo>
                    <a:pt x="2381273" y="307587"/>
                  </a:lnTo>
                  <a:cubicBezTo>
                    <a:pt x="2381273" y="323762"/>
                    <a:pt x="2368161" y="336874"/>
                    <a:pt x="2351986" y="336874"/>
                  </a:cubicBezTo>
                  <a:lnTo>
                    <a:pt x="29286" y="336874"/>
                  </a:lnTo>
                  <a:cubicBezTo>
                    <a:pt x="21519" y="336874"/>
                    <a:pt x="14070" y="333788"/>
                    <a:pt x="8578" y="328296"/>
                  </a:cubicBezTo>
                  <a:cubicBezTo>
                    <a:pt x="3086" y="322804"/>
                    <a:pt x="0" y="315355"/>
                    <a:pt x="0" y="307587"/>
                  </a:cubicBezTo>
                  <a:lnTo>
                    <a:pt x="0" y="29286"/>
                  </a:lnTo>
                  <a:cubicBezTo>
                    <a:pt x="0" y="21519"/>
                    <a:pt x="3086" y="14070"/>
                    <a:pt x="8578" y="8578"/>
                  </a:cubicBezTo>
                  <a:cubicBezTo>
                    <a:pt x="14070" y="3086"/>
                    <a:pt x="21519" y="0"/>
                    <a:pt x="2928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751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381273" cy="365449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833241" y="4539355"/>
            <a:ext cx="378737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ประยุกต์ใช้ปัญญาประดิษฐ์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93204" y="5184947"/>
            <a:ext cx="11089271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เลือกใช้โมเดล GPT-OSS-120B ที่มีความแม่นยำในการสกัดข้อมูลสูงสุด 98.80% ร่วมกับการเกลาสำนวน วิเคราะห์คะแนน ATS และตัดพื้นหลังรูปโปรไฟล์อัตโนมัติ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403368" y="6824472"/>
            <a:ext cx="13217608" cy="1913365"/>
            <a:chOff x="0" y="0"/>
            <a:chExt cx="2381273" cy="3447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81273" cy="344710"/>
            </a:xfrm>
            <a:custGeom>
              <a:avLst/>
              <a:gdLst/>
              <a:ahLst/>
              <a:cxnLst/>
              <a:rect r="r" b="b" t="t" l="l"/>
              <a:pathLst>
                <a:path h="344710" w="2381273">
                  <a:moveTo>
                    <a:pt x="29286" y="0"/>
                  </a:moveTo>
                  <a:lnTo>
                    <a:pt x="2351986" y="0"/>
                  </a:lnTo>
                  <a:cubicBezTo>
                    <a:pt x="2359753" y="0"/>
                    <a:pt x="2367203" y="3086"/>
                    <a:pt x="2372695" y="8578"/>
                  </a:cubicBezTo>
                  <a:cubicBezTo>
                    <a:pt x="2378187" y="14070"/>
                    <a:pt x="2381273" y="21519"/>
                    <a:pt x="2381273" y="29286"/>
                  </a:cubicBezTo>
                  <a:lnTo>
                    <a:pt x="2381273" y="315424"/>
                  </a:lnTo>
                  <a:cubicBezTo>
                    <a:pt x="2381273" y="331598"/>
                    <a:pt x="2368161" y="344710"/>
                    <a:pt x="2351986" y="344710"/>
                  </a:cubicBezTo>
                  <a:lnTo>
                    <a:pt x="29286" y="344710"/>
                  </a:lnTo>
                  <a:cubicBezTo>
                    <a:pt x="21519" y="344710"/>
                    <a:pt x="14070" y="341625"/>
                    <a:pt x="8578" y="336132"/>
                  </a:cubicBezTo>
                  <a:cubicBezTo>
                    <a:pt x="3086" y="330640"/>
                    <a:pt x="0" y="323191"/>
                    <a:pt x="0" y="315424"/>
                  </a:cubicBezTo>
                  <a:lnTo>
                    <a:pt x="0" y="29286"/>
                  </a:lnTo>
                  <a:cubicBezTo>
                    <a:pt x="0" y="21519"/>
                    <a:pt x="3086" y="14070"/>
                    <a:pt x="8578" y="8578"/>
                  </a:cubicBezTo>
                  <a:cubicBezTo>
                    <a:pt x="14070" y="3086"/>
                    <a:pt x="21519" y="0"/>
                    <a:pt x="2928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751F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2381273" cy="37328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833241" y="7092895"/>
            <a:ext cx="324516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ทดสอบและประเมินผล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926686" y="7648703"/>
            <a:ext cx="11089271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ระบบลดระยะเวลาการจัดทำเรซูเม่ลง 74.48% จาก 16 นาที เหลือ 4–5 นาที และได้รับความพึงพอใจจากผู้ใช้งาน 30 คน อยู่ในระดับดีมาก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620853" y="2425997"/>
            <a:ext cx="838039" cy="838039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620853" y="2425997"/>
            <a:ext cx="838039" cy="838039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1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654503" y="4960507"/>
            <a:ext cx="838039" cy="838039"/>
            <a:chOff x="0" y="0"/>
            <a:chExt cx="91440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2654503" y="4960507"/>
            <a:ext cx="838039" cy="838039"/>
            <a:chOff x="0" y="0"/>
            <a:chExt cx="9144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654503" y="7362135"/>
            <a:ext cx="838039" cy="838039"/>
            <a:chOff x="0" y="0"/>
            <a:chExt cx="91440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F9731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654503" y="7362135"/>
            <a:ext cx="838039" cy="838039"/>
            <a:chOff x="0" y="0"/>
            <a:chExt cx="914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914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7538894" y="9666412"/>
            <a:ext cx="506208" cy="506208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12172" y="344366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7"/>
                </a:lnTo>
                <a:lnTo>
                  <a:pt x="0" y="13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48040" y="-7557950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5" t="0" r="-72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07333" y="6872692"/>
            <a:ext cx="6580414" cy="1751077"/>
            <a:chOff x="0" y="0"/>
            <a:chExt cx="1265946" cy="3368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5946" cy="336874"/>
            </a:xfrm>
            <a:custGeom>
              <a:avLst/>
              <a:gdLst/>
              <a:ahLst/>
              <a:cxnLst/>
              <a:rect r="r" b="b" t="t" l="l"/>
              <a:pathLst>
                <a:path h="336874" w="1265946">
                  <a:moveTo>
                    <a:pt x="58825" y="0"/>
                  </a:moveTo>
                  <a:lnTo>
                    <a:pt x="1207120" y="0"/>
                  </a:lnTo>
                  <a:cubicBezTo>
                    <a:pt x="1239609" y="0"/>
                    <a:pt x="1265946" y="26337"/>
                    <a:pt x="1265946" y="58825"/>
                  </a:cubicBezTo>
                  <a:lnTo>
                    <a:pt x="1265946" y="278048"/>
                  </a:lnTo>
                  <a:cubicBezTo>
                    <a:pt x="1265946" y="293650"/>
                    <a:pt x="1259748" y="308612"/>
                    <a:pt x="1248716" y="319644"/>
                  </a:cubicBezTo>
                  <a:cubicBezTo>
                    <a:pt x="1237684" y="330676"/>
                    <a:pt x="1222722" y="336874"/>
                    <a:pt x="1207120" y="336874"/>
                  </a:cubicBezTo>
                  <a:lnTo>
                    <a:pt x="58825" y="336874"/>
                  </a:lnTo>
                  <a:cubicBezTo>
                    <a:pt x="43224" y="336874"/>
                    <a:pt x="28262" y="330676"/>
                    <a:pt x="17230" y="319644"/>
                  </a:cubicBezTo>
                  <a:cubicBezTo>
                    <a:pt x="6198" y="308612"/>
                    <a:pt x="0" y="293650"/>
                    <a:pt x="0" y="278048"/>
                  </a:cubicBezTo>
                  <a:lnTo>
                    <a:pt x="0" y="58825"/>
                  </a:lnTo>
                  <a:cubicBezTo>
                    <a:pt x="0" y="43224"/>
                    <a:pt x="6198" y="28262"/>
                    <a:pt x="17230" y="17230"/>
                  </a:cubicBezTo>
                  <a:cubicBezTo>
                    <a:pt x="28262" y="6198"/>
                    <a:pt x="43224" y="0"/>
                    <a:pt x="5882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751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265946" cy="365449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07333" y="2686345"/>
            <a:ext cx="6580414" cy="1751077"/>
            <a:chOff x="0" y="0"/>
            <a:chExt cx="1265946" cy="3368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65946" cy="336874"/>
            </a:xfrm>
            <a:custGeom>
              <a:avLst/>
              <a:gdLst/>
              <a:ahLst/>
              <a:cxnLst/>
              <a:rect r="r" b="b" t="t" l="l"/>
              <a:pathLst>
                <a:path h="336874" w="1265946">
                  <a:moveTo>
                    <a:pt x="58825" y="0"/>
                  </a:moveTo>
                  <a:lnTo>
                    <a:pt x="1207120" y="0"/>
                  </a:lnTo>
                  <a:cubicBezTo>
                    <a:pt x="1239609" y="0"/>
                    <a:pt x="1265946" y="26337"/>
                    <a:pt x="1265946" y="58825"/>
                  </a:cubicBezTo>
                  <a:lnTo>
                    <a:pt x="1265946" y="278048"/>
                  </a:lnTo>
                  <a:cubicBezTo>
                    <a:pt x="1265946" y="293650"/>
                    <a:pt x="1259748" y="308612"/>
                    <a:pt x="1248716" y="319644"/>
                  </a:cubicBezTo>
                  <a:cubicBezTo>
                    <a:pt x="1237684" y="330676"/>
                    <a:pt x="1222722" y="336874"/>
                    <a:pt x="1207120" y="336874"/>
                  </a:cubicBezTo>
                  <a:lnTo>
                    <a:pt x="58825" y="336874"/>
                  </a:lnTo>
                  <a:cubicBezTo>
                    <a:pt x="43224" y="336874"/>
                    <a:pt x="28262" y="330676"/>
                    <a:pt x="17230" y="319644"/>
                  </a:cubicBezTo>
                  <a:cubicBezTo>
                    <a:pt x="6198" y="308612"/>
                    <a:pt x="0" y="293650"/>
                    <a:pt x="0" y="278048"/>
                  </a:cubicBezTo>
                  <a:lnTo>
                    <a:pt x="0" y="58825"/>
                  </a:lnTo>
                  <a:cubicBezTo>
                    <a:pt x="0" y="43224"/>
                    <a:pt x="6198" y="28262"/>
                    <a:pt x="17230" y="17230"/>
                  </a:cubicBezTo>
                  <a:cubicBezTo>
                    <a:pt x="28262" y="6198"/>
                    <a:pt x="43224" y="0"/>
                    <a:pt x="5882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751F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265946" cy="365449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41979" y="857044"/>
            <a:ext cx="9148195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LIMITATIONS &amp; FUTURE</a:t>
            </a:r>
            <a:r>
              <a:rPr lang="en-US" sz="4800">
                <a:solidFill>
                  <a:srgbClr val="000000"/>
                </a:solidFill>
                <a:latin typeface="Archive"/>
                <a:ea typeface="Archive"/>
                <a:cs typeface="Archive"/>
                <a:sym typeface="Archive"/>
              </a:rPr>
              <a:t> WORK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3844" y="556054"/>
            <a:ext cx="402669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3B3B3B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ปัญหา อุปสรรค และข้อเสนอแนะ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707333" y="4741144"/>
            <a:ext cx="6580414" cy="1751077"/>
            <a:chOff x="0" y="0"/>
            <a:chExt cx="1265946" cy="33687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5946" cy="336874"/>
            </a:xfrm>
            <a:custGeom>
              <a:avLst/>
              <a:gdLst/>
              <a:ahLst/>
              <a:cxnLst/>
              <a:rect r="r" b="b" t="t" l="l"/>
              <a:pathLst>
                <a:path h="336874" w="1265946">
                  <a:moveTo>
                    <a:pt x="58825" y="0"/>
                  </a:moveTo>
                  <a:lnTo>
                    <a:pt x="1207120" y="0"/>
                  </a:lnTo>
                  <a:cubicBezTo>
                    <a:pt x="1239609" y="0"/>
                    <a:pt x="1265946" y="26337"/>
                    <a:pt x="1265946" y="58825"/>
                  </a:cubicBezTo>
                  <a:lnTo>
                    <a:pt x="1265946" y="278048"/>
                  </a:lnTo>
                  <a:cubicBezTo>
                    <a:pt x="1265946" y="293650"/>
                    <a:pt x="1259748" y="308612"/>
                    <a:pt x="1248716" y="319644"/>
                  </a:cubicBezTo>
                  <a:cubicBezTo>
                    <a:pt x="1237684" y="330676"/>
                    <a:pt x="1222722" y="336874"/>
                    <a:pt x="1207120" y="336874"/>
                  </a:cubicBezTo>
                  <a:lnTo>
                    <a:pt x="58825" y="336874"/>
                  </a:lnTo>
                  <a:cubicBezTo>
                    <a:pt x="43224" y="336874"/>
                    <a:pt x="28262" y="330676"/>
                    <a:pt x="17230" y="319644"/>
                  </a:cubicBezTo>
                  <a:cubicBezTo>
                    <a:pt x="6198" y="308612"/>
                    <a:pt x="0" y="293650"/>
                    <a:pt x="0" y="278048"/>
                  </a:cubicBezTo>
                  <a:lnTo>
                    <a:pt x="0" y="58825"/>
                  </a:lnTo>
                  <a:cubicBezTo>
                    <a:pt x="0" y="43224"/>
                    <a:pt x="6198" y="28262"/>
                    <a:pt x="17230" y="17230"/>
                  </a:cubicBezTo>
                  <a:cubicBezTo>
                    <a:pt x="28262" y="6198"/>
                    <a:pt x="43224" y="0"/>
                    <a:pt x="5882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FF751F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265946" cy="365449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841643" y="1983725"/>
            <a:ext cx="5444207" cy="506555"/>
            <a:chOff x="0" y="0"/>
            <a:chExt cx="7258942" cy="67540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58943" cy="675407"/>
            </a:xfrm>
            <a:custGeom>
              <a:avLst/>
              <a:gdLst/>
              <a:ahLst/>
              <a:cxnLst/>
              <a:rect r="r" b="b" t="t" l="l"/>
              <a:pathLst>
                <a:path h="675407" w="7258943">
                  <a:moveTo>
                    <a:pt x="0" y="0"/>
                  </a:moveTo>
                  <a:lnTo>
                    <a:pt x="7258943" y="0"/>
                  </a:lnTo>
                  <a:lnTo>
                    <a:pt x="7258943" y="675407"/>
                  </a:lnTo>
                  <a:lnTo>
                    <a:pt x="0" y="67540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2130" r="-41085" b="-23877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7258942" cy="6754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EA6A0A"/>
                  </a:solidFill>
                  <a:latin typeface="Canva Sans 1 Bold"/>
                  <a:ea typeface="Canva Sans 1 Bold"/>
                  <a:cs typeface="Canva Sans 1 Bold"/>
                  <a:sym typeface="Canva Sans 1 Bold"/>
                </a:rPr>
                <a:t>ข้อเสนอแนะและแนวทางพัฒนาต่อยอด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61903" y="2607344"/>
            <a:ext cx="7026819" cy="1869868"/>
            <a:chOff x="0" y="0"/>
            <a:chExt cx="1438287" cy="38273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38287" cy="382735"/>
            </a:xfrm>
            <a:custGeom>
              <a:avLst/>
              <a:gdLst/>
              <a:ahLst/>
              <a:cxnLst/>
              <a:rect r="r" b="b" t="t" l="l"/>
              <a:pathLst>
                <a:path h="382735" w="1438287">
                  <a:moveTo>
                    <a:pt x="55088" y="0"/>
                  </a:moveTo>
                  <a:lnTo>
                    <a:pt x="1383199" y="0"/>
                  </a:lnTo>
                  <a:cubicBezTo>
                    <a:pt x="1397809" y="0"/>
                    <a:pt x="1411821" y="5804"/>
                    <a:pt x="1422152" y="16135"/>
                  </a:cubicBezTo>
                  <a:cubicBezTo>
                    <a:pt x="1432483" y="26466"/>
                    <a:pt x="1438287" y="40478"/>
                    <a:pt x="1438287" y="55088"/>
                  </a:cubicBezTo>
                  <a:lnTo>
                    <a:pt x="1438287" y="327646"/>
                  </a:lnTo>
                  <a:cubicBezTo>
                    <a:pt x="1438287" y="342257"/>
                    <a:pt x="1432483" y="356269"/>
                    <a:pt x="1422152" y="366600"/>
                  </a:cubicBezTo>
                  <a:cubicBezTo>
                    <a:pt x="1411821" y="376931"/>
                    <a:pt x="1397809" y="382735"/>
                    <a:pt x="1383199" y="382735"/>
                  </a:cubicBezTo>
                  <a:lnTo>
                    <a:pt x="55088" y="382735"/>
                  </a:lnTo>
                  <a:cubicBezTo>
                    <a:pt x="40478" y="382735"/>
                    <a:pt x="26466" y="376931"/>
                    <a:pt x="16135" y="366600"/>
                  </a:cubicBezTo>
                  <a:cubicBezTo>
                    <a:pt x="5804" y="356269"/>
                    <a:pt x="0" y="342257"/>
                    <a:pt x="0" y="327646"/>
                  </a:cubicBezTo>
                  <a:lnTo>
                    <a:pt x="0" y="55088"/>
                  </a:lnTo>
                  <a:cubicBezTo>
                    <a:pt x="0" y="40478"/>
                    <a:pt x="5804" y="26466"/>
                    <a:pt x="16135" y="16135"/>
                  </a:cubicBezTo>
                  <a:cubicBezTo>
                    <a:pt x="26466" y="5804"/>
                    <a:pt x="40478" y="0"/>
                    <a:pt x="55088" y="0"/>
                  </a:cubicBezTo>
                  <a:close/>
                </a:path>
              </a:pathLst>
            </a:custGeom>
            <a:solidFill>
              <a:srgbClr val="FFF3E8"/>
            </a:solidFill>
            <a:ln w="38100" cap="rnd">
              <a:solidFill>
                <a:srgbClr val="FF751F"/>
              </a:solidFill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438287" cy="41131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987924" y="2049121"/>
            <a:ext cx="2575841" cy="444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0"/>
              </a:lnSpc>
              <a:spcBef>
                <a:spcPct val="0"/>
              </a:spcBef>
            </a:pPr>
            <a:r>
              <a:rPr lang="en-US" b="true" sz="2622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ปัญหาและอุปสรรค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87924" y="2827641"/>
            <a:ext cx="4649715" cy="37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6"/>
              </a:lnSpc>
              <a:spcBef>
                <a:spcPct val="0"/>
              </a:spcBef>
            </a:pPr>
            <a:r>
              <a:rPr lang="en-US" b="true" sz="2247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ความเร็วในการประมวลผลของโมเดล AI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987924" y="3386431"/>
            <a:ext cx="5822620" cy="68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3"/>
              </a:lnSpc>
              <a:spcBef>
                <a:spcPct val="0"/>
              </a:spcBef>
            </a:pPr>
            <a:r>
              <a:rPr lang="en-US" sz="1966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ในช่วงที่มีผู้ใช้งานหนาแน่น การเรียกใช้ LLM API ผ่านบริการภายนอกมีระยะเวลาตอบกลับนานขึ้น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987924" y="5041173"/>
            <a:ext cx="3211829" cy="37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6"/>
              </a:lnSpc>
              <a:spcBef>
                <a:spcPct val="0"/>
              </a:spcBef>
            </a:pPr>
            <a:r>
              <a:rPr lang="en-US" b="true" sz="2247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ข้อจำกัดของเอกสารต้นทาง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87924" y="5582099"/>
            <a:ext cx="5822620" cy="68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3"/>
              </a:lnSpc>
              <a:spcBef>
                <a:spcPct val="0"/>
              </a:spcBef>
            </a:pPr>
            <a:r>
              <a:rPr lang="en-US" sz="1966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ไฟล์ PDF ที่เป็นภาพสแกนหรือมีการจัดวางซับซ้อนส่งผลต่อความแม่นยำในการสกัดข้อมูล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87924" y="7141910"/>
            <a:ext cx="3841796" cy="37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6"/>
              </a:lnSpc>
              <a:spcBef>
                <a:spcPct val="0"/>
              </a:spcBef>
            </a:pPr>
            <a:r>
              <a:rPr lang="en-US" b="true" sz="2247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ต้นทุนการเรียกใช้บริการภายนอก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87924" y="7654292"/>
            <a:ext cx="5822620" cy="68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3"/>
              </a:lnSpc>
              <a:spcBef>
                <a:spcPct val="0"/>
              </a:spcBef>
            </a:pPr>
            <a:r>
              <a:rPr lang="en-US" sz="1966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จำเป็นต้องมีการควบคุมอัตราการเรียกใช้เพื่อจำกัดค่าใช้จ่ายในการดำเนินงาน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841643" y="2824370"/>
            <a:ext cx="3945136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เพิ่มประสิทธิภาพการประมวลผล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41643" y="3363485"/>
            <a:ext cx="6217618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นำระบบคิวงานและการแคชผลลัพธ์มาใช้ เพื่อรองรับผู้ใช้งานพร้อมกันจำนวนมาก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461903" y="4791537"/>
            <a:ext cx="7026819" cy="1869868"/>
            <a:chOff x="0" y="0"/>
            <a:chExt cx="1438287" cy="38273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38287" cy="382735"/>
            </a:xfrm>
            <a:custGeom>
              <a:avLst/>
              <a:gdLst/>
              <a:ahLst/>
              <a:cxnLst/>
              <a:rect r="r" b="b" t="t" l="l"/>
              <a:pathLst>
                <a:path h="382735" w="1438287">
                  <a:moveTo>
                    <a:pt x="55088" y="0"/>
                  </a:moveTo>
                  <a:lnTo>
                    <a:pt x="1383199" y="0"/>
                  </a:lnTo>
                  <a:cubicBezTo>
                    <a:pt x="1397809" y="0"/>
                    <a:pt x="1411821" y="5804"/>
                    <a:pt x="1422152" y="16135"/>
                  </a:cubicBezTo>
                  <a:cubicBezTo>
                    <a:pt x="1432483" y="26466"/>
                    <a:pt x="1438287" y="40478"/>
                    <a:pt x="1438287" y="55088"/>
                  </a:cubicBezTo>
                  <a:lnTo>
                    <a:pt x="1438287" y="327646"/>
                  </a:lnTo>
                  <a:cubicBezTo>
                    <a:pt x="1438287" y="342257"/>
                    <a:pt x="1432483" y="356269"/>
                    <a:pt x="1422152" y="366600"/>
                  </a:cubicBezTo>
                  <a:cubicBezTo>
                    <a:pt x="1411821" y="376931"/>
                    <a:pt x="1397809" y="382735"/>
                    <a:pt x="1383199" y="382735"/>
                  </a:cubicBezTo>
                  <a:lnTo>
                    <a:pt x="55088" y="382735"/>
                  </a:lnTo>
                  <a:cubicBezTo>
                    <a:pt x="40478" y="382735"/>
                    <a:pt x="26466" y="376931"/>
                    <a:pt x="16135" y="366600"/>
                  </a:cubicBezTo>
                  <a:cubicBezTo>
                    <a:pt x="5804" y="356269"/>
                    <a:pt x="0" y="342257"/>
                    <a:pt x="0" y="327646"/>
                  </a:cubicBezTo>
                  <a:lnTo>
                    <a:pt x="0" y="55088"/>
                  </a:lnTo>
                  <a:cubicBezTo>
                    <a:pt x="0" y="40478"/>
                    <a:pt x="5804" y="26466"/>
                    <a:pt x="16135" y="16135"/>
                  </a:cubicBezTo>
                  <a:cubicBezTo>
                    <a:pt x="26466" y="5804"/>
                    <a:pt x="40478" y="0"/>
                    <a:pt x="55088" y="0"/>
                  </a:cubicBezTo>
                  <a:close/>
                </a:path>
              </a:pathLst>
            </a:custGeom>
            <a:solidFill>
              <a:srgbClr val="FFF3E8"/>
            </a:solidFill>
            <a:ln w="38100" cap="rnd">
              <a:solidFill>
                <a:srgbClr val="FF751F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1438287" cy="41131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841643" y="5017390"/>
            <a:ext cx="4132183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รองรับเอกสารหลากหลายรูปแบบ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841643" y="5547678"/>
            <a:ext cx="6217618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เพิ่มความสามารถ OCR สำหรับเอกสารสแกน และรองรับไฟล์รูปแบบอื่นนอกเหนือจาก PDF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461903" y="6975729"/>
            <a:ext cx="7026819" cy="1869868"/>
            <a:chOff x="0" y="0"/>
            <a:chExt cx="1438287" cy="38273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38287" cy="382735"/>
            </a:xfrm>
            <a:custGeom>
              <a:avLst/>
              <a:gdLst/>
              <a:ahLst/>
              <a:cxnLst/>
              <a:rect r="r" b="b" t="t" l="l"/>
              <a:pathLst>
                <a:path h="382735" w="1438287">
                  <a:moveTo>
                    <a:pt x="55088" y="0"/>
                  </a:moveTo>
                  <a:lnTo>
                    <a:pt x="1383199" y="0"/>
                  </a:lnTo>
                  <a:cubicBezTo>
                    <a:pt x="1397809" y="0"/>
                    <a:pt x="1411821" y="5804"/>
                    <a:pt x="1422152" y="16135"/>
                  </a:cubicBezTo>
                  <a:cubicBezTo>
                    <a:pt x="1432483" y="26466"/>
                    <a:pt x="1438287" y="40478"/>
                    <a:pt x="1438287" y="55088"/>
                  </a:cubicBezTo>
                  <a:lnTo>
                    <a:pt x="1438287" y="327646"/>
                  </a:lnTo>
                  <a:cubicBezTo>
                    <a:pt x="1438287" y="342257"/>
                    <a:pt x="1432483" y="356269"/>
                    <a:pt x="1422152" y="366600"/>
                  </a:cubicBezTo>
                  <a:cubicBezTo>
                    <a:pt x="1411821" y="376931"/>
                    <a:pt x="1397809" y="382735"/>
                    <a:pt x="1383199" y="382735"/>
                  </a:cubicBezTo>
                  <a:lnTo>
                    <a:pt x="55088" y="382735"/>
                  </a:lnTo>
                  <a:cubicBezTo>
                    <a:pt x="40478" y="382735"/>
                    <a:pt x="26466" y="376931"/>
                    <a:pt x="16135" y="366600"/>
                  </a:cubicBezTo>
                  <a:cubicBezTo>
                    <a:pt x="5804" y="356269"/>
                    <a:pt x="0" y="342257"/>
                    <a:pt x="0" y="327646"/>
                  </a:cubicBezTo>
                  <a:lnTo>
                    <a:pt x="0" y="55088"/>
                  </a:lnTo>
                  <a:cubicBezTo>
                    <a:pt x="0" y="40478"/>
                    <a:pt x="5804" y="26466"/>
                    <a:pt x="16135" y="16135"/>
                  </a:cubicBezTo>
                  <a:cubicBezTo>
                    <a:pt x="26466" y="5804"/>
                    <a:pt x="40478" y="0"/>
                    <a:pt x="55088" y="0"/>
                  </a:cubicBezTo>
                  <a:close/>
                </a:path>
              </a:pathLst>
            </a:custGeom>
            <a:solidFill>
              <a:srgbClr val="FFF3E8"/>
            </a:solidFill>
            <a:ln w="38100" cap="rnd">
              <a:solidFill>
                <a:srgbClr val="FF751F"/>
              </a:solidFill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438287" cy="41131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9841643" y="7194661"/>
            <a:ext cx="3557945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ขยายความสามารถของระบบ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41643" y="7731871"/>
            <a:ext cx="6217618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nva Sans 2"/>
                <a:ea typeface="Canva Sans 2"/>
                <a:cs typeface="Canva Sans 2"/>
                <a:sym typeface="Canva Sans 2"/>
              </a:rPr>
              <a:t>เพิ่มการแนะนำตำแหน่งงานที่เหมาะสม และรองรับเรซูเม่หลายภาษา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3564731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86259" y="-7629818"/>
            <a:ext cx="13977387" cy="13977387"/>
          </a:xfrm>
          <a:custGeom>
            <a:avLst/>
            <a:gdLst/>
            <a:ahLst/>
            <a:cxnLst/>
            <a:rect r="r" b="b" t="t" l="l"/>
            <a:pathLst>
              <a:path h="13977387" w="13977387">
                <a:moveTo>
                  <a:pt x="0" y="0"/>
                </a:moveTo>
                <a:lnTo>
                  <a:pt x="13977387" y="0"/>
                </a:lnTo>
                <a:lnTo>
                  <a:pt x="13977387" y="13977388"/>
                </a:lnTo>
                <a:lnTo>
                  <a:pt x="0" y="139773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9456254"/>
            <a:ext cx="18288000" cy="1661491"/>
            <a:chOff x="0" y="0"/>
            <a:chExt cx="4816593" cy="4375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437594"/>
            </a:xfrm>
            <a:custGeom>
              <a:avLst/>
              <a:gdLst/>
              <a:ahLst/>
              <a:cxnLst/>
              <a:rect r="r" b="b" t="t" l="l"/>
              <a:pathLst>
                <a:path h="437594" w="4816592">
                  <a:moveTo>
                    <a:pt x="21590" y="0"/>
                  </a:moveTo>
                  <a:lnTo>
                    <a:pt x="4795002" y="0"/>
                  </a:lnTo>
                  <a:cubicBezTo>
                    <a:pt x="4800728" y="0"/>
                    <a:pt x="4806220" y="2275"/>
                    <a:pt x="4810269" y="6324"/>
                  </a:cubicBezTo>
                  <a:cubicBezTo>
                    <a:pt x="4814318" y="10372"/>
                    <a:pt x="4816592" y="15864"/>
                    <a:pt x="4816592" y="21590"/>
                  </a:cubicBezTo>
                  <a:lnTo>
                    <a:pt x="4816592" y="416004"/>
                  </a:lnTo>
                  <a:cubicBezTo>
                    <a:pt x="4816592" y="427928"/>
                    <a:pt x="4806926" y="437594"/>
                    <a:pt x="4795002" y="437594"/>
                  </a:cubicBezTo>
                  <a:lnTo>
                    <a:pt x="21590" y="437594"/>
                  </a:lnTo>
                  <a:cubicBezTo>
                    <a:pt x="15864" y="437594"/>
                    <a:pt x="10372" y="435320"/>
                    <a:pt x="6324" y="431271"/>
                  </a:cubicBezTo>
                  <a:cubicBezTo>
                    <a:pt x="2275" y="427222"/>
                    <a:pt x="0" y="421730"/>
                    <a:pt x="0" y="416004"/>
                  </a:cubicBezTo>
                  <a:lnTo>
                    <a:pt x="0" y="21590"/>
                  </a:lnTo>
                  <a:cubicBezTo>
                    <a:pt x="0" y="9666"/>
                    <a:pt x="9666" y="0"/>
                    <a:pt x="2159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816593" cy="4756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631963" y="8498067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1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152102" y="0"/>
            <a:ext cx="2135898" cy="1777552"/>
          </a:xfrm>
          <a:custGeom>
            <a:avLst/>
            <a:gdLst/>
            <a:ahLst/>
            <a:cxnLst/>
            <a:rect r="r" b="b" t="t" l="l"/>
            <a:pathLst>
              <a:path h="1777552" w="2135898">
                <a:moveTo>
                  <a:pt x="0" y="0"/>
                </a:moveTo>
                <a:lnTo>
                  <a:pt x="2135898" y="0"/>
                </a:lnTo>
                <a:lnTo>
                  <a:pt x="2135898" y="1777552"/>
                </a:lnTo>
                <a:lnTo>
                  <a:pt x="0" y="17775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25" t="0" r="-725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09656" y="8896497"/>
            <a:ext cx="1197677" cy="1197677"/>
          </a:xfrm>
          <a:custGeom>
            <a:avLst/>
            <a:gdLst/>
            <a:ahLst/>
            <a:cxnLst/>
            <a:rect r="r" b="b" t="t" l="l"/>
            <a:pathLst>
              <a:path h="1197677" w="1197677">
                <a:moveTo>
                  <a:pt x="0" y="0"/>
                </a:moveTo>
                <a:lnTo>
                  <a:pt x="1197677" y="0"/>
                </a:lnTo>
                <a:lnTo>
                  <a:pt x="1197677" y="1197678"/>
                </a:lnTo>
                <a:lnTo>
                  <a:pt x="0" y="11976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301011" y="3339098"/>
            <a:ext cx="3620755" cy="3168160"/>
            <a:chOff x="0" y="0"/>
            <a:chExt cx="812800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530371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75871"/>
                  </a:cubicBezTo>
                  <a:cubicBezTo>
                    <a:pt x="0" y="386169"/>
                    <a:pt x="66279" y="481310"/>
                    <a:pt x="162037" y="525451"/>
                  </a:cubicBezTo>
                  <a:lnTo>
                    <a:pt x="162037" y="711200"/>
                  </a:lnTo>
                  <a:lnTo>
                    <a:pt x="353844" y="551732"/>
                  </a:lnTo>
                  <a:lnTo>
                    <a:pt x="530371" y="551732"/>
                  </a:lnTo>
                  <a:cubicBezTo>
                    <a:pt x="686363" y="551732"/>
                    <a:pt x="812800" y="428220"/>
                    <a:pt x="812800" y="275861"/>
                  </a:cubicBezTo>
                  <a:cubicBezTo>
                    <a:pt x="812811" y="123512"/>
                    <a:pt x="686363" y="0"/>
                    <a:pt x="530371" y="0"/>
                  </a:cubicBezTo>
                  <a:close/>
                </a:path>
              </a:pathLst>
            </a:custGeom>
            <a:solidFill>
              <a:srgbClr val="FF914D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812800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0800000">
            <a:off x="8354165" y="3769181"/>
            <a:ext cx="3632824" cy="3178721"/>
            <a:chOff x="0" y="0"/>
            <a:chExt cx="812800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530371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75871"/>
                  </a:cubicBezTo>
                  <a:cubicBezTo>
                    <a:pt x="0" y="386169"/>
                    <a:pt x="66279" y="481310"/>
                    <a:pt x="162037" y="525451"/>
                  </a:cubicBezTo>
                  <a:lnTo>
                    <a:pt x="162037" y="711200"/>
                  </a:lnTo>
                  <a:lnTo>
                    <a:pt x="353844" y="551732"/>
                  </a:lnTo>
                  <a:lnTo>
                    <a:pt x="530371" y="551732"/>
                  </a:lnTo>
                  <a:cubicBezTo>
                    <a:pt x="686363" y="551732"/>
                    <a:pt x="812800" y="428220"/>
                    <a:pt x="812800" y="275861"/>
                  </a:cubicBezTo>
                  <a:cubicBezTo>
                    <a:pt x="812811" y="123512"/>
                    <a:pt x="686363" y="0"/>
                    <a:pt x="530371" y="0"/>
                  </a:cubicBezTo>
                  <a:close/>
                </a:path>
              </a:pathLst>
            </a:custGeom>
            <a:solidFill>
              <a:srgbClr val="FDBA74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812800" cy="511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577219" y="5247082"/>
            <a:ext cx="13133562" cy="135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02"/>
              </a:lnSpc>
              <a:spcBef>
                <a:spcPct val="0"/>
              </a:spcBef>
            </a:pPr>
            <a:r>
              <a:rPr lang="en-US" sz="7930">
                <a:solidFill>
                  <a:srgbClr val="11100E"/>
                </a:solidFill>
                <a:latin typeface="Archive"/>
                <a:ea typeface="Archive"/>
                <a:cs typeface="Archive"/>
                <a:sym typeface="Archive"/>
              </a:rPr>
              <a:t>questions and answers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74831" y="3357842"/>
            <a:ext cx="5938338" cy="135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02"/>
              </a:lnSpc>
              <a:spcBef>
                <a:spcPct val="0"/>
              </a:spcBef>
            </a:pPr>
            <a:r>
              <a:rPr lang="en-US" sz="7930">
                <a:solidFill>
                  <a:srgbClr val="11100E"/>
                </a:solidFill>
                <a:latin typeface="Archive"/>
                <a:ea typeface="Archive"/>
                <a:cs typeface="Archive"/>
                <a:sym typeface="Archive"/>
              </a:rPr>
              <a:t>thank you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DAHV06IhqE4</dc:identifier>
  <dcterms:modified xsi:type="dcterms:W3CDTF">2011-08-01T06:04:30Z</dcterms:modified>
  <cp:revision>1</cp:revision>
  <dc:title>ระบบสร้างเรซูเม่ออนไลน์ด้วยปัญญาประดิษฐ์</dc:title>
</cp:coreProperties>
</file>